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6"/>
  </p:notesMasterIdLst>
  <p:sldIdLst>
    <p:sldId id="390" r:id="rId2"/>
    <p:sldId id="391" r:id="rId3"/>
    <p:sldId id="4559" r:id="rId4"/>
    <p:sldId id="361" r:id="rId5"/>
    <p:sldId id="4539" r:id="rId6"/>
    <p:sldId id="4565" r:id="rId7"/>
    <p:sldId id="366" r:id="rId8"/>
    <p:sldId id="4555" r:id="rId9"/>
    <p:sldId id="4556" r:id="rId10"/>
    <p:sldId id="4557" r:id="rId11"/>
    <p:sldId id="4564" r:id="rId12"/>
    <p:sldId id="4615" r:id="rId13"/>
    <p:sldId id="4616" r:id="rId14"/>
    <p:sldId id="4617" r:id="rId15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78"/>
    <a:srgbClr val="3366CC"/>
    <a:srgbClr val="4396D0"/>
    <a:srgbClr val="993366"/>
    <a:srgbClr val="6699FF"/>
    <a:srgbClr val="F09997"/>
    <a:srgbClr val="FF9999"/>
    <a:srgbClr val="FF7C80"/>
    <a:srgbClr val="FF99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/>
    <p:restoredTop sz="0"/>
  </p:normalViewPr>
  <p:slideViewPr>
    <p:cSldViewPr>
      <p:cViewPr varScale="1">
        <p:scale>
          <a:sx n="113" d="100"/>
          <a:sy n="113" d="100"/>
        </p:scale>
        <p:origin x="10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25F35-3AD7-4AA7-B1E4-0E14B8E62ED2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A79E2-F803-4428-9B0C-DA0A2C3151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598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611EA2-B7EB-4AD6-B0AA-9E4089B34B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8001" y="288000"/>
            <a:ext cx="7691228" cy="54091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380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제목을 작성해 주세요</a:t>
            </a:r>
            <a:r>
              <a:rPr lang="en-US" altLang="ko-KR"/>
              <a:t>_</a:t>
            </a:r>
            <a:r>
              <a:rPr lang="ko-KR" altLang="en-US"/>
              <a:t>표지</a:t>
            </a:r>
            <a:endParaRPr lang="en-US" altLang="ko-KR"/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E2D1690F-D1D6-F827-825F-4108BB2566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8001" y="1752130"/>
            <a:ext cx="7691228" cy="22775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부제를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16pt</a:t>
            </a:r>
            <a:endParaRPr lang="ko-KR" altLang="en-US"/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4F33DAA8-F632-CF0B-C97D-F272531B76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8000" y="3286653"/>
            <a:ext cx="6474279" cy="142347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000">
                <a:solidFill>
                  <a:srgbClr val="A7D8B7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en-US" altLang="ko-KR"/>
              <a:t>000</a:t>
            </a:r>
            <a:r>
              <a:rPr lang="ko-KR" altLang="en-US"/>
              <a:t> 부서 </a:t>
            </a:r>
            <a:r>
              <a:rPr lang="en-US" altLang="ko-KR"/>
              <a:t>| 2024.00.00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18" name="텍스트 개체 틀 3">
            <a:extLst>
              <a:ext uri="{FF2B5EF4-FFF2-40B4-BE49-F238E27FC236}">
                <a16:creationId xmlns:a16="http://schemas.microsoft.com/office/drawing/2014/main" id="{1F14F483-86A5-F631-A0D1-4BCC4300C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8001" y="929714"/>
            <a:ext cx="7691228" cy="54091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380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보고서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38pt</a:t>
            </a:r>
          </a:p>
        </p:txBody>
      </p:sp>
    </p:spTree>
    <p:extLst>
      <p:ext uri="{BB962C8B-B14F-4D97-AF65-F5344CB8AC3E}">
        <p14:creationId xmlns:p14="http://schemas.microsoft.com/office/powerpoint/2010/main" val="310873218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611EA2-B7EB-4AD6-B0AA-9E4089B34B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8001" y="288000"/>
            <a:ext cx="7691228" cy="54091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380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표지 예시입니다</a:t>
            </a:r>
            <a:endParaRPr lang="en-US" altLang="ko-KR"/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4F33DAA8-F632-CF0B-C97D-F272531B76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8000" y="3286653"/>
            <a:ext cx="6474279" cy="142347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000">
                <a:solidFill>
                  <a:srgbClr val="A7D8B7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en-US" altLang="ko-KR"/>
              <a:t>000</a:t>
            </a:r>
            <a:r>
              <a:rPr lang="ko-KR" altLang="en-US"/>
              <a:t> 부서 </a:t>
            </a:r>
            <a:r>
              <a:rPr lang="en-US" altLang="ko-KR"/>
              <a:t>| 2024.00.00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59D4E695-0AFA-D562-B111-2384DF908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8001" y="929715"/>
            <a:ext cx="7691228" cy="54091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380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marL="0" marR="0" lvl="0" indent="0" algn="l" defTabSz="844083" rtl="0" eaLnBrk="1" fontAlgn="auto" latinLnBrk="1" hangingPunct="1">
              <a:lnSpc>
                <a:spcPct val="90000"/>
              </a:lnSpc>
              <a:spcBef>
                <a:spcPts val="923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/>
            </a:pPr>
            <a:r>
              <a:rPr lang="ko-KR" altLang="en-US"/>
              <a:t>제목을 작성해 주세요</a:t>
            </a:r>
            <a:endParaRPr lang="en-US" altLang="ko-KR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7A37229D-1F0C-BFBE-8B9A-616D26654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8001" y="1571429"/>
            <a:ext cx="7691228" cy="54091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380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marL="0" marR="0" lvl="0" indent="0" algn="l" defTabSz="844083" rtl="0" eaLnBrk="1" fontAlgn="auto" latinLnBrk="1" hangingPunct="1">
              <a:lnSpc>
                <a:spcPct val="90000"/>
              </a:lnSpc>
              <a:spcBef>
                <a:spcPts val="923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/>
            </a:pPr>
            <a:r>
              <a:rPr lang="ko-KR" altLang="en-US"/>
              <a:t>보고서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38pt</a:t>
            </a:r>
          </a:p>
        </p:txBody>
      </p:sp>
    </p:spTree>
    <p:extLst>
      <p:ext uri="{BB962C8B-B14F-4D97-AF65-F5344CB8AC3E}">
        <p14:creationId xmlns:p14="http://schemas.microsoft.com/office/powerpoint/2010/main" val="1145942459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273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E84462DB-F9F2-A058-C0F8-33F332622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286" y="469002"/>
            <a:ext cx="4323579" cy="19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1. </a:t>
            </a:r>
            <a:r>
              <a:rPr lang="ko-KR" altLang="en-US"/>
              <a:t>첫번째 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A4EEFEC5-2430-4797-03CA-C9D09BE5D3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7286" y="907663"/>
            <a:ext cx="4323579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① 소목차를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B2A45BA5-802E-8A33-EC84-9069291269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7286" y="1225181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A0B00DA-C942-4491-A737-4612068A81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286" y="1514230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4028EA61-62E9-BCAA-BC9D-AF2D6CDAA6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7286" y="1901346"/>
            <a:ext cx="4323579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② 소목차를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AF9DA07D-46E1-843F-C6BC-605CB41252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7286" y="2218864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B5C0E859-EA4A-D8BF-C2D7-41B6E4101F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7286" y="2507913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EC6A4FD3-DC4F-1543-C4A7-A97551573D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7286" y="3457736"/>
            <a:ext cx="4323579" cy="19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2. </a:t>
            </a:r>
            <a:r>
              <a:rPr lang="ko-KR" altLang="en-US"/>
              <a:t>두번째 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</a:p>
        </p:txBody>
      </p: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A6F1F92F-A1AC-3C59-E67A-BC0ED1B86F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7286" y="3896397"/>
            <a:ext cx="4323579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① 소목차를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15FC91EC-6E79-A7A6-6B9E-B280166A4B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7286" y="4213915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568D2364-0D57-D251-4E08-31AA6739FE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7286" y="4502964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C3EDF3FA-81BA-2A2E-890F-58724D9674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7286" y="4890080"/>
            <a:ext cx="4323579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② 소목차를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D2DF01A8-C5E5-4370-9704-18FE1DEEEB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7286" y="5207598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AE8CC1CB-4373-15B7-B02F-38C01A283E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7286" y="5496647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76DF8BBB-74F2-5017-7C05-B0447DA04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1" y="432000"/>
            <a:ext cx="3727726" cy="3701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6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CONTENTS :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AB22EADF-43EC-72FE-BE74-467ED47E76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001" y="893428"/>
            <a:ext cx="3727726" cy="3701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6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하나</a:t>
            </a:r>
            <a:r>
              <a:rPr lang="en-US" altLang="ko-KR"/>
              <a:t>2.0 B 26pt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436549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E84462DB-F9F2-A058-C0F8-33F332622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286" y="469002"/>
            <a:ext cx="4323579" cy="19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1. </a:t>
            </a:r>
            <a:r>
              <a:rPr lang="ko-KR" altLang="en-US"/>
              <a:t>첫번째 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A4EEFEC5-2430-4797-03CA-C9D09BE5D3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7286" y="907663"/>
            <a:ext cx="4323579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① 소목차를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B2A45BA5-802E-8A33-EC84-9069291269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7286" y="1225181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A0B00DA-C942-4491-A737-4612068A81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286" y="1514230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EC6A4FD3-DC4F-1543-C4A7-A97551573D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7286" y="2241425"/>
            <a:ext cx="4323579" cy="19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2. </a:t>
            </a:r>
            <a:r>
              <a:rPr lang="ko-KR" altLang="en-US"/>
              <a:t>두번째 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</a:p>
        </p:txBody>
      </p: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A6F1F92F-A1AC-3C59-E67A-BC0ED1B86F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7286" y="2680086"/>
            <a:ext cx="4323579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① 소목차를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15FC91EC-6E79-A7A6-6B9E-B280166A4B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7286" y="2997604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568D2364-0D57-D251-4E08-31AA6739FE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7286" y="3286653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434B1D47-17C4-F7C6-96A9-590174B97E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7286" y="4017370"/>
            <a:ext cx="4323579" cy="19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3. </a:t>
            </a:r>
            <a:r>
              <a:rPr lang="ko-KR" altLang="en-US"/>
              <a:t>세번째 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B14B8F78-F7AE-27D7-014B-47F51CE5C9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7286" y="4456031"/>
            <a:ext cx="4323579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① 소목차를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36BC4D6D-5614-6376-1496-165B8207B4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7286" y="4773549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32B2EA02-F2FF-C37F-8C82-65D022DE3C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7286" y="5062598"/>
            <a:ext cx="4323579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BE15F01E-BEF3-0A6D-CE57-9EB51C81A3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1" y="432000"/>
            <a:ext cx="3727726" cy="3701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6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CONTENTS :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47964BDD-0F80-A8EF-AECC-DE4E92134A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001" y="893428"/>
            <a:ext cx="3727726" cy="3701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6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하나</a:t>
            </a:r>
            <a:r>
              <a:rPr lang="en-US" altLang="ko-KR"/>
              <a:t>2.0 B 26pt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26251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02D659-2AF5-91E9-EB79-B9F046DAF1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1" y="432000"/>
            <a:ext cx="6444498" cy="3701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6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CONTENTS : </a:t>
            </a:r>
            <a:r>
              <a:rPr lang="ko-KR" altLang="en-US"/>
              <a:t>하나</a:t>
            </a:r>
            <a:r>
              <a:rPr lang="en-US" altLang="ko-KR"/>
              <a:t>2.0 B 26pt</a:t>
            </a:r>
            <a:endParaRPr lang="ko-KR" altLang="en-US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E84462DB-F9F2-A058-C0F8-33F332622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002" y="1767326"/>
            <a:ext cx="3927728" cy="19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1. </a:t>
            </a:r>
            <a:r>
              <a:rPr lang="ko-KR" altLang="en-US"/>
              <a:t>첫번째 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A4EEFEC5-2430-4797-03CA-C9D09BE5D3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002" y="2205987"/>
            <a:ext cx="3927728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① 소목차를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B2A45BA5-802E-8A33-EC84-9069291269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2" y="2523505"/>
            <a:ext cx="3927728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A0B00DA-C942-4491-A737-4612068A81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2" y="2812554"/>
            <a:ext cx="3927728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EC6A4FD3-DC4F-1543-C4A7-A97551573D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002" y="3350232"/>
            <a:ext cx="3927728" cy="19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2. </a:t>
            </a:r>
            <a:r>
              <a:rPr lang="ko-KR" altLang="en-US"/>
              <a:t>두번째 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</a:p>
        </p:txBody>
      </p: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A6F1F92F-A1AC-3C59-E67A-BC0ED1B86F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2" y="3788893"/>
            <a:ext cx="3927728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① 소목차를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15FC91EC-6E79-A7A6-6B9E-B280166A4B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002" y="4106411"/>
            <a:ext cx="3927728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568D2364-0D57-D251-4E08-31AA6739FE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002" y="4395460"/>
            <a:ext cx="3927728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434B1D47-17C4-F7C6-96A9-590174B97E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002" y="4931770"/>
            <a:ext cx="3927728" cy="19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3. </a:t>
            </a:r>
            <a:r>
              <a:rPr lang="ko-KR" altLang="en-US"/>
              <a:t>세번째 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B14B8F78-F7AE-27D7-014B-47F51CE5C9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2002" y="5370431"/>
            <a:ext cx="3927728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① 소목차를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36BC4D6D-5614-6376-1496-165B8207B4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2002" y="5687949"/>
            <a:ext cx="3927728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32B2EA02-F2FF-C37F-8C82-65D022DE3C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002" y="5976998"/>
            <a:ext cx="3927728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104C168A-0817-2AC3-9CB3-CB054E076A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84270" y="1767326"/>
            <a:ext cx="3927728" cy="19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4. </a:t>
            </a:r>
            <a:r>
              <a:rPr lang="ko-KR" altLang="en-US"/>
              <a:t>네번째 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00F147B4-8B4F-E61D-52F9-F8AFF52F83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84270" y="2205987"/>
            <a:ext cx="3927728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① 소목차를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8FFFC72F-3049-E615-D2AE-0227766CE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84270" y="2523505"/>
            <a:ext cx="3927728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C5601D64-AD56-CF69-5ADF-0B6F07698FD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84270" y="2812554"/>
            <a:ext cx="3927728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8B89031A-81D9-4A69-11DE-82F87B9425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84270" y="3350232"/>
            <a:ext cx="3927728" cy="19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5. </a:t>
            </a:r>
            <a:r>
              <a:rPr lang="ko-KR" altLang="en-US" err="1"/>
              <a:t>다섯번째 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DCFF6409-CCF4-4057-26BB-2CF8B3E077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84270" y="3788893"/>
            <a:ext cx="3927728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① 소목차를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7DF4D51D-E52E-FD10-9C6A-7AA20694C7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84270" y="4106411"/>
            <a:ext cx="3927728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6D667043-EE3F-8E64-680D-02C76049D6B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84270" y="4395460"/>
            <a:ext cx="3927728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E11DB6CF-438D-6DDD-82C4-67D07A5ACE4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84270" y="4931770"/>
            <a:ext cx="3927728" cy="19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6. </a:t>
            </a:r>
            <a:r>
              <a:rPr lang="ko-KR" altLang="en-US" err="1"/>
              <a:t>여섯번째 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7F789430-BD79-94B2-D6DF-6832F3ACFE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84270" y="5370431"/>
            <a:ext cx="3927728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ko-KR" altLang="en-US"/>
              <a:t>① 소목차를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81AC9ACE-CF68-C8C2-5E1B-D292D8261C9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84270" y="5687949"/>
            <a:ext cx="3927728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5B994940-02A6-18FE-71DB-BF4DE4EF1B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84270" y="5976998"/>
            <a:ext cx="3927728" cy="142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rgbClr val="8A8D8F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  <a:lvl2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2pPr>
            <a:lvl3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3pPr>
            <a:lvl4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4pPr>
            <a:lvl5pPr>
              <a:defRPr sz="2600">
                <a:latin typeface="하나2.0 B" panose="020B0303000000000000" pitchFamily="50" charset="-127"/>
                <a:ea typeface="하나2.0 B" panose="020B0303000000000000" pitchFamily="50" charset="-127"/>
              </a:defRPr>
            </a:lvl5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핵심 내용을 정리해서 적어주세요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10pt</a:t>
            </a:r>
          </a:p>
        </p:txBody>
      </p:sp>
    </p:spTree>
    <p:extLst>
      <p:ext uri="{BB962C8B-B14F-4D97-AF65-F5344CB8AC3E}">
        <p14:creationId xmlns:p14="http://schemas.microsoft.com/office/powerpoint/2010/main" val="128821048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 txBox="1"/>
          <p:nvPr userDrawn="1"/>
        </p:nvSpPr>
        <p:spPr>
          <a:xfrm>
            <a:off x="8595553" y="6498000"/>
            <a:ext cx="265846" cy="288000"/>
          </a:xfrm>
          <a:prstGeom prst="rect">
            <a:avLst/>
          </a:prstGeom>
        </p:spPr>
        <p:txBody>
          <a:bodyPr wrap="none" lIns="0" tIns="0" rIns="0" bIns="0" anchor="ctr"/>
          <a:lstStyle>
            <a:defPPr>
              <a:defRPr lang="ko-KR"/>
            </a:defPPr>
            <a:lvl1pPr marL="0" algn="ctr" defTabSz="914400" rtl="0" eaLnBrk="1" latinLnBrk="1" hangingPunct="1">
              <a:defRPr sz="600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/>
              <a:t>|  </a:t>
            </a:r>
            <a:fld id="{53863ED4-A9C3-4307-A509-CA990A199134}" type="slidenum">
              <a:rPr lang="ko-KR" altLang="en-US" sz="600" smtClean="0"/>
              <a:pPr algn="ctr"/>
              <a:t>‹#›</a:t>
            </a:fld>
            <a:r>
              <a:rPr lang="en-US" altLang="ko-KR" sz="600"/>
              <a:t>p</a:t>
            </a:r>
            <a:endParaRPr lang="ko-KR" altLang="en-US" sz="60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FDEE1B-75C4-AF41-0177-E136E52316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98309" y="6560004"/>
            <a:ext cx="4291801" cy="16192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ko-KR" altLang="en-US" sz="600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2pPr>
            <a:lvl3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3pPr>
            <a:lvl4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4pPr>
            <a:lvl5pPr>
              <a:defRPr lang="ko-KR" altLang="en-US" sz="554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5pPr>
          </a:lstStyle>
          <a:p>
            <a:pPr lvl="0"/>
            <a:r>
              <a:rPr lang="ko-KR" altLang="en-US"/>
              <a:t>본  자료의 제목을 적어주세요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B4BF458-D4AC-1A16-662E-3B1A638A51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000" y="432000"/>
            <a:ext cx="3557613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rgbClr val="009178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목차 이름</a:t>
            </a:r>
            <a:r>
              <a:rPr lang="en-US" altLang="ko-KR"/>
              <a:t>(</a:t>
            </a:r>
            <a:r>
              <a:rPr lang="ko-KR" altLang="en-US"/>
              <a:t>개요</a:t>
            </a:r>
            <a:r>
              <a:rPr lang="en-US" altLang="ko-KR"/>
              <a:t>)</a:t>
            </a:r>
            <a:r>
              <a:rPr lang="ko-KR" altLang="en-US"/>
              <a:t>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14" name="텍스트 개체 틀 12">
            <a:extLst>
              <a:ext uri="{FF2B5EF4-FFF2-40B4-BE49-F238E27FC236}">
                <a16:creationId xmlns:a16="http://schemas.microsoft.com/office/drawing/2014/main" id="{1FCCB0AD-E057-73DD-C98E-788768A9F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001" y="636814"/>
            <a:ext cx="8280000" cy="432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8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주요 핵심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28pt</a:t>
            </a:r>
            <a:endParaRPr lang="ko-KR" altLang="en-US"/>
          </a:p>
        </p:txBody>
      </p:sp>
      <p:sp>
        <p:nvSpPr>
          <p:cNvPr id="21" name="텍스트 개체 틀 12">
            <a:extLst>
              <a:ext uri="{FF2B5EF4-FFF2-40B4-BE49-F238E27FC236}">
                <a16:creationId xmlns:a16="http://schemas.microsoft.com/office/drawing/2014/main" id="{B21DB24C-4575-6D86-6351-D7182AF99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1" y="1176964"/>
            <a:ext cx="8279998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24" name="텍스트 개체 틀 12">
            <a:extLst>
              <a:ext uri="{FF2B5EF4-FFF2-40B4-BE49-F238E27FC236}">
                <a16:creationId xmlns:a16="http://schemas.microsoft.com/office/drawing/2014/main" id="{E13355E7-731B-AE99-C5A0-BD1E08C4B9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1" y="1423142"/>
            <a:ext cx="8279998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3F096D9-8861-2F6D-EEB0-E4D8569B948A}"/>
              </a:ext>
            </a:extLst>
          </p:cNvPr>
          <p:cNvSpPr/>
          <p:nvPr userDrawn="1"/>
        </p:nvSpPr>
        <p:spPr>
          <a:xfrm>
            <a:off x="432001" y="1883529"/>
            <a:ext cx="8279998" cy="4254471"/>
          </a:xfrm>
          <a:prstGeom prst="rect">
            <a:avLst/>
          </a:prstGeom>
          <a:noFill/>
          <a:ln w="6350">
            <a:solidFill>
              <a:srgbClr val="8A8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8" name="텍스트 개체 틀 12">
            <a:extLst>
              <a:ext uri="{FF2B5EF4-FFF2-40B4-BE49-F238E27FC236}">
                <a16:creationId xmlns:a16="http://schemas.microsoft.com/office/drawing/2014/main" id="{A9F76DAC-3A56-D3D6-5F1F-6C44ECBD2D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1" y="2181775"/>
            <a:ext cx="7700922" cy="227755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600">
                <a:solidFill>
                  <a:srgbClr val="009178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주요 내용을 정리해서 적어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16pt</a:t>
            </a:r>
            <a:endParaRPr lang="ko-KR" altLang="en-US"/>
          </a:p>
        </p:txBody>
      </p:sp>
      <p:sp>
        <p:nvSpPr>
          <p:cNvPr id="31" name="텍스트 개체 틀 12">
            <a:extLst>
              <a:ext uri="{FF2B5EF4-FFF2-40B4-BE49-F238E27FC236}">
                <a16:creationId xmlns:a16="http://schemas.microsoft.com/office/drawing/2014/main" id="{131C25B0-EEBE-3051-AC13-8F2C508035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001" y="2626374"/>
            <a:ext cx="7700922" cy="1565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11pt</a:t>
            </a:r>
            <a:endParaRPr lang="ko-KR" altLang="en-US"/>
          </a:p>
        </p:txBody>
      </p:sp>
      <p:sp>
        <p:nvSpPr>
          <p:cNvPr id="34" name="텍스트 개체 틀 12">
            <a:extLst>
              <a:ext uri="{FF2B5EF4-FFF2-40B4-BE49-F238E27FC236}">
                <a16:creationId xmlns:a16="http://schemas.microsoft.com/office/drawing/2014/main" id="{62B3C798-7F21-AA03-9B57-A296C42B90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01" y="2997656"/>
            <a:ext cx="7700922" cy="1565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35" name="텍스트 개체 틀 12">
            <a:extLst>
              <a:ext uri="{FF2B5EF4-FFF2-40B4-BE49-F238E27FC236}">
                <a16:creationId xmlns:a16="http://schemas.microsoft.com/office/drawing/2014/main" id="{AFD58215-14F7-F56E-530D-E556C7C29A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1" y="3230070"/>
            <a:ext cx="7700922" cy="1565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37" name="텍스트 개체 틀 12">
            <a:extLst>
              <a:ext uri="{FF2B5EF4-FFF2-40B4-BE49-F238E27FC236}">
                <a16:creationId xmlns:a16="http://schemas.microsoft.com/office/drawing/2014/main" id="{0306A1A4-929F-6D29-F32E-53D00B5C8F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001" y="3808655"/>
            <a:ext cx="7700922" cy="301988"/>
          </a:xfrm>
          <a:prstGeom prst="rect">
            <a:avLst/>
          </a:prstGeom>
          <a:solidFill>
            <a:srgbClr val="009178"/>
          </a:solidFill>
          <a:ln>
            <a:noFill/>
          </a:ln>
        </p:spPr>
        <p:txBody>
          <a:bodyPr lIns="72000" tIns="72000" rIns="72000" bIns="72000" anchor="t">
            <a:spAutoFit/>
          </a:bodyPr>
          <a:lstStyle>
            <a:lvl1pPr marL="90488" indent="0">
              <a:buNone/>
              <a:tabLst>
                <a:tab pos="90488" algn="l"/>
              </a:tabLst>
              <a:defRPr sz="1100">
                <a:solidFill>
                  <a:schemeClr val="bg1"/>
                </a:solidFill>
                <a:latin typeface="하나2.0 CM" panose="020B0603000000000000" pitchFamily="50" charset="-127"/>
                <a:ea typeface="하나2.0 CM" panose="020B0603000000000000" pitchFamily="50" charset="-127"/>
              </a:defRPr>
            </a:lvl1pPr>
          </a:lstStyle>
          <a:p>
            <a:pPr lvl="0"/>
            <a:r>
              <a:rPr lang="ko-KR" altLang="en-US"/>
              <a:t>제목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CM 11pt</a:t>
            </a:r>
            <a:endParaRPr lang="ko-KR" altLang="en-US"/>
          </a:p>
        </p:txBody>
      </p:sp>
      <p:sp>
        <p:nvSpPr>
          <p:cNvPr id="41" name="텍스트 개체 틀 12">
            <a:extLst>
              <a:ext uri="{FF2B5EF4-FFF2-40B4-BE49-F238E27FC236}">
                <a16:creationId xmlns:a16="http://schemas.microsoft.com/office/drawing/2014/main" id="{8F6B095A-3A20-9039-D805-5021B4C020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001" y="4252396"/>
            <a:ext cx="7700922" cy="1565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42" name="텍스트 개체 틀 12">
            <a:extLst>
              <a:ext uri="{FF2B5EF4-FFF2-40B4-BE49-F238E27FC236}">
                <a16:creationId xmlns:a16="http://schemas.microsoft.com/office/drawing/2014/main" id="{186F1C6C-7192-7541-4B6A-CAE4590F39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001" y="4484810"/>
            <a:ext cx="7700922" cy="1565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43" name="텍스트 개체 틀 12">
            <a:extLst>
              <a:ext uri="{FF2B5EF4-FFF2-40B4-BE49-F238E27FC236}">
                <a16:creationId xmlns:a16="http://schemas.microsoft.com/office/drawing/2014/main" id="{186846E2-A78A-ED3F-8408-92DE67DB51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0001" y="5064205"/>
            <a:ext cx="7700922" cy="301988"/>
          </a:xfrm>
          <a:prstGeom prst="rect">
            <a:avLst/>
          </a:prstGeom>
          <a:solidFill>
            <a:srgbClr val="009178"/>
          </a:solidFill>
          <a:ln>
            <a:noFill/>
          </a:ln>
        </p:spPr>
        <p:txBody>
          <a:bodyPr lIns="72000" tIns="72000" rIns="72000" bIns="72000" anchor="t">
            <a:spAutoFit/>
          </a:bodyPr>
          <a:lstStyle>
            <a:lvl1pPr marL="90488" indent="0">
              <a:buNone/>
              <a:tabLst>
                <a:tab pos="90488" algn="l"/>
              </a:tabLst>
              <a:defRPr sz="1100">
                <a:solidFill>
                  <a:schemeClr val="bg1"/>
                </a:solidFill>
                <a:latin typeface="하나2.0 CM" panose="020B0603000000000000" pitchFamily="50" charset="-127"/>
                <a:ea typeface="하나2.0 CM" panose="020B0603000000000000" pitchFamily="50" charset="-127"/>
              </a:defRPr>
            </a:lvl1pPr>
          </a:lstStyle>
          <a:p>
            <a:pPr lvl="0"/>
            <a:r>
              <a:rPr lang="ko-KR" altLang="en-US"/>
              <a:t>제목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CM 11pt</a:t>
            </a:r>
            <a:endParaRPr lang="ko-KR" altLang="en-US"/>
          </a:p>
        </p:txBody>
      </p:sp>
      <p:sp>
        <p:nvSpPr>
          <p:cNvPr id="44" name="텍스트 개체 틀 12">
            <a:extLst>
              <a:ext uri="{FF2B5EF4-FFF2-40B4-BE49-F238E27FC236}">
                <a16:creationId xmlns:a16="http://schemas.microsoft.com/office/drawing/2014/main" id="{C1F698C8-7AC9-69F2-CD69-36152E8751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0001" y="5507946"/>
            <a:ext cx="7700922" cy="1565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45" name="텍스트 개체 틀 12">
            <a:extLst>
              <a:ext uri="{FF2B5EF4-FFF2-40B4-BE49-F238E27FC236}">
                <a16:creationId xmlns:a16="http://schemas.microsoft.com/office/drawing/2014/main" id="{C2295CD1-FA7C-FB61-64C5-8CDFE985D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001" y="5740360"/>
            <a:ext cx="7700922" cy="1565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90461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 txBox="1"/>
          <p:nvPr userDrawn="1"/>
        </p:nvSpPr>
        <p:spPr>
          <a:xfrm>
            <a:off x="8595553" y="6498000"/>
            <a:ext cx="265846" cy="288000"/>
          </a:xfrm>
          <a:prstGeom prst="rect">
            <a:avLst/>
          </a:prstGeom>
        </p:spPr>
        <p:txBody>
          <a:bodyPr wrap="none" lIns="0" tIns="0" rIns="0" bIns="0" anchor="ctr"/>
          <a:lstStyle>
            <a:defPPr>
              <a:defRPr lang="ko-KR"/>
            </a:defPPr>
            <a:lvl1pPr marL="0" algn="ctr" defTabSz="914400" rtl="0" eaLnBrk="1" latinLnBrk="1" hangingPunct="1">
              <a:defRPr sz="600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/>
              <a:t>|  </a:t>
            </a:r>
            <a:fld id="{53863ED4-A9C3-4307-A509-CA990A199134}" type="slidenum">
              <a:rPr lang="ko-KR" altLang="en-US" sz="600" smtClean="0"/>
              <a:pPr algn="ctr"/>
              <a:t>‹#›</a:t>
            </a:fld>
            <a:r>
              <a:rPr lang="en-US" altLang="ko-KR" sz="600"/>
              <a:t>p</a:t>
            </a:r>
            <a:endParaRPr lang="ko-KR" altLang="en-US" sz="60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FDEE1B-75C4-AF41-0177-E136E52316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98309" y="6560004"/>
            <a:ext cx="4291801" cy="16192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ko-KR" altLang="en-US" sz="600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2pPr>
            <a:lvl3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3pPr>
            <a:lvl4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4pPr>
            <a:lvl5pPr>
              <a:defRPr lang="ko-KR" altLang="en-US" sz="554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5pPr>
          </a:lstStyle>
          <a:p>
            <a:pPr lvl="0"/>
            <a:r>
              <a:rPr lang="ko-KR" altLang="en-US"/>
              <a:t>본  자료의 제목을 적어주세요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B4BF458-D4AC-1A16-662E-3B1A638A51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000" y="432000"/>
            <a:ext cx="3557613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rgbClr val="009178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목차 이름</a:t>
            </a:r>
            <a:r>
              <a:rPr lang="en-US" altLang="ko-KR"/>
              <a:t>(</a:t>
            </a:r>
            <a:r>
              <a:rPr lang="ko-KR" altLang="en-US"/>
              <a:t>개요</a:t>
            </a:r>
            <a:r>
              <a:rPr lang="en-US" altLang="ko-KR"/>
              <a:t>)</a:t>
            </a:r>
            <a:r>
              <a:rPr lang="ko-KR" altLang="en-US"/>
              <a:t>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14" name="텍스트 개체 틀 12">
            <a:extLst>
              <a:ext uri="{FF2B5EF4-FFF2-40B4-BE49-F238E27FC236}">
                <a16:creationId xmlns:a16="http://schemas.microsoft.com/office/drawing/2014/main" id="{1FCCB0AD-E057-73DD-C98E-788768A9F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001" y="636814"/>
            <a:ext cx="8280000" cy="432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8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주요 핵심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28pt</a:t>
            </a:r>
            <a:endParaRPr lang="ko-KR" altLang="en-US"/>
          </a:p>
        </p:txBody>
      </p:sp>
      <p:sp>
        <p:nvSpPr>
          <p:cNvPr id="21" name="텍스트 개체 틀 12">
            <a:extLst>
              <a:ext uri="{FF2B5EF4-FFF2-40B4-BE49-F238E27FC236}">
                <a16:creationId xmlns:a16="http://schemas.microsoft.com/office/drawing/2014/main" id="{B21DB24C-4575-6D86-6351-D7182AF99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1" y="1176964"/>
            <a:ext cx="8279998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24" name="텍스트 개체 틀 12">
            <a:extLst>
              <a:ext uri="{FF2B5EF4-FFF2-40B4-BE49-F238E27FC236}">
                <a16:creationId xmlns:a16="http://schemas.microsoft.com/office/drawing/2014/main" id="{E13355E7-731B-AE99-C5A0-BD1E08C4B9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1" y="1423142"/>
            <a:ext cx="8279998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3F096D9-8861-2F6D-EEB0-E4D8569B948A}"/>
              </a:ext>
            </a:extLst>
          </p:cNvPr>
          <p:cNvSpPr/>
          <p:nvPr userDrawn="1"/>
        </p:nvSpPr>
        <p:spPr>
          <a:xfrm>
            <a:off x="432001" y="1883529"/>
            <a:ext cx="3996000" cy="4254471"/>
          </a:xfrm>
          <a:prstGeom prst="rect">
            <a:avLst/>
          </a:prstGeom>
          <a:noFill/>
          <a:ln w="6350">
            <a:solidFill>
              <a:srgbClr val="8A8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8" name="텍스트 개체 틀 12">
            <a:extLst>
              <a:ext uri="{FF2B5EF4-FFF2-40B4-BE49-F238E27FC236}">
                <a16:creationId xmlns:a16="http://schemas.microsoft.com/office/drawing/2014/main" id="{A9F76DAC-3A56-D3D6-5F1F-6C44ECBD2D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1" y="2196010"/>
            <a:ext cx="3419997" cy="19928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정리해서 적어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  <a:endParaRPr lang="ko-KR" altLang="en-US"/>
          </a:p>
        </p:txBody>
      </p:sp>
      <p:sp>
        <p:nvSpPr>
          <p:cNvPr id="31" name="텍스트 개체 틀 12">
            <a:extLst>
              <a:ext uri="{FF2B5EF4-FFF2-40B4-BE49-F238E27FC236}">
                <a16:creationId xmlns:a16="http://schemas.microsoft.com/office/drawing/2014/main" id="{131C25B0-EEBE-3051-AC13-8F2C508035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001" y="2827295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11pt</a:t>
            </a:r>
            <a:endParaRPr lang="ko-KR" altLang="en-US"/>
          </a:p>
        </p:txBody>
      </p:sp>
      <p:sp>
        <p:nvSpPr>
          <p:cNvPr id="34" name="텍스트 개체 틀 12">
            <a:extLst>
              <a:ext uri="{FF2B5EF4-FFF2-40B4-BE49-F238E27FC236}">
                <a16:creationId xmlns:a16="http://schemas.microsoft.com/office/drawing/2014/main" id="{62B3C798-7F21-AA03-9B57-A296C42B90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01" y="3198577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35" name="텍스트 개체 틀 12">
            <a:extLst>
              <a:ext uri="{FF2B5EF4-FFF2-40B4-BE49-F238E27FC236}">
                <a16:creationId xmlns:a16="http://schemas.microsoft.com/office/drawing/2014/main" id="{AFD58215-14F7-F56E-530D-E556C7C29A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1" y="3430991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7A731F-A6EF-4AB7-8CF0-8CDC79C4CD5D}"/>
              </a:ext>
            </a:extLst>
          </p:cNvPr>
          <p:cNvSpPr/>
          <p:nvPr userDrawn="1"/>
        </p:nvSpPr>
        <p:spPr>
          <a:xfrm>
            <a:off x="4715999" y="1883529"/>
            <a:ext cx="3996000" cy="4254471"/>
          </a:xfrm>
          <a:prstGeom prst="rect">
            <a:avLst/>
          </a:prstGeom>
          <a:noFill/>
          <a:ln w="6350">
            <a:solidFill>
              <a:srgbClr val="8A8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9CFF36CE-1604-A21B-BCF7-501D29969D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001" y="3798052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11pt</a:t>
            </a:r>
            <a:endParaRPr lang="ko-KR" altLang="en-US"/>
          </a:p>
        </p:txBody>
      </p:sp>
      <p:sp>
        <p:nvSpPr>
          <p:cNvPr id="8" name="텍스트 개체 틀 12">
            <a:extLst>
              <a:ext uri="{FF2B5EF4-FFF2-40B4-BE49-F238E27FC236}">
                <a16:creationId xmlns:a16="http://schemas.microsoft.com/office/drawing/2014/main" id="{D2F51713-F3DA-97FC-86DA-3B48D05437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001" y="4169334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9" name="텍스트 개체 틀 12">
            <a:extLst>
              <a:ext uri="{FF2B5EF4-FFF2-40B4-BE49-F238E27FC236}">
                <a16:creationId xmlns:a16="http://schemas.microsoft.com/office/drawing/2014/main" id="{50DCF58B-D15D-DF48-08ED-483275B420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001" y="4401748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825BE37-FCC8-E598-B934-E938D99AC5C7}"/>
              </a:ext>
            </a:extLst>
          </p:cNvPr>
          <p:cNvCxnSpPr/>
          <p:nvPr userDrawn="1"/>
        </p:nvCxnSpPr>
        <p:spPr>
          <a:xfrm>
            <a:off x="720000" y="2467295"/>
            <a:ext cx="3419997" cy="0"/>
          </a:xfrm>
          <a:prstGeom prst="line">
            <a:avLst/>
          </a:prstGeom>
          <a:ln w="12700">
            <a:solidFill>
              <a:srgbClr val="0091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2">
            <a:extLst>
              <a:ext uri="{FF2B5EF4-FFF2-40B4-BE49-F238E27FC236}">
                <a16:creationId xmlns:a16="http://schemas.microsoft.com/office/drawing/2014/main" id="{B73D18A7-E344-9191-86F7-94E21468BF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3998" y="2196010"/>
            <a:ext cx="3419997" cy="19928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정리해서 적어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  <a:endParaRPr lang="ko-KR" altLang="en-US"/>
          </a:p>
        </p:txBody>
      </p:sp>
      <p:sp>
        <p:nvSpPr>
          <p:cNvPr id="17" name="텍스트 개체 틀 12">
            <a:extLst>
              <a:ext uri="{FF2B5EF4-FFF2-40B4-BE49-F238E27FC236}">
                <a16:creationId xmlns:a16="http://schemas.microsoft.com/office/drawing/2014/main" id="{3E7A054E-9569-79B6-35E8-201BD06CB2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3998" y="2827295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11pt</a:t>
            </a:r>
            <a:endParaRPr lang="ko-KR" altLang="en-US"/>
          </a:p>
        </p:txBody>
      </p:sp>
      <p:sp>
        <p:nvSpPr>
          <p:cNvPr id="18" name="텍스트 개체 틀 12">
            <a:extLst>
              <a:ext uri="{FF2B5EF4-FFF2-40B4-BE49-F238E27FC236}">
                <a16:creationId xmlns:a16="http://schemas.microsoft.com/office/drawing/2014/main" id="{E2DD4A08-F231-BE53-B134-099BCB9228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3998" y="3198577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19" name="텍스트 개체 틀 12">
            <a:extLst>
              <a:ext uri="{FF2B5EF4-FFF2-40B4-BE49-F238E27FC236}">
                <a16:creationId xmlns:a16="http://schemas.microsoft.com/office/drawing/2014/main" id="{2B0610EF-33CA-1E3A-B740-E49EADB8766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03998" y="3430991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20" name="텍스트 개체 틀 12">
            <a:extLst>
              <a:ext uri="{FF2B5EF4-FFF2-40B4-BE49-F238E27FC236}">
                <a16:creationId xmlns:a16="http://schemas.microsoft.com/office/drawing/2014/main" id="{675D2532-4EEB-647F-6BE3-B914348C7F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03998" y="3798052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11pt</a:t>
            </a:r>
            <a:endParaRPr lang="ko-KR" altLang="en-US"/>
          </a:p>
        </p:txBody>
      </p:sp>
      <p:sp>
        <p:nvSpPr>
          <p:cNvPr id="22" name="텍스트 개체 틀 12">
            <a:extLst>
              <a:ext uri="{FF2B5EF4-FFF2-40B4-BE49-F238E27FC236}">
                <a16:creationId xmlns:a16="http://schemas.microsoft.com/office/drawing/2014/main" id="{2D068D23-0437-ABB7-DC7F-1903D3FEF3B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03998" y="4169334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23" name="텍스트 개체 틀 12">
            <a:extLst>
              <a:ext uri="{FF2B5EF4-FFF2-40B4-BE49-F238E27FC236}">
                <a16:creationId xmlns:a16="http://schemas.microsoft.com/office/drawing/2014/main" id="{21EF3B35-C761-F9F5-D786-F0AFC10457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03998" y="4401748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C4A4E65-BB99-BDBB-24CF-2ACD96AF4240}"/>
              </a:ext>
            </a:extLst>
          </p:cNvPr>
          <p:cNvCxnSpPr/>
          <p:nvPr userDrawn="1"/>
        </p:nvCxnSpPr>
        <p:spPr>
          <a:xfrm>
            <a:off x="5003997" y="2467295"/>
            <a:ext cx="3419997" cy="0"/>
          </a:xfrm>
          <a:prstGeom prst="line">
            <a:avLst/>
          </a:prstGeom>
          <a:ln w="12700">
            <a:solidFill>
              <a:srgbClr val="0091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20541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 txBox="1"/>
          <p:nvPr userDrawn="1"/>
        </p:nvSpPr>
        <p:spPr>
          <a:xfrm>
            <a:off x="8595553" y="6498000"/>
            <a:ext cx="265846" cy="288000"/>
          </a:xfrm>
          <a:prstGeom prst="rect">
            <a:avLst/>
          </a:prstGeom>
        </p:spPr>
        <p:txBody>
          <a:bodyPr wrap="none" lIns="0" tIns="0" rIns="0" bIns="0" anchor="ctr"/>
          <a:lstStyle>
            <a:defPPr>
              <a:defRPr lang="ko-KR"/>
            </a:defPPr>
            <a:lvl1pPr marL="0" algn="ctr" defTabSz="914400" rtl="0" eaLnBrk="1" latinLnBrk="1" hangingPunct="1">
              <a:defRPr sz="600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/>
              <a:t>|  </a:t>
            </a:r>
            <a:fld id="{53863ED4-A9C3-4307-A509-CA990A199134}" type="slidenum">
              <a:rPr lang="ko-KR" altLang="en-US" sz="600" smtClean="0"/>
              <a:pPr algn="ctr"/>
              <a:t>‹#›</a:t>
            </a:fld>
            <a:r>
              <a:rPr lang="en-US" altLang="ko-KR" sz="600"/>
              <a:t>p</a:t>
            </a:r>
            <a:endParaRPr lang="ko-KR" altLang="en-US" sz="60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FDEE1B-75C4-AF41-0177-E136E52316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98309" y="6560004"/>
            <a:ext cx="4291801" cy="16192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ko-KR" altLang="en-US" sz="600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2pPr>
            <a:lvl3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3pPr>
            <a:lvl4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4pPr>
            <a:lvl5pPr>
              <a:defRPr lang="ko-KR" altLang="en-US" sz="554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5pPr>
          </a:lstStyle>
          <a:p>
            <a:pPr lvl="0"/>
            <a:r>
              <a:rPr lang="ko-KR" altLang="en-US"/>
              <a:t>본  자료의 제목을 적어주세요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B4BF458-D4AC-1A16-662E-3B1A638A51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000" y="432000"/>
            <a:ext cx="3557613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rgbClr val="009178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목차 이름</a:t>
            </a:r>
            <a:r>
              <a:rPr lang="en-US" altLang="ko-KR"/>
              <a:t>(</a:t>
            </a:r>
            <a:r>
              <a:rPr lang="ko-KR" altLang="en-US"/>
              <a:t>개요</a:t>
            </a:r>
            <a:r>
              <a:rPr lang="en-US" altLang="ko-KR"/>
              <a:t>)</a:t>
            </a:r>
            <a:r>
              <a:rPr lang="ko-KR" altLang="en-US"/>
              <a:t>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14" name="텍스트 개체 틀 12">
            <a:extLst>
              <a:ext uri="{FF2B5EF4-FFF2-40B4-BE49-F238E27FC236}">
                <a16:creationId xmlns:a16="http://schemas.microsoft.com/office/drawing/2014/main" id="{1FCCB0AD-E057-73DD-C98E-788768A9F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001" y="636814"/>
            <a:ext cx="8280000" cy="432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8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주요 핵심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28pt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25446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079F97E-4FEA-92DB-17D8-EF59822031AC}"/>
              </a:ext>
            </a:extLst>
          </p:cNvPr>
          <p:cNvSpPr txBox="1"/>
          <p:nvPr userDrawn="1"/>
        </p:nvSpPr>
        <p:spPr>
          <a:xfrm>
            <a:off x="8595553" y="6498000"/>
            <a:ext cx="265846" cy="288000"/>
          </a:xfrm>
          <a:prstGeom prst="rect">
            <a:avLst/>
          </a:prstGeom>
        </p:spPr>
        <p:txBody>
          <a:bodyPr wrap="none" lIns="0" tIns="0" rIns="0" bIns="0" anchor="ctr"/>
          <a:lstStyle>
            <a:defPPr>
              <a:defRPr lang="ko-KR"/>
            </a:defPPr>
            <a:lvl1pPr marL="0" algn="ctr" defTabSz="914400" rtl="0" eaLnBrk="1" latinLnBrk="1" hangingPunct="1">
              <a:defRPr sz="600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/>
              <a:t>|  </a:t>
            </a:r>
            <a:fld id="{53863ED4-A9C3-4307-A509-CA990A199134}" type="slidenum">
              <a:rPr lang="ko-KR" altLang="en-US" sz="600" smtClean="0"/>
              <a:pPr algn="ctr"/>
              <a:t>‹#›</a:t>
            </a:fld>
            <a:r>
              <a:rPr lang="en-US" altLang="ko-KR" sz="600"/>
              <a:t>p</a:t>
            </a:r>
            <a:endParaRPr lang="ko-KR" altLang="en-US" sz="60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63565B60-81EE-AAC3-6E1B-E6D206B40B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98309" y="6560004"/>
            <a:ext cx="4291801" cy="16192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ko-KR" altLang="en-US" sz="600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2pPr>
            <a:lvl3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3pPr>
            <a:lvl4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4pPr>
            <a:lvl5pPr>
              <a:defRPr lang="ko-KR" altLang="en-US" sz="554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5pPr>
          </a:lstStyle>
          <a:p>
            <a:pPr lvl="0"/>
            <a:r>
              <a:rPr lang="ko-KR" altLang="en-US"/>
              <a:t>본  자료의 제목을 적어주세요</a:t>
            </a:r>
          </a:p>
        </p:txBody>
      </p:sp>
      <p:sp>
        <p:nvSpPr>
          <p:cNvPr id="6" name="텍스트 개체 틀 12">
            <a:extLst>
              <a:ext uri="{FF2B5EF4-FFF2-40B4-BE49-F238E27FC236}">
                <a16:creationId xmlns:a16="http://schemas.microsoft.com/office/drawing/2014/main" id="{73D0F156-9C8B-EB66-B276-366343F93D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000" y="290451"/>
            <a:ext cx="3557613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rgbClr val="A7D8B7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목차 이름</a:t>
            </a:r>
            <a:r>
              <a:rPr lang="en-US" altLang="ko-KR"/>
              <a:t>(</a:t>
            </a:r>
            <a:r>
              <a:rPr lang="ko-KR" altLang="en-US"/>
              <a:t>개요</a:t>
            </a:r>
            <a:r>
              <a:rPr lang="en-US" altLang="ko-KR"/>
              <a:t>)</a:t>
            </a:r>
            <a:r>
              <a:rPr lang="ko-KR" altLang="en-US"/>
              <a:t>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12" name="텍스트 개체 틀 12">
            <a:extLst>
              <a:ext uri="{FF2B5EF4-FFF2-40B4-BE49-F238E27FC236}">
                <a16:creationId xmlns:a16="http://schemas.microsoft.com/office/drawing/2014/main" id="{726BDBFE-1FA2-2409-36BB-AE8B05F9D5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001" y="490267"/>
            <a:ext cx="8280000" cy="432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80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주요 핵심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28pt</a:t>
            </a:r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A63B1E1B-0683-FF39-4B9F-E9C30F391E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1507808"/>
            <a:ext cx="8279998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14" name="텍스트 개체 틀 12">
            <a:extLst>
              <a:ext uri="{FF2B5EF4-FFF2-40B4-BE49-F238E27FC236}">
                <a16:creationId xmlns:a16="http://schemas.microsoft.com/office/drawing/2014/main" id="{F2EF5E9C-615A-BCAB-C056-483A7EE6BB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753986"/>
            <a:ext cx="8279998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16" name="텍스트 개체 틀 12">
            <a:extLst>
              <a:ext uri="{FF2B5EF4-FFF2-40B4-BE49-F238E27FC236}">
                <a16:creationId xmlns:a16="http://schemas.microsoft.com/office/drawing/2014/main" id="{05102476-8C80-2019-6324-133F27FA63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999" y="2569868"/>
            <a:ext cx="8276926" cy="22775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1600">
                <a:solidFill>
                  <a:srgbClr val="009178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주요 내용을 정리해서 적어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16pt</a:t>
            </a:r>
            <a:endParaRPr lang="ko-KR" altLang="en-US"/>
          </a:p>
        </p:txBody>
      </p:sp>
      <p:sp>
        <p:nvSpPr>
          <p:cNvPr id="17" name="텍스트 개체 틀 12">
            <a:extLst>
              <a:ext uri="{FF2B5EF4-FFF2-40B4-BE49-F238E27FC236}">
                <a16:creationId xmlns:a16="http://schemas.microsoft.com/office/drawing/2014/main" id="{314B8DB4-73B2-7CF8-2396-713E561761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999" y="3014467"/>
            <a:ext cx="8276926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11pt</a:t>
            </a:r>
            <a:endParaRPr lang="ko-KR" altLang="en-US"/>
          </a:p>
        </p:txBody>
      </p:sp>
      <p:sp>
        <p:nvSpPr>
          <p:cNvPr id="18" name="텍스트 개체 틀 12">
            <a:extLst>
              <a:ext uri="{FF2B5EF4-FFF2-40B4-BE49-F238E27FC236}">
                <a16:creationId xmlns:a16="http://schemas.microsoft.com/office/drawing/2014/main" id="{BC123C2F-1BD4-52FC-2D60-8D8FA566BB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999" y="3385749"/>
            <a:ext cx="8276926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20" name="텍스트 개체 틀 12">
            <a:extLst>
              <a:ext uri="{FF2B5EF4-FFF2-40B4-BE49-F238E27FC236}">
                <a16:creationId xmlns:a16="http://schemas.microsoft.com/office/drawing/2014/main" id="{7351E524-22B1-DC93-F6B1-A2C4BDB31D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1999" y="3618163"/>
            <a:ext cx="8276926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21" name="텍스트 개체 틀 12">
            <a:extLst>
              <a:ext uri="{FF2B5EF4-FFF2-40B4-BE49-F238E27FC236}">
                <a16:creationId xmlns:a16="http://schemas.microsoft.com/office/drawing/2014/main" id="{D7DB0A7B-0AAF-A2BF-F7A1-004B8E9458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999" y="4196748"/>
            <a:ext cx="8276926" cy="301988"/>
          </a:xfrm>
          <a:prstGeom prst="rect">
            <a:avLst/>
          </a:prstGeom>
          <a:solidFill>
            <a:srgbClr val="009178"/>
          </a:solidFill>
          <a:ln>
            <a:noFill/>
          </a:ln>
        </p:spPr>
        <p:txBody>
          <a:bodyPr wrap="square" lIns="72000" tIns="72000" rIns="72000" bIns="72000" anchor="t">
            <a:spAutoFit/>
          </a:bodyPr>
          <a:lstStyle>
            <a:lvl1pPr marL="90488" indent="0">
              <a:buNone/>
              <a:tabLst>
                <a:tab pos="90488" algn="l"/>
              </a:tabLst>
              <a:defRPr sz="1100">
                <a:solidFill>
                  <a:schemeClr val="bg1"/>
                </a:solidFill>
                <a:latin typeface="하나2.0 CM" panose="020B0603000000000000" pitchFamily="50" charset="-127"/>
                <a:ea typeface="하나2.0 CM" panose="020B0603000000000000" pitchFamily="50" charset="-127"/>
              </a:defRPr>
            </a:lvl1pPr>
          </a:lstStyle>
          <a:p>
            <a:pPr lvl="0"/>
            <a:r>
              <a:rPr lang="ko-KR" altLang="en-US"/>
              <a:t>제목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CM 11pt</a:t>
            </a:r>
            <a:endParaRPr lang="ko-KR" altLang="en-US"/>
          </a:p>
        </p:txBody>
      </p:sp>
      <p:sp>
        <p:nvSpPr>
          <p:cNvPr id="22" name="텍스트 개체 틀 12">
            <a:extLst>
              <a:ext uri="{FF2B5EF4-FFF2-40B4-BE49-F238E27FC236}">
                <a16:creationId xmlns:a16="http://schemas.microsoft.com/office/drawing/2014/main" id="{82780ABE-8373-2828-FE8B-D87F7CABAE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999" y="4640489"/>
            <a:ext cx="8276926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23" name="텍스트 개체 틀 12">
            <a:extLst>
              <a:ext uri="{FF2B5EF4-FFF2-40B4-BE49-F238E27FC236}">
                <a16:creationId xmlns:a16="http://schemas.microsoft.com/office/drawing/2014/main" id="{FA405C12-C261-08A3-EBE9-0D1504CC7F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999" y="4872903"/>
            <a:ext cx="8276926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199A0B8-21DF-0EA3-1F4F-29404F6CFBF9}"/>
              </a:ext>
            </a:extLst>
          </p:cNvPr>
          <p:cNvCxnSpPr/>
          <p:nvPr userDrawn="1"/>
        </p:nvCxnSpPr>
        <p:spPr>
          <a:xfrm>
            <a:off x="433800" y="2246800"/>
            <a:ext cx="8276400" cy="0"/>
          </a:xfrm>
          <a:prstGeom prst="line">
            <a:avLst/>
          </a:prstGeom>
          <a:noFill/>
          <a:ln w="6350">
            <a:solidFill>
              <a:srgbClr val="8A8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92528891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079F97E-4FEA-92DB-17D8-EF59822031AC}"/>
              </a:ext>
            </a:extLst>
          </p:cNvPr>
          <p:cNvSpPr txBox="1"/>
          <p:nvPr userDrawn="1"/>
        </p:nvSpPr>
        <p:spPr>
          <a:xfrm>
            <a:off x="8595553" y="6498000"/>
            <a:ext cx="265846" cy="288000"/>
          </a:xfrm>
          <a:prstGeom prst="rect">
            <a:avLst/>
          </a:prstGeom>
        </p:spPr>
        <p:txBody>
          <a:bodyPr wrap="none" lIns="0" tIns="0" rIns="0" bIns="0" anchor="ctr"/>
          <a:lstStyle>
            <a:defPPr>
              <a:defRPr lang="ko-KR"/>
            </a:defPPr>
            <a:lvl1pPr marL="0" algn="ctr" defTabSz="914400" rtl="0" eaLnBrk="1" latinLnBrk="1" hangingPunct="1">
              <a:defRPr sz="600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/>
              <a:t>|  </a:t>
            </a:r>
            <a:fld id="{53863ED4-A9C3-4307-A509-CA990A199134}" type="slidenum">
              <a:rPr lang="ko-KR" altLang="en-US" sz="600" smtClean="0"/>
              <a:pPr algn="ctr"/>
              <a:t>‹#›</a:t>
            </a:fld>
            <a:r>
              <a:rPr lang="en-US" altLang="ko-KR" sz="600"/>
              <a:t>p</a:t>
            </a:r>
            <a:endParaRPr lang="ko-KR" altLang="en-US" sz="60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63565B60-81EE-AAC3-6E1B-E6D206B40B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98309" y="6560004"/>
            <a:ext cx="4291801" cy="16192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ko-KR" altLang="en-US" sz="600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2pPr>
            <a:lvl3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3pPr>
            <a:lvl4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4pPr>
            <a:lvl5pPr>
              <a:defRPr lang="ko-KR" altLang="en-US" sz="554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5pPr>
          </a:lstStyle>
          <a:p>
            <a:pPr lvl="0"/>
            <a:r>
              <a:rPr lang="ko-KR" altLang="en-US"/>
              <a:t>본  자료의 제목을 적어주세요</a:t>
            </a:r>
          </a:p>
        </p:txBody>
      </p:sp>
      <p:sp>
        <p:nvSpPr>
          <p:cNvPr id="6" name="텍스트 개체 틀 12">
            <a:extLst>
              <a:ext uri="{FF2B5EF4-FFF2-40B4-BE49-F238E27FC236}">
                <a16:creationId xmlns:a16="http://schemas.microsoft.com/office/drawing/2014/main" id="{73D0F156-9C8B-EB66-B276-366343F93D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000" y="290451"/>
            <a:ext cx="3557613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rgbClr val="A7D8B7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목차 이름</a:t>
            </a:r>
            <a:r>
              <a:rPr lang="en-US" altLang="ko-KR"/>
              <a:t>(</a:t>
            </a:r>
            <a:r>
              <a:rPr lang="ko-KR" altLang="en-US"/>
              <a:t>개요</a:t>
            </a:r>
            <a:r>
              <a:rPr lang="en-US" altLang="ko-KR"/>
              <a:t>)</a:t>
            </a:r>
            <a:r>
              <a:rPr lang="ko-KR" altLang="en-US"/>
              <a:t>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12" name="텍스트 개체 틀 12">
            <a:extLst>
              <a:ext uri="{FF2B5EF4-FFF2-40B4-BE49-F238E27FC236}">
                <a16:creationId xmlns:a16="http://schemas.microsoft.com/office/drawing/2014/main" id="{726BDBFE-1FA2-2409-36BB-AE8B05F9D5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001" y="490267"/>
            <a:ext cx="8280000" cy="432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80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주요 핵심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28pt</a:t>
            </a:r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A63B1E1B-0683-FF39-4B9F-E9C30F391E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1507808"/>
            <a:ext cx="8279998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14" name="텍스트 개체 틀 12">
            <a:extLst>
              <a:ext uri="{FF2B5EF4-FFF2-40B4-BE49-F238E27FC236}">
                <a16:creationId xmlns:a16="http://schemas.microsoft.com/office/drawing/2014/main" id="{F2EF5E9C-615A-BCAB-C056-483A7EE6BB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753986"/>
            <a:ext cx="8279998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57E024-ED7F-173B-E89D-A2AF8A77CCD6}"/>
              </a:ext>
            </a:extLst>
          </p:cNvPr>
          <p:cNvSpPr/>
          <p:nvPr userDrawn="1"/>
        </p:nvSpPr>
        <p:spPr>
          <a:xfrm>
            <a:off x="432001" y="2260190"/>
            <a:ext cx="3996000" cy="3839837"/>
          </a:xfrm>
          <a:prstGeom prst="rect">
            <a:avLst/>
          </a:prstGeom>
          <a:noFill/>
          <a:ln w="6350">
            <a:solidFill>
              <a:srgbClr val="8A8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" name="텍스트 개체 틀 12">
            <a:extLst>
              <a:ext uri="{FF2B5EF4-FFF2-40B4-BE49-F238E27FC236}">
                <a16:creationId xmlns:a16="http://schemas.microsoft.com/office/drawing/2014/main" id="{AC5C135B-087D-201C-7A91-2296438EB0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1" y="2550107"/>
            <a:ext cx="3419997" cy="19928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정리해서 적어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  <a:endParaRPr lang="ko-KR" altLang="en-US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FFBE5B05-1912-3691-781C-1B0FCCFDD0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001" y="3181392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11pt</a:t>
            </a:r>
            <a:endParaRPr lang="ko-KR" altLang="en-US"/>
          </a:p>
        </p:txBody>
      </p:sp>
      <p:sp>
        <p:nvSpPr>
          <p:cNvPr id="8" name="텍스트 개체 틀 12">
            <a:extLst>
              <a:ext uri="{FF2B5EF4-FFF2-40B4-BE49-F238E27FC236}">
                <a16:creationId xmlns:a16="http://schemas.microsoft.com/office/drawing/2014/main" id="{EA918C8E-AEAF-F67C-7B62-FBCB9D36AD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01" y="3552674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9" name="텍스트 개체 틀 12">
            <a:extLst>
              <a:ext uri="{FF2B5EF4-FFF2-40B4-BE49-F238E27FC236}">
                <a16:creationId xmlns:a16="http://schemas.microsoft.com/office/drawing/2014/main" id="{23209185-8117-1796-0BEA-718EA0564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1" y="3785088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368764-389E-B22E-6459-73AB33BF7063}"/>
              </a:ext>
            </a:extLst>
          </p:cNvPr>
          <p:cNvSpPr/>
          <p:nvPr userDrawn="1"/>
        </p:nvSpPr>
        <p:spPr>
          <a:xfrm>
            <a:off x="4715999" y="2260190"/>
            <a:ext cx="3996000" cy="3839837"/>
          </a:xfrm>
          <a:prstGeom prst="rect">
            <a:avLst/>
          </a:prstGeom>
          <a:noFill/>
          <a:ln w="6350">
            <a:solidFill>
              <a:srgbClr val="8A8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5" name="텍스트 개체 틀 12">
            <a:extLst>
              <a:ext uri="{FF2B5EF4-FFF2-40B4-BE49-F238E27FC236}">
                <a16:creationId xmlns:a16="http://schemas.microsoft.com/office/drawing/2014/main" id="{33F26E2C-EF7C-0ACB-36FE-A7680A0886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001" y="4152149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11pt</a:t>
            </a:r>
            <a:endParaRPr lang="ko-KR" altLang="en-US"/>
          </a:p>
        </p:txBody>
      </p:sp>
      <p:sp>
        <p:nvSpPr>
          <p:cNvPr id="19" name="텍스트 개체 틀 12">
            <a:extLst>
              <a:ext uri="{FF2B5EF4-FFF2-40B4-BE49-F238E27FC236}">
                <a16:creationId xmlns:a16="http://schemas.microsoft.com/office/drawing/2014/main" id="{1F3F21B4-6AC0-6EEA-04CF-FB3A67C30D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001" y="4523431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24" name="텍스트 개체 틀 12">
            <a:extLst>
              <a:ext uri="{FF2B5EF4-FFF2-40B4-BE49-F238E27FC236}">
                <a16:creationId xmlns:a16="http://schemas.microsoft.com/office/drawing/2014/main" id="{2EA93C30-88C7-7604-13A4-6B948C4650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001" y="4755845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B115094-A2D1-BBE9-79AE-203727CB3646}"/>
              </a:ext>
            </a:extLst>
          </p:cNvPr>
          <p:cNvCxnSpPr/>
          <p:nvPr userDrawn="1"/>
        </p:nvCxnSpPr>
        <p:spPr>
          <a:xfrm>
            <a:off x="720000" y="2821392"/>
            <a:ext cx="3419997" cy="0"/>
          </a:xfrm>
          <a:prstGeom prst="line">
            <a:avLst/>
          </a:prstGeom>
          <a:ln w="12700">
            <a:solidFill>
              <a:srgbClr val="0091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텍스트 개체 틀 12">
            <a:extLst>
              <a:ext uri="{FF2B5EF4-FFF2-40B4-BE49-F238E27FC236}">
                <a16:creationId xmlns:a16="http://schemas.microsoft.com/office/drawing/2014/main" id="{CD94CA03-3320-FE82-5AFE-D74913FBC2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3998" y="2550107"/>
            <a:ext cx="3419997" cy="19928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14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정리해서 적어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14pt</a:t>
            </a:r>
            <a:endParaRPr lang="ko-KR" altLang="en-US"/>
          </a:p>
        </p:txBody>
      </p:sp>
      <p:sp>
        <p:nvSpPr>
          <p:cNvPr id="27" name="텍스트 개체 틀 12">
            <a:extLst>
              <a:ext uri="{FF2B5EF4-FFF2-40B4-BE49-F238E27FC236}">
                <a16:creationId xmlns:a16="http://schemas.microsoft.com/office/drawing/2014/main" id="{FD148C4D-68F1-141A-70C5-F0960E08CB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3998" y="3181392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11pt</a:t>
            </a:r>
            <a:endParaRPr lang="ko-KR" altLang="en-US"/>
          </a:p>
        </p:txBody>
      </p:sp>
      <p:sp>
        <p:nvSpPr>
          <p:cNvPr id="28" name="텍스트 개체 틀 12">
            <a:extLst>
              <a:ext uri="{FF2B5EF4-FFF2-40B4-BE49-F238E27FC236}">
                <a16:creationId xmlns:a16="http://schemas.microsoft.com/office/drawing/2014/main" id="{F2292276-1335-77FE-45EE-B0D735937F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3998" y="3552674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29" name="텍스트 개체 틀 12">
            <a:extLst>
              <a:ext uri="{FF2B5EF4-FFF2-40B4-BE49-F238E27FC236}">
                <a16:creationId xmlns:a16="http://schemas.microsoft.com/office/drawing/2014/main" id="{5C26B76D-7555-43F3-8199-533AA53270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03998" y="3785088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30" name="텍스트 개체 틀 12">
            <a:extLst>
              <a:ext uri="{FF2B5EF4-FFF2-40B4-BE49-F238E27FC236}">
                <a16:creationId xmlns:a16="http://schemas.microsoft.com/office/drawing/2014/main" id="{D03689BE-B0D6-0434-5BAE-BE1FC5B722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03998" y="4152149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en-US" altLang="ko-KR"/>
              <a:t>- </a:t>
            </a:r>
            <a:r>
              <a:rPr lang="ko-KR" altLang="en-US"/>
              <a:t>상세 내용을 정리해서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11pt</a:t>
            </a:r>
            <a:endParaRPr lang="ko-KR" altLang="en-US"/>
          </a:p>
        </p:txBody>
      </p:sp>
      <p:sp>
        <p:nvSpPr>
          <p:cNvPr id="31" name="텍스트 개체 틀 12">
            <a:extLst>
              <a:ext uri="{FF2B5EF4-FFF2-40B4-BE49-F238E27FC236}">
                <a16:creationId xmlns:a16="http://schemas.microsoft.com/office/drawing/2014/main" id="{89033D60-C9E0-F00B-6084-0582232F4B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03998" y="4523431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sp>
        <p:nvSpPr>
          <p:cNvPr id="33" name="텍스트 개체 틀 12">
            <a:extLst>
              <a:ext uri="{FF2B5EF4-FFF2-40B4-BE49-F238E27FC236}">
                <a16:creationId xmlns:a16="http://schemas.microsoft.com/office/drawing/2014/main" id="{5C837A57-3E1E-1B27-695F-4E91A9686B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03998" y="4755845"/>
            <a:ext cx="3419997" cy="156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하나2.0 R" panose="020B0303000000000000" pitchFamily="50" charset="-127"/>
                <a:ea typeface="하나2.0 R" panose="020B0303000000000000" pitchFamily="50" charset="-127"/>
              </a:defRPr>
            </a:lvl1pPr>
          </a:lstStyle>
          <a:p>
            <a:pPr lvl="0"/>
            <a:r>
              <a:rPr lang="ko-KR" altLang="en-US"/>
              <a:t>상세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R 8pt</a:t>
            </a:r>
            <a:endParaRPr lang="ko-KR" altLang="en-US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F336A476-03B0-D53F-D962-88D6EC07515E}"/>
              </a:ext>
            </a:extLst>
          </p:cNvPr>
          <p:cNvCxnSpPr/>
          <p:nvPr userDrawn="1"/>
        </p:nvCxnSpPr>
        <p:spPr>
          <a:xfrm>
            <a:off x="5003997" y="2821392"/>
            <a:ext cx="3419997" cy="0"/>
          </a:xfrm>
          <a:prstGeom prst="line">
            <a:avLst/>
          </a:prstGeom>
          <a:ln w="12700">
            <a:solidFill>
              <a:srgbClr val="0091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095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079F97E-4FEA-92DB-17D8-EF59822031AC}"/>
              </a:ext>
            </a:extLst>
          </p:cNvPr>
          <p:cNvSpPr txBox="1"/>
          <p:nvPr userDrawn="1"/>
        </p:nvSpPr>
        <p:spPr>
          <a:xfrm>
            <a:off x="8595553" y="6498000"/>
            <a:ext cx="265846" cy="288000"/>
          </a:xfrm>
          <a:prstGeom prst="rect">
            <a:avLst/>
          </a:prstGeom>
        </p:spPr>
        <p:txBody>
          <a:bodyPr wrap="none" lIns="0" tIns="0" rIns="0" bIns="0" anchor="ctr"/>
          <a:lstStyle>
            <a:defPPr>
              <a:defRPr lang="ko-KR"/>
            </a:defPPr>
            <a:lvl1pPr marL="0" algn="ctr" defTabSz="914400" rtl="0" eaLnBrk="1" latinLnBrk="1" hangingPunct="1">
              <a:defRPr sz="600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/>
              <a:t>|  </a:t>
            </a:r>
            <a:fld id="{53863ED4-A9C3-4307-A509-CA990A199134}" type="slidenum">
              <a:rPr lang="ko-KR" altLang="en-US" sz="600" smtClean="0"/>
              <a:pPr algn="ctr"/>
              <a:t>‹#›</a:t>
            </a:fld>
            <a:r>
              <a:rPr lang="en-US" altLang="ko-KR" sz="600"/>
              <a:t>p</a:t>
            </a:r>
            <a:endParaRPr lang="ko-KR" altLang="en-US" sz="60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63565B60-81EE-AAC3-6E1B-E6D206B40B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98309" y="6560004"/>
            <a:ext cx="4291801" cy="16192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ko-KR" altLang="en-US" sz="600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2pPr>
            <a:lvl3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3pPr>
            <a:lvl4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4pPr>
            <a:lvl5pPr>
              <a:defRPr lang="ko-KR" altLang="en-US" sz="554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5pPr>
          </a:lstStyle>
          <a:p>
            <a:pPr lvl="0"/>
            <a:r>
              <a:rPr lang="ko-KR" altLang="en-US"/>
              <a:t>본  자료의 제목을 적어주세요</a:t>
            </a:r>
          </a:p>
        </p:txBody>
      </p:sp>
      <p:sp>
        <p:nvSpPr>
          <p:cNvPr id="6" name="텍스트 개체 틀 12">
            <a:extLst>
              <a:ext uri="{FF2B5EF4-FFF2-40B4-BE49-F238E27FC236}">
                <a16:creationId xmlns:a16="http://schemas.microsoft.com/office/drawing/2014/main" id="{73D0F156-9C8B-EB66-B276-366343F93D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000" y="290451"/>
            <a:ext cx="3557613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rgbClr val="A7D8B7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목차 이름</a:t>
            </a:r>
            <a:r>
              <a:rPr lang="en-US" altLang="ko-KR"/>
              <a:t>(</a:t>
            </a:r>
            <a:r>
              <a:rPr lang="ko-KR" altLang="en-US"/>
              <a:t>개요</a:t>
            </a:r>
            <a:r>
              <a:rPr lang="en-US" altLang="ko-KR"/>
              <a:t>)</a:t>
            </a:r>
            <a:r>
              <a:rPr lang="ko-KR" altLang="en-US"/>
              <a:t>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12" name="텍스트 개체 틀 12">
            <a:extLst>
              <a:ext uri="{FF2B5EF4-FFF2-40B4-BE49-F238E27FC236}">
                <a16:creationId xmlns:a16="http://schemas.microsoft.com/office/drawing/2014/main" id="{726BDBFE-1FA2-2409-36BB-AE8B05F9D5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001" y="490267"/>
            <a:ext cx="8280000" cy="432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80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주요 핵심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28pt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25873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12">
            <a:extLst>
              <a:ext uri="{FF2B5EF4-FFF2-40B4-BE49-F238E27FC236}">
                <a16:creationId xmlns:a16="http://schemas.microsoft.com/office/drawing/2014/main" id="{92C6BF75-86A6-5974-541E-C8DC235F40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001" y="432000"/>
            <a:ext cx="8280000" cy="432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80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목차명을 작성해 주세요</a:t>
            </a:r>
            <a:r>
              <a:rPr lang="en-US" altLang="ko-KR"/>
              <a:t>_</a:t>
            </a:r>
            <a:r>
              <a:rPr lang="ko-KR" altLang="en-US"/>
              <a:t>간지</a:t>
            </a:r>
            <a:r>
              <a:rPr lang="en-US" altLang="ko-KR"/>
              <a:t> : </a:t>
            </a:r>
            <a:r>
              <a:rPr lang="ko-KR" altLang="en-US"/>
              <a:t>하나</a:t>
            </a:r>
            <a:r>
              <a:rPr lang="en-US" altLang="ko-KR"/>
              <a:t>2.0 B 28pt</a:t>
            </a:r>
            <a:endParaRPr lang="ko-KR" altLang="en-US"/>
          </a:p>
        </p:txBody>
      </p:sp>
      <p:sp>
        <p:nvSpPr>
          <p:cNvPr id="6" name="텍스트 개체 틀 12">
            <a:extLst>
              <a:ext uri="{FF2B5EF4-FFF2-40B4-BE49-F238E27FC236}">
                <a16:creationId xmlns:a16="http://schemas.microsoft.com/office/drawing/2014/main" id="{5D5CABA1-C12D-299D-3009-645952A34C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1" y="1152000"/>
            <a:ext cx="8280000" cy="1708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① 소목차를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  <a:endParaRPr lang="ko-KR" altLang="en-US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ED4FCEAE-011F-B415-5D02-7362E900A6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1" y="1493632"/>
            <a:ext cx="8280000" cy="1708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② 소목차를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25619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2">
            <a:extLst>
              <a:ext uri="{FF2B5EF4-FFF2-40B4-BE49-F238E27FC236}">
                <a16:creationId xmlns:a16="http://schemas.microsoft.com/office/drawing/2014/main" id="{369BB9CD-19A8-9EB8-DEE3-676105DCE9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001" y="3013714"/>
            <a:ext cx="8280000" cy="39857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목차명을 작성해 주세요</a:t>
            </a:r>
            <a:r>
              <a:rPr lang="en-US" altLang="ko-KR"/>
              <a:t>_</a:t>
            </a:r>
            <a:r>
              <a:rPr lang="ko-KR" altLang="en-US"/>
              <a:t>간지</a:t>
            </a:r>
            <a:r>
              <a:rPr lang="en-US" altLang="ko-KR"/>
              <a:t> : </a:t>
            </a:r>
            <a:r>
              <a:rPr lang="ko-KR" altLang="en-US"/>
              <a:t>하나</a:t>
            </a:r>
            <a:r>
              <a:rPr lang="en-US" altLang="ko-KR"/>
              <a:t>2.0 B 28pt</a:t>
            </a:r>
            <a:endParaRPr lang="ko-KR" altLang="en-US"/>
          </a:p>
        </p:txBody>
      </p:sp>
      <p:sp>
        <p:nvSpPr>
          <p:cNvPr id="5" name="텍스트 개체 틀 12">
            <a:extLst>
              <a:ext uri="{FF2B5EF4-FFF2-40B4-BE49-F238E27FC236}">
                <a16:creationId xmlns:a16="http://schemas.microsoft.com/office/drawing/2014/main" id="{51FF04FC-3793-1EF0-03BC-0B4F0FEDD7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1" y="2509715"/>
            <a:ext cx="8280000" cy="199285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buNone/>
              <a:defRPr sz="1400">
                <a:solidFill>
                  <a:srgbClr val="A7D8B7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본 자료의 제목을 작성해 주세요</a:t>
            </a:r>
            <a:r>
              <a:rPr lang="en-US" altLang="ko-KR"/>
              <a:t> :</a:t>
            </a:r>
            <a:r>
              <a:rPr lang="ko-KR" altLang="en-US"/>
              <a:t> 하나</a:t>
            </a:r>
            <a:r>
              <a:rPr lang="en-US" altLang="ko-KR"/>
              <a:t>2.0 M 14pt</a:t>
            </a:r>
            <a:endParaRPr lang="ko-KR" altLang="en-US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B896B8A1-9AC1-B0E9-0EEA-DCEAA918A7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1" y="3721961"/>
            <a:ext cx="8280000" cy="1708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① 소목차를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  <a:endParaRPr lang="ko-KR" altLang="en-US"/>
          </a:p>
        </p:txBody>
      </p:sp>
      <p:sp>
        <p:nvSpPr>
          <p:cNvPr id="9" name="텍스트 개체 틀 12">
            <a:extLst>
              <a:ext uri="{FF2B5EF4-FFF2-40B4-BE49-F238E27FC236}">
                <a16:creationId xmlns:a16="http://schemas.microsoft.com/office/drawing/2014/main" id="{9D36EA4B-6576-DA98-D3BB-BD9D800384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001" y="4063593"/>
            <a:ext cx="8280000" cy="1708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② 소목차를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12pt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24429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D734806-F297-6FCE-29FB-6319F60E7BEF}"/>
              </a:ext>
            </a:extLst>
          </p:cNvPr>
          <p:cNvSpPr txBox="1"/>
          <p:nvPr userDrawn="1"/>
        </p:nvSpPr>
        <p:spPr>
          <a:xfrm>
            <a:off x="8595553" y="6498000"/>
            <a:ext cx="265846" cy="288000"/>
          </a:xfrm>
          <a:prstGeom prst="rect">
            <a:avLst/>
          </a:prstGeom>
        </p:spPr>
        <p:txBody>
          <a:bodyPr wrap="none" lIns="0" tIns="0" rIns="0" bIns="0" anchor="ctr"/>
          <a:lstStyle>
            <a:defPPr>
              <a:defRPr lang="ko-KR"/>
            </a:defPPr>
            <a:lvl1pPr marL="0" algn="ctr" defTabSz="914400" rtl="0" eaLnBrk="1" latinLnBrk="1" hangingPunct="1">
              <a:defRPr sz="600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/>
              <a:t>|  </a:t>
            </a:r>
            <a:fld id="{53863ED4-A9C3-4307-A509-CA990A199134}" type="slidenum">
              <a:rPr lang="ko-KR" altLang="en-US" sz="600" smtClean="0"/>
              <a:pPr algn="ctr"/>
              <a:t>‹#›</a:t>
            </a:fld>
            <a:r>
              <a:rPr lang="en-US" altLang="ko-KR" sz="600"/>
              <a:t>p</a:t>
            </a:r>
            <a:endParaRPr lang="ko-KR" altLang="en-US" sz="60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D62F8234-B6D2-61D2-C4D2-387AA98211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98309" y="6560004"/>
            <a:ext cx="4291801" cy="16192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ko-KR" altLang="en-US" sz="600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2pPr>
            <a:lvl3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3pPr>
            <a:lvl4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4pPr>
            <a:lvl5pPr>
              <a:defRPr lang="ko-KR" altLang="en-US" sz="554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5pPr>
          </a:lstStyle>
          <a:p>
            <a:pPr lvl="0"/>
            <a:r>
              <a:rPr lang="ko-KR" altLang="en-US"/>
              <a:t>본  자료의 제목을 적어주세요</a:t>
            </a:r>
          </a:p>
        </p:txBody>
      </p:sp>
    </p:spTree>
    <p:extLst>
      <p:ext uri="{BB962C8B-B14F-4D97-AF65-F5344CB8AC3E}">
        <p14:creationId xmlns:p14="http://schemas.microsoft.com/office/powerpoint/2010/main" val="109875254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30">
            <a:extLst>
              <a:ext uri="{FF2B5EF4-FFF2-40B4-BE49-F238E27FC236}">
                <a16:creationId xmlns:a16="http://schemas.microsoft.com/office/drawing/2014/main" id="{535E51F1-09E6-9121-E4FA-D8251B775E30}"/>
              </a:ext>
            </a:extLst>
          </p:cNvPr>
          <p:cNvSpPr/>
          <p:nvPr userDrawn="1"/>
        </p:nvSpPr>
        <p:spPr>
          <a:xfrm>
            <a:off x="294214" y="1440659"/>
            <a:ext cx="1116000" cy="792000"/>
          </a:xfrm>
          <a:prstGeom prst="round2SameRect">
            <a:avLst>
              <a:gd name="adj1" fmla="val 5967"/>
              <a:gd name="adj2" fmla="val 0"/>
            </a:avLst>
          </a:prstGeom>
          <a:solidFill>
            <a:srgbClr val="0091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4" name="양쪽 모서리가 둥근 사각형 31">
            <a:extLst>
              <a:ext uri="{FF2B5EF4-FFF2-40B4-BE49-F238E27FC236}">
                <a16:creationId xmlns:a16="http://schemas.microsoft.com/office/drawing/2014/main" id="{EEA5159A-0F3E-22AA-F795-D5C9EDA6505C}"/>
              </a:ext>
            </a:extLst>
          </p:cNvPr>
          <p:cNvSpPr/>
          <p:nvPr userDrawn="1"/>
        </p:nvSpPr>
        <p:spPr>
          <a:xfrm>
            <a:off x="1499439" y="1440659"/>
            <a:ext cx="1116000" cy="792000"/>
          </a:xfrm>
          <a:prstGeom prst="round2SameRect">
            <a:avLst>
              <a:gd name="adj1" fmla="val 9752"/>
              <a:gd name="adj2" fmla="val 0"/>
            </a:avLst>
          </a:prstGeom>
          <a:solidFill>
            <a:srgbClr val="DC2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5" name="양쪽 모서리가 둥근 사각형 32">
            <a:extLst>
              <a:ext uri="{FF2B5EF4-FFF2-40B4-BE49-F238E27FC236}">
                <a16:creationId xmlns:a16="http://schemas.microsoft.com/office/drawing/2014/main" id="{DE484B45-189B-363E-824F-9AD9C7A30819}"/>
              </a:ext>
            </a:extLst>
          </p:cNvPr>
          <p:cNvSpPr/>
          <p:nvPr userDrawn="1"/>
        </p:nvSpPr>
        <p:spPr>
          <a:xfrm>
            <a:off x="294238" y="2232659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Green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Pantone 3288C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C100 M0 Y65 K15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R0 G145 B120 #009178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" name="양쪽 모서리가 둥근 사각형 33">
            <a:extLst>
              <a:ext uri="{FF2B5EF4-FFF2-40B4-BE49-F238E27FC236}">
                <a16:creationId xmlns:a16="http://schemas.microsoft.com/office/drawing/2014/main" id="{FB863159-AFAA-AF46-D673-9E0329883051}"/>
              </a:ext>
            </a:extLst>
          </p:cNvPr>
          <p:cNvSpPr/>
          <p:nvPr userDrawn="1"/>
        </p:nvSpPr>
        <p:spPr>
          <a:xfrm>
            <a:off x="1499439" y="2232659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Red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Pantone 3546C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C10 M100 Y100 K0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R220 G35 B30 #DC231E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7" name="양쪽 모서리가 둥근 사각형 34">
            <a:extLst>
              <a:ext uri="{FF2B5EF4-FFF2-40B4-BE49-F238E27FC236}">
                <a16:creationId xmlns:a16="http://schemas.microsoft.com/office/drawing/2014/main" id="{7E64E3E3-E5F2-248A-FC2A-615E13538921}"/>
              </a:ext>
            </a:extLst>
          </p:cNvPr>
          <p:cNvSpPr/>
          <p:nvPr userDrawn="1"/>
        </p:nvSpPr>
        <p:spPr>
          <a:xfrm>
            <a:off x="2834813" y="1444320"/>
            <a:ext cx="1116000" cy="792000"/>
          </a:xfrm>
          <a:prstGeom prst="round2SameRect">
            <a:avLst>
              <a:gd name="adj1" fmla="val 9752"/>
              <a:gd name="adj2" fmla="val 0"/>
            </a:avLst>
          </a:prstGeom>
          <a:solidFill>
            <a:srgbClr val="004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8" name="양쪽 모서리가 둥근 사각형 35">
            <a:extLst>
              <a:ext uri="{FF2B5EF4-FFF2-40B4-BE49-F238E27FC236}">
                <a16:creationId xmlns:a16="http://schemas.microsoft.com/office/drawing/2014/main" id="{F5D670D7-F9D6-60AE-57F8-E61AF3E04F6C}"/>
              </a:ext>
            </a:extLst>
          </p:cNvPr>
          <p:cNvSpPr/>
          <p:nvPr userDrawn="1"/>
        </p:nvSpPr>
        <p:spPr>
          <a:xfrm>
            <a:off x="2834813" y="2236320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Dark Green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Pantone 3305C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C95 M15 Y60 K60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R0 G78 B66 #004E42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9" name="양쪽 모서리가 둥근 사각형 36">
            <a:extLst>
              <a:ext uri="{FF2B5EF4-FFF2-40B4-BE49-F238E27FC236}">
                <a16:creationId xmlns:a16="http://schemas.microsoft.com/office/drawing/2014/main" id="{FC11C800-AA21-8955-7705-6828722AE219}"/>
              </a:ext>
            </a:extLst>
          </p:cNvPr>
          <p:cNvSpPr/>
          <p:nvPr userDrawn="1"/>
        </p:nvSpPr>
        <p:spPr>
          <a:xfrm>
            <a:off x="4040014" y="1444320"/>
            <a:ext cx="1116000" cy="792000"/>
          </a:xfrm>
          <a:prstGeom prst="round2SameRect">
            <a:avLst>
              <a:gd name="adj1" fmla="val 9752"/>
              <a:gd name="adj2" fmla="val 0"/>
            </a:avLst>
          </a:prstGeom>
          <a:solidFill>
            <a:srgbClr val="D7E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10" name="양쪽 모서리가 둥근 사각형 37">
            <a:extLst>
              <a:ext uri="{FF2B5EF4-FFF2-40B4-BE49-F238E27FC236}">
                <a16:creationId xmlns:a16="http://schemas.microsoft.com/office/drawing/2014/main" id="{F22CBFF5-64E4-0D45-FE31-165BD7C02376}"/>
              </a:ext>
            </a:extLst>
          </p:cNvPr>
          <p:cNvSpPr/>
          <p:nvPr userDrawn="1"/>
        </p:nvSpPr>
        <p:spPr>
          <a:xfrm>
            <a:off x="4040038" y="2236320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Pale Green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Pantone 573C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C30 M0 Y15 K0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R215 G237 B230 #D7EDE6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1" name="양쪽 모서리가 둥근 사각형 38">
            <a:extLst>
              <a:ext uri="{FF2B5EF4-FFF2-40B4-BE49-F238E27FC236}">
                <a16:creationId xmlns:a16="http://schemas.microsoft.com/office/drawing/2014/main" id="{F9862ABB-3E3A-91A8-800B-0878719210C6}"/>
              </a:ext>
            </a:extLst>
          </p:cNvPr>
          <p:cNvSpPr/>
          <p:nvPr userDrawn="1"/>
        </p:nvSpPr>
        <p:spPr>
          <a:xfrm>
            <a:off x="5371458" y="1440750"/>
            <a:ext cx="1116000" cy="792000"/>
          </a:xfrm>
          <a:prstGeom prst="round2SameRect">
            <a:avLst>
              <a:gd name="adj1" fmla="val 9752"/>
              <a:gd name="adj2" fmla="val 0"/>
            </a:avLst>
          </a:prstGeom>
          <a:solidFill>
            <a:srgbClr val="CEDC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12" name="양쪽 모서리가 둥근 사각형 39">
            <a:extLst>
              <a:ext uri="{FF2B5EF4-FFF2-40B4-BE49-F238E27FC236}">
                <a16:creationId xmlns:a16="http://schemas.microsoft.com/office/drawing/2014/main" id="{F6343F6B-B845-C86C-73AC-0B5C80659B25}"/>
              </a:ext>
            </a:extLst>
          </p:cNvPr>
          <p:cNvSpPr/>
          <p:nvPr userDrawn="1"/>
        </p:nvSpPr>
        <p:spPr>
          <a:xfrm>
            <a:off x="5371482" y="2232750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Point Green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Pantone 381C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C25 M0 Y100 K0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R206 G220 B88 #CEDC00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3" name="양쪽 모서리가 둥근 사각형 40">
            <a:extLst>
              <a:ext uri="{FF2B5EF4-FFF2-40B4-BE49-F238E27FC236}">
                <a16:creationId xmlns:a16="http://schemas.microsoft.com/office/drawing/2014/main" id="{88898756-6BE0-B8E8-CF43-04052CFF8400}"/>
              </a:ext>
            </a:extLst>
          </p:cNvPr>
          <p:cNvSpPr/>
          <p:nvPr userDrawn="1"/>
        </p:nvSpPr>
        <p:spPr>
          <a:xfrm>
            <a:off x="6578636" y="1440750"/>
            <a:ext cx="1116000" cy="792000"/>
          </a:xfrm>
          <a:prstGeom prst="round2SameRect">
            <a:avLst>
              <a:gd name="adj1" fmla="val 9752"/>
              <a:gd name="adj2" fmla="val 0"/>
            </a:avLst>
          </a:prstGeom>
          <a:solidFill>
            <a:srgbClr val="E4D2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14" name="양쪽 모서리가 둥근 사각형 41">
            <a:extLst>
              <a:ext uri="{FF2B5EF4-FFF2-40B4-BE49-F238E27FC236}">
                <a16:creationId xmlns:a16="http://schemas.microsoft.com/office/drawing/2014/main" id="{C139003A-8EB5-A2D4-142B-EC8EA614E91C}"/>
              </a:ext>
            </a:extLst>
          </p:cNvPr>
          <p:cNvSpPr/>
          <p:nvPr userDrawn="1"/>
        </p:nvSpPr>
        <p:spPr>
          <a:xfrm>
            <a:off x="6578660" y="2232750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Beige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Pantone 4246C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C10 M15 Y25 K0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R228 G210 B188 #E4D28C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5" name="양쪽 모서리가 둥근 사각형 42">
            <a:extLst>
              <a:ext uri="{FF2B5EF4-FFF2-40B4-BE49-F238E27FC236}">
                <a16:creationId xmlns:a16="http://schemas.microsoft.com/office/drawing/2014/main" id="{0ABD2682-9135-8335-6628-4896A042011E}"/>
              </a:ext>
            </a:extLst>
          </p:cNvPr>
          <p:cNvSpPr/>
          <p:nvPr userDrawn="1"/>
        </p:nvSpPr>
        <p:spPr>
          <a:xfrm>
            <a:off x="7785814" y="1440750"/>
            <a:ext cx="1116000" cy="792000"/>
          </a:xfrm>
          <a:prstGeom prst="round2SameRect">
            <a:avLst>
              <a:gd name="adj1" fmla="val 9752"/>
              <a:gd name="adj2" fmla="val 0"/>
            </a:avLst>
          </a:prstGeom>
          <a:solidFill>
            <a:srgbClr val="A7D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16" name="양쪽 모서리가 둥근 사각형 43">
            <a:extLst>
              <a:ext uri="{FF2B5EF4-FFF2-40B4-BE49-F238E27FC236}">
                <a16:creationId xmlns:a16="http://schemas.microsoft.com/office/drawing/2014/main" id="{8B7C2ADA-EE48-9779-8D73-DFC91290D02D}"/>
              </a:ext>
            </a:extLst>
          </p:cNvPr>
          <p:cNvSpPr/>
          <p:nvPr userDrawn="1"/>
        </p:nvSpPr>
        <p:spPr>
          <a:xfrm>
            <a:off x="7785838" y="2232750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Light Green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Pantone 345C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C35 M0 Y35 K0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R167 G216 B183 #A7D8B7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FAF0AF3-F727-87EA-331F-6D7A785953F3}"/>
              </a:ext>
            </a:extLst>
          </p:cNvPr>
          <p:cNvSpPr/>
          <p:nvPr userDrawn="1"/>
        </p:nvSpPr>
        <p:spPr>
          <a:xfrm>
            <a:off x="294214" y="1152659"/>
            <a:ext cx="1116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>
                <a:solidFill>
                  <a:schemeClr val="tx1"/>
                </a:solidFill>
                <a:latin typeface="+mn-ea"/>
              </a:rPr>
              <a:t>Main Color</a:t>
            </a:r>
            <a:endParaRPr lang="ko-KR" altLang="en-US" sz="8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E6A13A8-C0EA-A8EE-8DBA-860139B17B3E}"/>
              </a:ext>
            </a:extLst>
          </p:cNvPr>
          <p:cNvSpPr/>
          <p:nvPr userDrawn="1"/>
        </p:nvSpPr>
        <p:spPr>
          <a:xfrm>
            <a:off x="2834825" y="1152659"/>
            <a:ext cx="1116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>
                <a:solidFill>
                  <a:schemeClr val="tx1"/>
                </a:solidFill>
                <a:latin typeface="+mn-ea"/>
              </a:rPr>
              <a:t>Sub Color</a:t>
            </a:r>
            <a:endParaRPr lang="ko-KR" altLang="en-US" sz="8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AE2570-4B98-D9AA-5DFB-38C2184ECB6F}"/>
              </a:ext>
            </a:extLst>
          </p:cNvPr>
          <p:cNvSpPr/>
          <p:nvPr userDrawn="1"/>
        </p:nvSpPr>
        <p:spPr>
          <a:xfrm>
            <a:off x="5371458" y="1152659"/>
            <a:ext cx="1116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>
                <a:solidFill>
                  <a:schemeClr val="tx1"/>
                </a:solidFill>
                <a:latin typeface="+mn-ea"/>
              </a:rPr>
              <a:t>Point Color</a:t>
            </a:r>
            <a:endParaRPr lang="ko-KR" altLang="en-US" sz="8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양쪽 모서리가 둥근 사각형 62">
            <a:extLst>
              <a:ext uri="{FF2B5EF4-FFF2-40B4-BE49-F238E27FC236}">
                <a16:creationId xmlns:a16="http://schemas.microsoft.com/office/drawing/2014/main" id="{245030AD-BB88-C3C4-8DD7-DD23E7732A52}"/>
              </a:ext>
            </a:extLst>
          </p:cNvPr>
          <p:cNvSpPr/>
          <p:nvPr userDrawn="1"/>
        </p:nvSpPr>
        <p:spPr>
          <a:xfrm>
            <a:off x="294239" y="3959740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Digital Green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R183 G250 B120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#87FA78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1" name="양쪽 모서리가 둥근 사각형 63">
            <a:extLst>
              <a:ext uri="{FF2B5EF4-FFF2-40B4-BE49-F238E27FC236}">
                <a16:creationId xmlns:a16="http://schemas.microsoft.com/office/drawing/2014/main" id="{D2D85D8F-6C5A-297F-D70B-9A29127F6BB9}"/>
              </a:ext>
            </a:extLst>
          </p:cNvPr>
          <p:cNvSpPr/>
          <p:nvPr userDrawn="1"/>
        </p:nvSpPr>
        <p:spPr>
          <a:xfrm>
            <a:off x="1499149" y="3959740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Digital Pink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R232 G100 B193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#E864C1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2" name="양쪽 모서리가 둥근 사각형 64">
            <a:extLst>
              <a:ext uri="{FF2B5EF4-FFF2-40B4-BE49-F238E27FC236}">
                <a16:creationId xmlns:a16="http://schemas.microsoft.com/office/drawing/2014/main" id="{E0F14910-B251-342A-2102-CDFF8B65C03A}"/>
              </a:ext>
            </a:extLst>
          </p:cNvPr>
          <p:cNvSpPr/>
          <p:nvPr userDrawn="1"/>
        </p:nvSpPr>
        <p:spPr>
          <a:xfrm>
            <a:off x="294215" y="3167740"/>
            <a:ext cx="1116000" cy="792000"/>
          </a:xfrm>
          <a:prstGeom prst="round2SameRect">
            <a:avLst>
              <a:gd name="adj1" fmla="val 9752"/>
              <a:gd name="adj2" fmla="val 0"/>
            </a:avLst>
          </a:prstGeom>
          <a:solidFill>
            <a:srgbClr val="B7F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23" name="양쪽 모서리가 둥근 사각형 65">
            <a:extLst>
              <a:ext uri="{FF2B5EF4-FFF2-40B4-BE49-F238E27FC236}">
                <a16:creationId xmlns:a16="http://schemas.microsoft.com/office/drawing/2014/main" id="{E7148539-F24E-9AA4-158A-40BC3F104A8A}"/>
              </a:ext>
            </a:extLst>
          </p:cNvPr>
          <p:cNvSpPr/>
          <p:nvPr userDrawn="1"/>
        </p:nvSpPr>
        <p:spPr>
          <a:xfrm>
            <a:off x="2832812" y="3959740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Digital Purple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R167 G46 B245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#A72DF5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4" name="양쪽 모서리가 둥근 사각형 66">
            <a:extLst>
              <a:ext uri="{FF2B5EF4-FFF2-40B4-BE49-F238E27FC236}">
                <a16:creationId xmlns:a16="http://schemas.microsoft.com/office/drawing/2014/main" id="{8850B786-CDB2-2DED-CC9A-5950E9F83B50}"/>
              </a:ext>
            </a:extLst>
          </p:cNvPr>
          <p:cNvSpPr/>
          <p:nvPr userDrawn="1"/>
        </p:nvSpPr>
        <p:spPr>
          <a:xfrm>
            <a:off x="1512149" y="3167740"/>
            <a:ext cx="1116000" cy="792000"/>
          </a:xfrm>
          <a:prstGeom prst="round2SameRect">
            <a:avLst>
              <a:gd name="adj1" fmla="val 9752"/>
              <a:gd name="adj2" fmla="val 0"/>
            </a:avLst>
          </a:prstGeom>
          <a:solidFill>
            <a:srgbClr val="E864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25" name="양쪽 모서리가 둥근 사각형 67">
            <a:extLst>
              <a:ext uri="{FF2B5EF4-FFF2-40B4-BE49-F238E27FC236}">
                <a16:creationId xmlns:a16="http://schemas.microsoft.com/office/drawing/2014/main" id="{2F7B68C0-FBDF-24EC-FDD7-134EC112025D}"/>
              </a:ext>
            </a:extLst>
          </p:cNvPr>
          <p:cNvSpPr/>
          <p:nvPr userDrawn="1"/>
        </p:nvSpPr>
        <p:spPr>
          <a:xfrm>
            <a:off x="4040038" y="3959740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Digital Orange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R239 G171 B60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#EFAB3C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6" name="양쪽 모서리가 둥근 사각형 68">
            <a:extLst>
              <a:ext uri="{FF2B5EF4-FFF2-40B4-BE49-F238E27FC236}">
                <a16:creationId xmlns:a16="http://schemas.microsoft.com/office/drawing/2014/main" id="{EB562D15-3F23-BC96-9CC6-1B85A16C3BD0}"/>
              </a:ext>
            </a:extLst>
          </p:cNvPr>
          <p:cNvSpPr/>
          <p:nvPr userDrawn="1"/>
        </p:nvSpPr>
        <p:spPr>
          <a:xfrm>
            <a:off x="2832764" y="3167740"/>
            <a:ext cx="1116000" cy="792000"/>
          </a:xfrm>
          <a:prstGeom prst="round2SameRect">
            <a:avLst>
              <a:gd name="adj1" fmla="val 9752"/>
              <a:gd name="adj2" fmla="val 0"/>
            </a:avLst>
          </a:prstGeom>
          <a:solidFill>
            <a:srgbClr val="A72E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27" name="양쪽 모서리가 둥근 사각형 69">
            <a:extLst>
              <a:ext uri="{FF2B5EF4-FFF2-40B4-BE49-F238E27FC236}">
                <a16:creationId xmlns:a16="http://schemas.microsoft.com/office/drawing/2014/main" id="{D5C75128-ABFF-A1C4-33C4-3EA60946D349}"/>
              </a:ext>
            </a:extLst>
          </p:cNvPr>
          <p:cNvSpPr/>
          <p:nvPr userDrawn="1"/>
        </p:nvSpPr>
        <p:spPr>
          <a:xfrm>
            <a:off x="5371458" y="3959740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Gold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Pantone 871C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C0 M11 Y41 K48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R132 G117 B78 #84754E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8" name="양쪽 모서리가 둥근 사각형 70">
            <a:extLst>
              <a:ext uri="{FF2B5EF4-FFF2-40B4-BE49-F238E27FC236}">
                <a16:creationId xmlns:a16="http://schemas.microsoft.com/office/drawing/2014/main" id="{D8505B93-A8D0-E917-0DD6-4D7899AEC395}"/>
              </a:ext>
            </a:extLst>
          </p:cNvPr>
          <p:cNvSpPr/>
          <p:nvPr userDrawn="1"/>
        </p:nvSpPr>
        <p:spPr>
          <a:xfrm>
            <a:off x="4040014" y="3167740"/>
            <a:ext cx="1116000" cy="792000"/>
          </a:xfrm>
          <a:prstGeom prst="round2SameRect">
            <a:avLst>
              <a:gd name="adj1" fmla="val 9752"/>
              <a:gd name="adj2" fmla="val 0"/>
            </a:avLst>
          </a:prstGeom>
          <a:solidFill>
            <a:srgbClr val="EFAB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29" name="양쪽 모서리가 둥근 사각형 71">
            <a:extLst>
              <a:ext uri="{FF2B5EF4-FFF2-40B4-BE49-F238E27FC236}">
                <a16:creationId xmlns:a16="http://schemas.microsoft.com/office/drawing/2014/main" id="{1004DB9B-D24C-8249-999D-491A94549A2D}"/>
              </a:ext>
            </a:extLst>
          </p:cNvPr>
          <p:cNvSpPr/>
          <p:nvPr userDrawn="1"/>
        </p:nvSpPr>
        <p:spPr>
          <a:xfrm>
            <a:off x="6578660" y="3959740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Light Gold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Pantone 8003C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C0 M9 Y19 K46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R138 G126 B112 #8A7E70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9831726-3934-B94A-5D76-6929540F559D}"/>
              </a:ext>
            </a:extLst>
          </p:cNvPr>
          <p:cNvSpPr/>
          <p:nvPr userDrawn="1"/>
        </p:nvSpPr>
        <p:spPr>
          <a:xfrm>
            <a:off x="294214" y="2879740"/>
            <a:ext cx="2377951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>
                <a:solidFill>
                  <a:schemeClr val="tx1"/>
                </a:solidFill>
                <a:latin typeface="+mn-ea"/>
              </a:rPr>
              <a:t>Digital Color (RGB Only)</a:t>
            </a:r>
            <a:endParaRPr lang="ko-KR" altLang="en-US" sz="8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4080252-6293-C3DE-A626-277E7EBBB5F4}"/>
              </a:ext>
            </a:extLst>
          </p:cNvPr>
          <p:cNvSpPr/>
          <p:nvPr userDrawn="1"/>
        </p:nvSpPr>
        <p:spPr>
          <a:xfrm>
            <a:off x="5371458" y="2879740"/>
            <a:ext cx="237797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>
                <a:solidFill>
                  <a:schemeClr val="tx1"/>
                </a:solidFill>
                <a:latin typeface="+mn-ea"/>
              </a:rPr>
              <a:t>Special Color (Metallic)</a:t>
            </a:r>
            <a:endParaRPr lang="ko-KR" altLang="en-US" sz="8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양쪽 모서리가 둥근 사각형 74">
            <a:extLst>
              <a:ext uri="{FF2B5EF4-FFF2-40B4-BE49-F238E27FC236}">
                <a16:creationId xmlns:a16="http://schemas.microsoft.com/office/drawing/2014/main" id="{657136B6-2AA1-0B15-784D-FA09D92ADDE9}"/>
              </a:ext>
            </a:extLst>
          </p:cNvPr>
          <p:cNvSpPr/>
          <p:nvPr userDrawn="1"/>
        </p:nvSpPr>
        <p:spPr>
          <a:xfrm>
            <a:off x="5371458" y="3167740"/>
            <a:ext cx="1116000" cy="792000"/>
          </a:xfrm>
          <a:prstGeom prst="round2SameRect">
            <a:avLst>
              <a:gd name="adj1" fmla="val 9752"/>
              <a:gd name="adj2" fmla="val 0"/>
            </a:avLst>
          </a:prstGeom>
          <a:solidFill>
            <a:srgbClr val="8475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33" name="양쪽 모서리가 둥근 사각형 75">
            <a:extLst>
              <a:ext uri="{FF2B5EF4-FFF2-40B4-BE49-F238E27FC236}">
                <a16:creationId xmlns:a16="http://schemas.microsoft.com/office/drawing/2014/main" id="{BBBE1030-9EEE-D0D1-ADC4-BDF490373E6C}"/>
              </a:ext>
            </a:extLst>
          </p:cNvPr>
          <p:cNvSpPr/>
          <p:nvPr userDrawn="1"/>
        </p:nvSpPr>
        <p:spPr>
          <a:xfrm>
            <a:off x="6578660" y="3167740"/>
            <a:ext cx="1116000" cy="792000"/>
          </a:xfrm>
          <a:prstGeom prst="round2SameRect">
            <a:avLst>
              <a:gd name="adj1" fmla="val 9752"/>
              <a:gd name="adj2" fmla="val 0"/>
            </a:avLst>
          </a:prstGeom>
          <a:solidFill>
            <a:srgbClr val="8A7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34" name="양쪽 모서리가 둥근 사각형 76">
            <a:extLst>
              <a:ext uri="{FF2B5EF4-FFF2-40B4-BE49-F238E27FC236}">
                <a16:creationId xmlns:a16="http://schemas.microsoft.com/office/drawing/2014/main" id="{47921CF9-D511-3ABA-1105-ADF7CDE54D58}"/>
              </a:ext>
            </a:extLst>
          </p:cNvPr>
          <p:cNvSpPr/>
          <p:nvPr userDrawn="1"/>
        </p:nvSpPr>
        <p:spPr>
          <a:xfrm>
            <a:off x="7785814" y="3959740"/>
            <a:ext cx="1116000" cy="576000"/>
          </a:xfrm>
          <a:prstGeom prst="round2SameRect">
            <a:avLst>
              <a:gd name="adj1" fmla="val 0"/>
              <a:gd name="adj2" fmla="val 10949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>
                <a:solidFill>
                  <a:schemeClr val="tx1"/>
                </a:solidFill>
                <a:latin typeface="+mn-ea"/>
              </a:rPr>
              <a:t>Hana Silver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Pantone 877C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C3 M1 Y0 K44</a:t>
            </a:r>
          </a:p>
          <a:p>
            <a:r>
              <a:rPr lang="en-US" altLang="ko-KR" sz="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R138 G141 B143 #8A8D8F</a:t>
            </a:r>
            <a:endParaRPr lang="ko-KR" altLang="en-US" sz="6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5" name="양쪽 모서리가 둥근 사각형 77">
            <a:extLst>
              <a:ext uri="{FF2B5EF4-FFF2-40B4-BE49-F238E27FC236}">
                <a16:creationId xmlns:a16="http://schemas.microsoft.com/office/drawing/2014/main" id="{F8BF19A5-8EBE-A3B6-2075-74AAC634A44A}"/>
              </a:ext>
            </a:extLst>
          </p:cNvPr>
          <p:cNvSpPr/>
          <p:nvPr userDrawn="1"/>
        </p:nvSpPr>
        <p:spPr>
          <a:xfrm>
            <a:off x="7785814" y="3167740"/>
            <a:ext cx="1116000" cy="792000"/>
          </a:xfrm>
          <a:prstGeom prst="round2SameRect">
            <a:avLst>
              <a:gd name="adj1" fmla="val 9752"/>
              <a:gd name="adj2" fmla="val 0"/>
            </a:avLst>
          </a:prstGeom>
          <a:solidFill>
            <a:srgbClr val="8A8D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3C44ED8-817C-8DDB-38B4-D988AE16FADD}"/>
              </a:ext>
            </a:extLst>
          </p:cNvPr>
          <p:cNvSpPr/>
          <p:nvPr userDrawn="1"/>
        </p:nvSpPr>
        <p:spPr>
          <a:xfrm>
            <a:off x="294214" y="4832237"/>
            <a:ext cx="8607600" cy="118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7" name="양쪽 모서리가 둥근 사각형 85">
            <a:extLst>
              <a:ext uri="{FF2B5EF4-FFF2-40B4-BE49-F238E27FC236}">
                <a16:creationId xmlns:a16="http://schemas.microsoft.com/office/drawing/2014/main" id="{F029692D-849F-D22C-E4A8-EF934D5A557F}"/>
              </a:ext>
            </a:extLst>
          </p:cNvPr>
          <p:cNvSpPr/>
          <p:nvPr userDrawn="1"/>
        </p:nvSpPr>
        <p:spPr>
          <a:xfrm>
            <a:off x="581564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0091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38" name="양쪽 모서리가 둥근 사각형 86">
            <a:extLst>
              <a:ext uri="{FF2B5EF4-FFF2-40B4-BE49-F238E27FC236}">
                <a16:creationId xmlns:a16="http://schemas.microsoft.com/office/drawing/2014/main" id="{9F02B905-6194-C28F-C1DA-4459910646AD}"/>
              </a:ext>
            </a:extLst>
          </p:cNvPr>
          <p:cNvSpPr/>
          <p:nvPr userDrawn="1"/>
        </p:nvSpPr>
        <p:spPr>
          <a:xfrm>
            <a:off x="1166199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DC2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39" name="양쪽 모서리가 둥근 사각형 87">
            <a:extLst>
              <a:ext uri="{FF2B5EF4-FFF2-40B4-BE49-F238E27FC236}">
                <a16:creationId xmlns:a16="http://schemas.microsoft.com/office/drawing/2014/main" id="{3B65E3A0-3257-A3F9-946A-6E287075BA63}"/>
              </a:ext>
            </a:extLst>
          </p:cNvPr>
          <p:cNvSpPr/>
          <p:nvPr userDrawn="1"/>
        </p:nvSpPr>
        <p:spPr>
          <a:xfrm>
            <a:off x="1750834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004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40" name="양쪽 모서리가 둥근 사각형 88">
            <a:extLst>
              <a:ext uri="{FF2B5EF4-FFF2-40B4-BE49-F238E27FC236}">
                <a16:creationId xmlns:a16="http://schemas.microsoft.com/office/drawing/2014/main" id="{5E87C9F4-0E3B-E26D-4C89-5DE6BA3CD015}"/>
              </a:ext>
            </a:extLst>
          </p:cNvPr>
          <p:cNvSpPr/>
          <p:nvPr userDrawn="1"/>
        </p:nvSpPr>
        <p:spPr>
          <a:xfrm>
            <a:off x="2335469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D7E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41" name="양쪽 모서리가 둥근 사각형 89">
            <a:extLst>
              <a:ext uri="{FF2B5EF4-FFF2-40B4-BE49-F238E27FC236}">
                <a16:creationId xmlns:a16="http://schemas.microsoft.com/office/drawing/2014/main" id="{6F2DC2A7-8675-007E-4158-807ABC2EC872}"/>
              </a:ext>
            </a:extLst>
          </p:cNvPr>
          <p:cNvSpPr/>
          <p:nvPr userDrawn="1"/>
        </p:nvSpPr>
        <p:spPr>
          <a:xfrm>
            <a:off x="2920104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CEDC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42" name="양쪽 모서리가 둥근 사각형 90">
            <a:extLst>
              <a:ext uri="{FF2B5EF4-FFF2-40B4-BE49-F238E27FC236}">
                <a16:creationId xmlns:a16="http://schemas.microsoft.com/office/drawing/2014/main" id="{489CB4B4-89E8-2C2B-9AE8-01E2A76A5D03}"/>
              </a:ext>
            </a:extLst>
          </p:cNvPr>
          <p:cNvSpPr/>
          <p:nvPr userDrawn="1"/>
        </p:nvSpPr>
        <p:spPr>
          <a:xfrm>
            <a:off x="3504739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E4D2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43" name="양쪽 모서리가 둥근 사각형 91">
            <a:extLst>
              <a:ext uri="{FF2B5EF4-FFF2-40B4-BE49-F238E27FC236}">
                <a16:creationId xmlns:a16="http://schemas.microsoft.com/office/drawing/2014/main" id="{640DCDD0-61BD-D8A5-F0E5-59CD5BC1CFCA}"/>
              </a:ext>
            </a:extLst>
          </p:cNvPr>
          <p:cNvSpPr/>
          <p:nvPr userDrawn="1"/>
        </p:nvSpPr>
        <p:spPr>
          <a:xfrm>
            <a:off x="4089374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A7D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44" name="양쪽 모서리가 둥근 사각형 92">
            <a:extLst>
              <a:ext uri="{FF2B5EF4-FFF2-40B4-BE49-F238E27FC236}">
                <a16:creationId xmlns:a16="http://schemas.microsoft.com/office/drawing/2014/main" id="{A902204C-778E-2E0B-BEB5-C74C5B20B028}"/>
              </a:ext>
            </a:extLst>
          </p:cNvPr>
          <p:cNvSpPr/>
          <p:nvPr userDrawn="1"/>
        </p:nvSpPr>
        <p:spPr>
          <a:xfrm>
            <a:off x="4674009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B7F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45" name="양쪽 모서리가 둥근 사각형 93">
            <a:extLst>
              <a:ext uri="{FF2B5EF4-FFF2-40B4-BE49-F238E27FC236}">
                <a16:creationId xmlns:a16="http://schemas.microsoft.com/office/drawing/2014/main" id="{21C7593C-BC0D-D98C-419A-5F47C90CE52D}"/>
              </a:ext>
            </a:extLst>
          </p:cNvPr>
          <p:cNvSpPr/>
          <p:nvPr userDrawn="1"/>
        </p:nvSpPr>
        <p:spPr>
          <a:xfrm>
            <a:off x="5258644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E864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46" name="양쪽 모서리가 둥근 사각형 94">
            <a:extLst>
              <a:ext uri="{FF2B5EF4-FFF2-40B4-BE49-F238E27FC236}">
                <a16:creationId xmlns:a16="http://schemas.microsoft.com/office/drawing/2014/main" id="{C5749E40-FBC5-0992-6C00-FBFADE14355F}"/>
              </a:ext>
            </a:extLst>
          </p:cNvPr>
          <p:cNvSpPr/>
          <p:nvPr userDrawn="1"/>
        </p:nvSpPr>
        <p:spPr>
          <a:xfrm>
            <a:off x="5843279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A72E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47" name="양쪽 모서리가 둥근 사각형 95">
            <a:extLst>
              <a:ext uri="{FF2B5EF4-FFF2-40B4-BE49-F238E27FC236}">
                <a16:creationId xmlns:a16="http://schemas.microsoft.com/office/drawing/2014/main" id="{160CB5CB-086B-6EB6-21D3-D4E06F773944}"/>
              </a:ext>
            </a:extLst>
          </p:cNvPr>
          <p:cNvSpPr/>
          <p:nvPr userDrawn="1"/>
        </p:nvSpPr>
        <p:spPr>
          <a:xfrm>
            <a:off x="6427914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EFAB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48" name="양쪽 모서리가 둥근 사각형 96">
            <a:extLst>
              <a:ext uri="{FF2B5EF4-FFF2-40B4-BE49-F238E27FC236}">
                <a16:creationId xmlns:a16="http://schemas.microsoft.com/office/drawing/2014/main" id="{BD547B32-325F-CCE0-3252-50A287EBC319}"/>
              </a:ext>
            </a:extLst>
          </p:cNvPr>
          <p:cNvSpPr/>
          <p:nvPr userDrawn="1"/>
        </p:nvSpPr>
        <p:spPr>
          <a:xfrm>
            <a:off x="7012549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8475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49" name="양쪽 모서리가 둥근 사각형 97">
            <a:extLst>
              <a:ext uri="{FF2B5EF4-FFF2-40B4-BE49-F238E27FC236}">
                <a16:creationId xmlns:a16="http://schemas.microsoft.com/office/drawing/2014/main" id="{339F5DD8-4BDA-DA23-E87B-01A6B1DA23C6}"/>
              </a:ext>
            </a:extLst>
          </p:cNvPr>
          <p:cNvSpPr/>
          <p:nvPr userDrawn="1"/>
        </p:nvSpPr>
        <p:spPr>
          <a:xfrm>
            <a:off x="7597184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8A7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50" name="양쪽 모서리가 둥근 사각형 98">
            <a:extLst>
              <a:ext uri="{FF2B5EF4-FFF2-40B4-BE49-F238E27FC236}">
                <a16:creationId xmlns:a16="http://schemas.microsoft.com/office/drawing/2014/main" id="{6D55FB73-E845-C111-C3A7-C74FC55D03C6}"/>
              </a:ext>
            </a:extLst>
          </p:cNvPr>
          <p:cNvSpPr/>
          <p:nvPr userDrawn="1"/>
        </p:nvSpPr>
        <p:spPr>
          <a:xfrm>
            <a:off x="8181814" y="5030237"/>
            <a:ext cx="468000" cy="468000"/>
          </a:xfrm>
          <a:prstGeom prst="round2SameRect">
            <a:avLst>
              <a:gd name="adj1" fmla="val 14431"/>
              <a:gd name="adj2" fmla="val 0"/>
            </a:avLst>
          </a:prstGeom>
          <a:solidFill>
            <a:srgbClr val="8A8D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900">
              <a:latin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38004E0-15F6-803F-C57A-E0E816877660}"/>
              </a:ext>
            </a:extLst>
          </p:cNvPr>
          <p:cNvSpPr/>
          <p:nvPr userDrawn="1"/>
        </p:nvSpPr>
        <p:spPr>
          <a:xfrm>
            <a:off x="294214" y="4543725"/>
            <a:ext cx="2377951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>
                <a:solidFill>
                  <a:schemeClr val="tx1"/>
                </a:solidFill>
                <a:latin typeface="+mn-ea"/>
              </a:rPr>
              <a:t>Dark Background</a:t>
            </a:r>
            <a:endParaRPr lang="ko-KR" altLang="en-US" sz="8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양쪽 모서리가 둥근 사각형 115">
            <a:extLst>
              <a:ext uri="{FF2B5EF4-FFF2-40B4-BE49-F238E27FC236}">
                <a16:creationId xmlns:a16="http://schemas.microsoft.com/office/drawing/2014/main" id="{11C6DA27-FF1F-7114-274F-AF432D26D90C}"/>
              </a:ext>
            </a:extLst>
          </p:cNvPr>
          <p:cNvSpPr/>
          <p:nvPr userDrawn="1"/>
        </p:nvSpPr>
        <p:spPr>
          <a:xfrm>
            <a:off x="581564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Main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양쪽 모서리가 둥근 사각형 116">
            <a:extLst>
              <a:ext uri="{FF2B5EF4-FFF2-40B4-BE49-F238E27FC236}">
                <a16:creationId xmlns:a16="http://schemas.microsoft.com/office/drawing/2014/main" id="{2C5A518D-5291-5419-1D3D-4CC1DCC8104C}"/>
              </a:ext>
            </a:extLst>
          </p:cNvPr>
          <p:cNvSpPr/>
          <p:nvPr userDrawn="1"/>
        </p:nvSpPr>
        <p:spPr>
          <a:xfrm>
            <a:off x="1166199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Main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양쪽 모서리가 둥근 사각형 117">
            <a:extLst>
              <a:ext uri="{FF2B5EF4-FFF2-40B4-BE49-F238E27FC236}">
                <a16:creationId xmlns:a16="http://schemas.microsoft.com/office/drawing/2014/main" id="{4AF0388A-7DAA-23E3-7655-7F8BF5312AE3}"/>
              </a:ext>
            </a:extLst>
          </p:cNvPr>
          <p:cNvSpPr/>
          <p:nvPr userDrawn="1"/>
        </p:nvSpPr>
        <p:spPr>
          <a:xfrm>
            <a:off x="1749115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Sub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양쪽 모서리가 둥근 사각형 118">
            <a:extLst>
              <a:ext uri="{FF2B5EF4-FFF2-40B4-BE49-F238E27FC236}">
                <a16:creationId xmlns:a16="http://schemas.microsoft.com/office/drawing/2014/main" id="{E5206047-3044-95EE-2D59-FF36A2BCE7DA}"/>
              </a:ext>
            </a:extLst>
          </p:cNvPr>
          <p:cNvSpPr/>
          <p:nvPr userDrawn="1"/>
        </p:nvSpPr>
        <p:spPr>
          <a:xfrm>
            <a:off x="2335469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Sub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양쪽 모서리가 둥근 사각형 119">
            <a:extLst>
              <a:ext uri="{FF2B5EF4-FFF2-40B4-BE49-F238E27FC236}">
                <a16:creationId xmlns:a16="http://schemas.microsoft.com/office/drawing/2014/main" id="{77AFE652-9804-F572-5768-BE8ED9895E6F}"/>
              </a:ext>
            </a:extLst>
          </p:cNvPr>
          <p:cNvSpPr/>
          <p:nvPr userDrawn="1"/>
        </p:nvSpPr>
        <p:spPr>
          <a:xfrm>
            <a:off x="2918385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Point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양쪽 모서리가 둥근 사각형 120">
            <a:extLst>
              <a:ext uri="{FF2B5EF4-FFF2-40B4-BE49-F238E27FC236}">
                <a16:creationId xmlns:a16="http://schemas.microsoft.com/office/drawing/2014/main" id="{468DD8CD-774D-3557-FAF3-F54F81FBEFDD}"/>
              </a:ext>
            </a:extLst>
          </p:cNvPr>
          <p:cNvSpPr/>
          <p:nvPr userDrawn="1"/>
        </p:nvSpPr>
        <p:spPr>
          <a:xfrm>
            <a:off x="3504739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Point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양쪽 모서리가 둥근 사각형 121">
            <a:extLst>
              <a:ext uri="{FF2B5EF4-FFF2-40B4-BE49-F238E27FC236}">
                <a16:creationId xmlns:a16="http://schemas.microsoft.com/office/drawing/2014/main" id="{5BF6ADDD-4FAC-FDBB-0DA4-8F7C72269E86}"/>
              </a:ext>
            </a:extLst>
          </p:cNvPr>
          <p:cNvSpPr/>
          <p:nvPr userDrawn="1"/>
        </p:nvSpPr>
        <p:spPr>
          <a:xfrm>
            <a:off x="4087652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Point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양쪽 모서리가 둥근 사각형 122">
            <a:extLst>
              <a:ext uri="{FF2B5EF4-FFF2-40B4-BE49-F238E27FC236}">
                <a16:creationId xmlns:a16="http://schemas.microsoft.com/office/drawing/2014/main" id="{39DAE1A3-C1C0-61C4-206B-515861EF1C1B}"/>
              </a:ext>
            </a:extLst>
          </p:cNvPr>
          <p:cNvSpPr/>
          <p:nvPr userDrawn="1"/>
        </p:nvSpPr>
        <p:spPr>
          <a:xfrm>
            <a:off x="4670565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Digital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양쪽 모서리가 둥근 사각형 123">
            <a:extLst>
              <a:ext uri="{FF2B5EF4-FFF2-40B4-BE49-F238E27FC236}">
                <a16:creationId xmlns:a16="http://schemas.microsoft.com/office/drawing/2014/main" id="{FF1E5273-0A5E-9212-5941-D9B2C81F4ED5}"/>
              </a:ext>
            </a:extLst>
          </p:cNvPr>
          <p:cNvSpPr/>
          <p:nvPr userDrawn="1"/>
        </p:nvSpPr>
        <p:spPr>
          <a:xfrm>
            <a:off x="5258644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Digital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양쪽 모서리가 둥근 사각형 124">
            <a:extLst>
              <a:ext uri="{FF2B5EF4-FFF2-40B4-BE49-F238E27FC236}">
                <a16:creationId xmlns:a16="http://schemas.microsoft.com/office/drawing/2014/main" id="{855AC2BE-3EA1-A4F5-5833-A7A137DFC44E}"/>
              </a:ext>
            </a:extLst>
          </p:cNvPr>
          <p:cNvSpPr/>
          <p:nvPr userDrawn="1"/>
        </p:nvSpPr>
        <p:spPr>
          <a:xfrm>
            <a:off x="5839835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Digital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양쪽 모서리가 둥근 사각형 125">
            <a:extLst>
              <a:ext uri="{FF2B5EF4-FFF2-40B4-BE49-F238E27FC236}">
                <a16:creationId xmlns:a16="http://schemas.microsoft.com/office/drawing/2014/main" id="{CF9E8A52-4BCA-D575-B2C7-930FD884D378}"/>
              </a:ext>
            </a:extLst>
          </p:cNvPr>
          <p:cNvSpPr/>
          <p:nvPr userDrawn="1"/>
        </p:nvSpPr>
        <p:spPr>
          <a:xfrm>
            <a:off x="6427914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Digital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양쪽 모서리가 둥근 사각형 126">
            <a:extLst>
              <a:ext uri="{FF2B5EF4-FFF2-40B4-BE49-F238E27FC236}">
                <a16:creationId xmlns:a16="http://schemas.microsoft.com/office/drawing/2014/main" id="{98EFF025-9A75-7A93-ACB0-9B9D4DEB40B5}"/>
              </a:ext>
            </a:extLst>
          </p:cNvPr>
          <p:cNvSpPr/>
          <p:nvPr userDrawn="1"/>
        </p:nvSpPr>
        <p:spPr>
          <a:xfrm>
            <a:off x="7012544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Special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양쪽 모서리가 둥근 사각형 127">
            <a:extLst>
              <a:ext uri="{FF2B5EF4-FFF2-40B4-BE49-F238E27FC236}">
                <a16:creationId xmlns:a16="http://schemas.microsoft.com/office/drawing/2014/main" id="{CA4782B3-2D0B-E652-C944-0892AA9FCFAB}"/>
              </a:ext>
            </a:extLst>
          </p:cNvPr>
          <p:cNvSpPr/>
          <p:nvPr userDrawn="1"/>
        </p:nvSpPr>
        <p:spPr>
          <a:xfrm>
            <a:off x="7597184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Special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양쪽 모서리가 둥근 사각형 128">
            <a:extLst>
              <a:ext uri="{FF2B5EF4-FFF2-40B4-BE49-F238E27FC236}">
                <a16:creationId xmlns:a16="http://schemas.microsoft.com/office/drawing/2014/main" id="{D8105268-BE2F-D52B-1081-AB19F44268CF}"/>
              </a:ext>
            </a:extLst>
          </p:cNvPr>
          <p:cNvSpPr/>
          <p:nvPr userDrawn="1"/>
        </p:nvSpPr>
        <p:spPr>
          <a:xfrm>
            <a:off x="8181814" y="5498237"/>
            <a:ext cx="468000" cy="324000"/>
          </a:xfrm>
          <a:prstGeom prst="round2SameRect">
            <a:avLst>
              <a:gd name="adj1" fmla="val 0"/>
              <a:gd name="adj2" fmla="val 23324"/>
            </a:avLst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>
                <a:solidFill>
                  <a:schemeClr val="tx1"/>
                </a:solidFill>
                <a:latin typeface="+mn-ea"/>
              </a:rPr>
              <a:t>Special</a:t>
            </a:r>
            <a:endParaRPr lang="ko-KR" altLang="en-US" sz="60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282708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E68F74-A6B9-E52B-7F46-908704CE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B470D0-77DF-3637-6D71-D5F986B28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C5EDBE-6B02-6C58-FAC8-7C3D5BCE67CA}"/>
              </a:ext>
            </a:extLst>
          </p:cNvPr>
          <p:cNvSpPr/>
          <p:nvPr userDrawn="1"/>
        </p:nvSpPr>
        <p:spPr>
          <a:xfrm>
            <a:off x="107504" y="6492875"/>
            <a:ext cx="936104" cy="248493"/>
          </a:xfrm>
          <a:prstGeom prst="rect">
            <a:avLst/>
          </a:prstGeom>
          <a:solidFill>
            <a:srgbClr val="0091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464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</p:sldLayoutIdLst>
  <p:transition/>
  <p:hf hdr="0" ftr="0" dt="0"/>
  <p:txStyles>
    <p:titleStyle>
      <a:lvl1pPr algn="l" defTabSz="844083" rtl="0" eaLnBrk="1" latinLnBrk="1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21" indent="-211021" algn="l" defTabSz="844083" rtl="0" eaLnBrk="1" latinLnBrk="1" hangingPunct="1">
        <a:lnSpc>
          <a:spcPct val="90000"/>
        </a:lnSpc>
        <a:spcBef>
          <a:spcPts val="923"/>
        </a:spcBef>
        <a:buFont typeface="Arial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062" indent="-211021" algn="l" defTabSz="844083" rtl="0" eaLnBrk="1" latinLnBrk="1" hangingPunct="1">
        <a:lnSpc>
          <a:spcPct val="90000"/>
        </a:lnSpc>
        <a:spcBef>
          <a:spcPts val="462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1" hangingPunct="1">
        <a:lnSpc>
          <a:spcPct val="90000"/>
        </a:lnSpc>
        <a:spcBef>
          <a:spcPts val="462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1" hangingPunct="1">
        <a:lnSpc>
          <a:spcPct val="90000"/>
        </a:lnSpc>
        <a:spcBef>
          <a:spcPts val="462"/>
        </a:spcBef>
        <a:buFont typeface="Arial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1" hangingPunct="1">
        <a:lnSpc>
          <a:spcPct val="90000"/>
        </a:lnSpc>
        <a:spcBef>
          <a:spcPts val="462"/>
        </a:spcBef>
        <a:buFont typeface="Arial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lnSpc>
          <a:spcPct val="90000"/>
        </a:lnSpc>
        <a:spcBef>
          <a:spcPts val="462"/>
        </a:spcBef>
        <a:buFont typeface="Arial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lnSpc>
          <a:spcPct val="90000"/>
        </a:lnSpc>
        <a:spcBef>
          <a:spcPts val="462"/>
        </a:spcBef>
        <a:buFont typeface="Arial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lnSpc>
          <a:spcPct val="90000"/>
        </a:lnSpc>
        <a:spcBef>
          <a:spcPts val="462"/>
        </a:spcBef>
        <a:buFont typeface="Arial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lnSpc>
          <a:spcPct val="90000"/>
        </a:lnSpc>
        <a:spcBef>
          <a:spcPts val="462"/>
        </a:spcBef>
        <a:buFont typeface="Arial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F0A2F-819A-2893-7842-20BEC62EF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1941664-04E4-1E34-9E4F-968FA866D816}"/>
              </a:ext>
            </a:extLst>
          </p:cNvPr>
          <p:cNvSpPr txBox="1"/>
          <p:nvPr/>
        </p:nvSpPr>
        <p:spPr>
          <a:xfrm>
            <a:off x="415452" y="686168"/>
            <a:ext cx="4156549" cy="1566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4789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문제</a:t>
            </a:r>
            <a:r>
              <a:rPr kumimoji="1" lang="en-US" altLang="ko-KR" sz="4789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/</a:t>
            </a:r>
            <a:r>
              <a:rPr kumimoji="1" lang="ko-KR" altLang="en-US" sz="4789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니즈 정의 </a:t>
            </a:r>
            <a:endParaRPr kumimoji="1" lang="en-US" altLang="ko-KR" sz="4789" dirty="0">
              <a:latin typeface="하나2.0 B" panose="020B0303000000000000" pitchFamily="50" charset="-127"/>
              <a:ea typeface="하나2.0 B" panose="020B0303000000000000" pitchFamily="50" charset="-127"/>
              <a:cs typeface="KoPubWorld돋움체 Medium" panose="00000600000000000000" pitchFamily="2" charset="-127"/>
            </a:endParaRPr>
          </a:p>
          <a:p>
            <a:r>
              <a:rPr kumimoji="1" lang="ko-KR" altLang="en-US" sz="4789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워크숍</a:t>
            </a:r>
            <a:endParaRPr kumimoji="1" lang="ko-Kore-KR" altLang="en-US" sz="4789" dirty="0">
              <a:latin typeface="하나2.0 B" panose="020B0303000000000000" pitchFamily="50" charset="-127"/>
              <a:ea typeface="하나2.0 B" panose="020B0303000000000000" pitchFamily="50" charset="-127"/>
              <a:cs typeface="KoPubWorld돋움체 Medium" panose="00000600000000000000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2674412-8D12-63DD-3DAA-577E17116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070" y="3310991"/>
            <a:ext cx="3066682" cy="306668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FC3FDFC-BBB3-736C-0F86-75F4F515A7E6}"/>
              </a:ext>
            </a:extLst>
          </p:cNvPr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0091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0454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0F64D-021C-10E7-680E-E6F00E4C5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B547A5E-F751-680D-D22E-E591062230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087EAB-12AA-439D-28F8-7150228B1F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/</a:t>
            </a:r>
            <a:r>
              <a:rPr lang="ko-KR" altLang="en-US" dirty="0"/>
              <a:t>니즈 정의 워크숍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05CC7EE9-A920-7BCD-9E71-A1F28B5202A2}"/>
              </a:ext>
            </a:extLst>
          </p:cNvPr>
          <p:cNvSpPr txBox="1">
            <a:spLocks/>
          </p:cNvSpPr>
          <p:nvPr/>
        </p:nvSpPr>
        <p:spPr>
          <a:xfrm>
            <a:off x="432001" y="636814"/>
            <a:ext cx="1835743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844083" rtl="0" eaLnBrk="1" latinLnBrk="1" hangingPunct="1">
              <a:lnSpc>
                <a:spcPct val="90000"/>
              </a:lnSpc>
              <a:spcBef>
                <a:spcPts val="923"/>
              </a:spcBef>
              <a:buFont typeface="Arial" pitchFamily="34" charset="0"/>
              <a:buNone/>
              <a:defRPr sz="2800" kern="12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  <a:cs typeface="+mn-cs"/>
              </a:defRPr>
            </a:lvl1pPr>
            <a:lvl2pPr marL="633062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103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7145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9186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2000" dirty="0"/>
              <a:t>문제</a:t>
            </a:r>
            <a:r>
              <a:rPr lang="en-US" altLang="ko-KR" sz="2000" dirty="0"/>
              <a:t>/</a:t>
            </a:r>
            <a:r>
              <a:rPr lang="ko-KR" altLang="en-US" sz="2000" dirty="0"/>
              <a:t>니즈 정의 워크숍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357CD44-2A6B-805A-C804-A74B0DEEC54C}"/>
              </a:ext>
            </a:extLst>
          </p:cNvPr>
          <p:cNvCxnSpPr>
            <a:cxnSpLocks/>
          </p:cNvCxnSpPr>
          <p:nvPr/>
        </p:nvCxnSpPr>
        <p:spPr>
          <a:xfrm flipH="1">
            <a:off x="1760765" y="3527535"/>
            <a:ext cx="4150" cy="39385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376;p27">
            <a:extLst>
              <a:ext uri="{FF2B5EF4-FFF2-40B4-BE49-F238E27FC236}">
                <a16:creationId xmlns:a16="http://schemas.microsoft.com/office/drawing/2014/main" id="{E11CE216-94E7-76D7-CBD9-54E08C5D5E24}"/>
              </a:ext>
            </a:extLst>
          </p:cNvPr>
          <p:cNvSpPr/>
          <p:nvPr/>
        </p:nvSpPr>
        <p:spPr>
          <a:xfrm>
            <a:off x="367138" y="5680667"/>
            <a:ext cx="1384837" cy="514867"/>
          </a:xfrm>
          <a:prstGeom prst="rect">
            <a:avLst/>
          </a:prstGeom>
          <a:solidFill>
            <a:srgbClr val="24222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30788" tIns="30788" rIns="30788" bIns="3078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kern="0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문제 명확화</a:t>
            </a:r>
            <a:endParaRPr sz="1400" kern="0" dirty="0">
              <a:solidFill>
                <a:srgbClr val="FF5534"/>
              </a:solidFill>
              <a:latin typeface="하나2.0 B" panose="020B0303000000000000" pitchFamily="50" charset="-127"/>
              <a:ea typeface="하나2.0 B" panose="020B0303000000000000" pitchFamily="50" charset="-127"/>
              <a:sym typeface="Arial"/>
            </a:endParaRPr>
          </a:p>
        </p:txBody>
      </p:sp>
      <p:sp>
        <p:nvSpPr>
          <p:cNvPr id="7" name="Google Shape;382;p27">
            <a:extLst>
              <a:ext uri="{FF2B5EF4-FFF2-40B4-BE49-F238E27FC236}">
                <a16:creationId xmlns:a16="http://schemas.microsoft.com/office/drawing/2014/main" id="{59511636-D588-13A9-C9C3-03463E61A3B9}"/>
              </a:ext>
            </a:extLst>
          </p:cNvPr>
          <p:cNvSpPr/>
          <p:nvPr/>
        </p:nvSpPr>
        <p:spPr>
          <a:xfrm>
            <a:off x="1751975" y="5680669"/>
            <a:ext cx="7087339" cy="514866"/>
          </a:xfrm>
          <a:prstGeom prst="rect">
            <a:avLst/>
          </a:prstGeom>
          <a:solidFill>
            <a:srgbClr val="F4F4F4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30788" tIns="29326" rIns="30788" bIns="29326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하나2.0 B" panose="020B0303000000000000" pitchFamily="50" charset="-127"/>
                <a:ea typeface="하나2.0 B" panose="020B0303000000000000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“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어떤 사람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의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,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어떤 어려움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니즈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를 해결하려고 한다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.”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 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0389C77-F516-A949-D5F5-EC297B8AC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742899"/>
              </p:ext>
            </p:extLst>
          </p:nvPr>
        </p:nvGraphicFramePr>
        <p:xfrm>
          <a:off x="370015" y="2201703"/>
          <a:ext cx="2787254" cy="1380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254">
                  <a:extLst>
                    <a:ext uri="{9D8B030D-6E8A-4147-A177-3AD203B41FA5}">
                      <a16:colId xmlns:a16="http://schemas.microsoft.com/office/drawing/2014/main" val="1163203648"/>
                    </a:ext>
                  </a:extLst>
                </a:gridCol>
              </a:tblGrid>
              <a:tr h="571054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문제</a:t>
                      </a:r>
                      <a:r>
                        <a:rPr lang="en-US" altLang="ko-KR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/</a:t>
                      </a:r>
                      <a:r>
                        <a:rPr lang="ko-KR" altLang="en-US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니즈의 원인은 무엇일까</a:t>
                      </a:r>
                      <a:r>
                        <a:rPr lang="en-US" altLang="ko-KR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?</a:t>
                      </a:r>
                      <a:endParaRPr lang="ko-KR" altLang="en-US" sz="1400" b="0" i="0" dirty="0">
                        <a:solidFill>
                          <a:schemeClr val="bg1"/>
                        </a:solidFill>
                        <a:latin typeface="하나2.0 B" panose="020B0303000000000000" pitchFamily="50" charset="-127"/>
                        <a:ea typeface="하나2.0 B" panose="020B0303000000000000" pitchFamily="50" charset="-127"/>
                      </a:endParaRP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196046"/>
                  </a:ext>
                </a:extLst>
              </a:tr>
              <a:tr h="809161">
                <a:tc>
                  <a:txBody>
                    <a:bodyPr/>
                    <a:lstStyle/>
                    <a:p>
                      <a:endParaRPr lang="en-US" altLang="ko-KR" sz="1100" dirty="0">
                        <a:latin typeface="하나2.0 CM" panose="020B0603000000000000" pitchFamily="50" charset="-127"/>
                        <a:ea typeface="하나2.0 CM" panose="020B0603000000000000" pitchFamily="50" charset="-127"/>
                      </a:endParaRPr>
                    </a:p>
                  </a:txBody>
                  <a:tcPr marL="30788" marR="30788" marT="30788" marB="3078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821438"/>
                  </a:ext>
                </a:extLst>
              </a:tr>
            </a:tbl>
          </a:graphicData>
        </a:graphic>
      </p:graphicFrame>
      <p:sp>
        <p:nvSpPr>
          <p:cNvPr id="10" name="Google Shape;376;p27">
            <a:extLst>
              <a:ext uri="{FF2B5EF4-FFF2-40B4-BE49-F238E27FC236}">
                <a16:creationId xmlns:a16="http://schemas.microsoft.com/office/drawing/2014/main" id="{DAD37D7A-AC72-F1BD-D5EE-85A70062D08F}"/>
              </a:ext>
            </a:extLst>
          </p:cNvPr>
          <p:cNvSpPr/>
          <p:nvPr/>
        </p:nvSpPr>
        <p:spPr>
          <a:xfrm>
            <a:off x="372680" y="1526101"/>
            <a:ext cx="1384837" cy="514867"/>
          </a:xfrm>
          <a:prstGeom prst="rect">
            <a:avLst/>
          </a:prstGeom>
          <a:solidFill>
            <a:srgbClr val="24222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30788" tIns="30788" rIns="30788" bIns="3078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kern="0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문제</a:t>
            </a:r>
            <a:r>
              <a:rPr lang="en-US" altLang="ko-KR" sz="1400" kern="0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/</a:t>
            </a:r>
            <a:r>
              <a:rPr lang="ko-KR" altLang="en-US" sz="1400" kern="0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니즈</a:t>
            </a:r>
            <a:endParaRPr sz="1400" kern="0" dirty="0">
              <a:solidFill>
                <a:srgbClr val="FF5534"/>
              </a:solidFill>
              <a:latin typeface="하나2.0 B" panose="020B0303000000000000" pitchFamily="50" charset="-127"/>
              <a:ea typeface="하나2.0 B" panose="020B0303000000000000" pitchFamily="50" charset="-127"/>
              <a:sym typeface="Arial"/>
            </a:endParaRPr>
          </a:p>
        </p:txBody>
      </p:sp>
      <p:sp>
        <p:nvSpPr>
          <p:cNvPr id="11" name="Google Shape;382;p27">
            <a:extLst>
              <a:ext uri="{FF2B5EF4-FFF2-40B4-BE49-F238E27FC236}">
                <a16:creationId xmlns:a16="http://schemas.microsoft.com/office/drawing/2014/main" id="{4DED0FCD-E862-6D47-33B9-CA21D810B2F9}"/>
              </a:ext>
            </a:extLst>
          </p:cNvPr>
          <p:cNvSpPr/>
          <p:nvPr/>
        </p:nvSpPr>
        <p:spPr>
          <a:xfrm>
            <a:off x="1757517" y="1526103"/>
            <a:ext cx="7052922" cy="514866"/>
          </a:xfrm>
          <a:prstGeom prst="rect">
            <a:avLst/>
          </a:prstGeom>
          <a:solidFill>
            <a:srgbClr val="F4F4F4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30788" tIns="29326" rIns="30788" bIns="29326" numCol="1" rtlCol="0" anchor="ctr" anchorCtr="0" compatLnSpc="1">
            <a:prstTxWarp prst="textNoShape">
              <a:avLst/>
            </a:prstTxWarp>
          </a:bodyPr>
          <a:lstStyle/>
          <a:p>
            <a:r>
              <a:rPr lang="ko-KR" altLang="en-US" sz="1400" kern="0" dirty="0">
                <a:solidFill>
                  <a:schemeClr val="bg1">
                    <a:lumMod val="65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우리가 해결하려는 문제</a:t>
            </a: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/</a:t>
            </a:r>
            <a:r>
              <a:rPr lang="ko-KR" altLang="en-US" sz="1400" kern="0" dirty="0">
                <a:solidFill>
                  <a:schemeClr val="bg1">
                    <a:lumMod val="65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니즈는 무엇인가</a:t>
            </a: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?</a:t>
            </a:r>
            <a:endParaRPr sz="1400" kern="0" dirty="0">
              <a:solidFill>
                <a:schemeClr val="bg1">
                  <a:lumMod val="65000"/>
                </a:schemeClr>
              </a:solidFill>
              <a:latin typeface="하나2.0 CM" panose="020B0603000000000000" pitchFamily="50" charset="-127"/>
              <a:ea typeface="하나2.0 CM" panose="020B0603000000000000" pitchFamily="50" charset="-127"/>
              <a:sym typeface="Arial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18F1598-65E0-7E3D-DC7F-4A3E664CFEEE}"/>
              </a:ext>
            </a:extLst>
          </p:cNvPr>
          <p:cNvCxnSpPr/>
          <p:nvPr/>
        </p:nvCxnSpPr>
        <p:spPr>
          <a:xfrm flipH="1">
            <a:off x="4570102" y="3509404"/>
            <a:ext cx="4150" cy="39385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87BA832-96CF-5BC9-D776-991ED395AE36}"/>
              </a:ext>
            </a:extLst>
          </p:cNvPr>
          <p:cNvCxnSpPr/>
          <p:nvPr/>
        </p:nvCxnSpPr>
        <p:spPr>
          <a:xfrm flipH="1">
            <a:off x="7448447" y="3508526"/>
            <a:ext cx="4150" cy="39385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0EF2EBDC-4095-D3A4-3E80-DAD29EDA5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610784"/>
              </p:ext>
            </p:extLst>
          </p:nvPr>
        </p:nvGraphicFramePr>
        <p:xfrm>
          <a:off x="3210978" y="2204212"/>
          <a:ext cx="2787254" cy="1380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254">
                  <a:extLst>
                    <a:ext uri="{9D8B030D-6E8A-4147-A177-3AD203B41FA5}">
                      <a16:colId xmlns:a16="http://schemas.microsoft.com/office/drawing/2014/main" val="1163203648"/>
                    </a:ext>
                  </a:extLst>
                </a:gridCol>
              </a:tblGrid>
              <a:tr h="571054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문제</a:t>
                      </a:r>
                      <a:r>
                        <a:rPr lang="en-US" altLang="ko-KR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/</a:t>
                      </a:r>
                      <a:r>
                        <a:rPr lang="ko-KR" altLang="en-US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니즈의 원인은 무엇일까</a:t>
                      </a:r>
                      <a:r>
                        <a:rPr lang="en-US" altLang="ko-KR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?</a:t>
                      </a:r>
                      <a:endParaRPr lang="ko-KR" altLang="en-US" sz="1400" b="0" i="0" dirty="0">
                        <a:solidFill>
                          <a:schemeClr val="bg1"/>
                        </a:solidFill>
                        <a:latin typeface="하나2.0 B" panose="020B0303000000000000" pitchFamily="50" charset="-127"/>
                        <a:ea typeface="하나2.0 B" panose="020B0303000000000000" pitchFamily="50" charset="-127"/>
                      </a:endParaRP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196046"/>
                  </a:ext>
                </a:extLst>
              </a:tr>
              <a:tr h="809161">
                <a:tc>
                  <a:txBody>
                    <a:bodyPr/>
                    <a:lstStyle/>
                    <a:p>
                      <a:endParaRPr lang="en-US" altLang="ko-KR" sz="1100" dirty="0">
                        <a:latin typeface="하나2.0 CM" panose="020B0603000000000000" pitchFamily="50" charset="-127"/>
                        <a:ea typeface="하나2.0 CM" panose="020B0603000000000000" pitchFamily="50" charset="-127"/>
                      </a:endParaRPr>
                    </a:p>
                  </a:txBody>
                  <a:tcPr marL="30788" marR="30788" marT="30788" marB="3078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821438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4616AF3-3B1F-7313-E422-92CDFB60F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272658"/>
              </p:ext>
            </p:extLst>
          </p:nvPr>
        </p:nvGraphicFramePr>
        <p:xfrm>
          <a:off x="6052060" y="2203898"/>
          <a:ext cx="2787254" cy="1380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254">
                  <a:extLst>
                    <a:ext uri="{9D8B030D-6E8A-4147-A177-3AD203B41FA5}">
                      <a16:colId xmlns:a16="http://schemas.microsoft.com/office/drawing/2014/main" val="1163203648"/>
                    </a:ext>
                  </a:extLst>
                </a:gridCol>
              </a:tblGrid>
              <a:tr h="571054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문제</a:t>
                      </a:r>
                      <a:r>
                        <a:rPr lang="en-US" altLang="ko-KR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/</a:t>
                      </a:r>
                      <a:r>
                        <a:rPr lang="ko-KR" altLang="en-US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니즈의 원인은 무엇일까</a:t>
                      </a:r>
                      <a:r>
                        <a:rPr lang="en-US" altLang="ko-KR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?</a:t>
                      </a:r>
                      <a:endParaRPr lang="ko-KR" altLang="en-US" sz="1400" b="0" i="0" dirty="0">
                        <a:solidFill>
                          <a:schemeClr val="bg1"/>
                        </a:solidFill>
                        <a:latin typeface="하나2.0 B" panose="020B0303000000000000" pitchFamily="50" charset="-127"/>
                        <a:ea typeface="하나2.0 B" panose="020B0303000000000000" pitchFamily="50" charset="-127"/>
                      </a:endParaRP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196046"/>
                  </a:ext>
                </a:extLst>
              </a:tr>
              <a:tr h="809161">
                <a:tc>
                  <a:txBody>
                    <a:bodyPr/>
                    <a:lstStyle/>
                    <a:p>
                      <a:endParaRPr lang="en-US" altLang="ko-KR" sz="1100" dirty="0">
                        <a:latin typeface="하나2.0 CM" panose="020B0603000000000000" pitchFamily="50" charset="-127"/>
                        <a:ea typeface="하나2.0 CM" panose="020B0603000000000000" pitchFamily="50" charset="-127"/>
                      </a:endParaRPr>
                    </a:p>
                  </a:txBody>
                  <a:tcPr marL="30788" marR="30788" marT="30788" marB="3078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821438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CDE9EE5-94C5-AC3C-0398-11D222F1B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174391"/>
              </p:ext>
            </p:extLst>
          </p:nvPr>
        </p:nvGraphicFramePr>
        <p:xfrm>
          <a:off x="367138" y="3739724"/>
          <a:ext cx="2787254" cy="1495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254">
                  <a:extLst>
                    <a:ext uri="{9D8B030D-6E8A-4147-A177-3AD203B41FA5}">
                      <a16:colId xmlns:a16="http://schemas.microsoft.com/office/drawing/2014/main" val="1163203648"/>
                    </a:ext>
                  </a:extLst>
                </a:gridCol>
              </a:tblGrid>
              <a:tr h="583338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근본 원인은 무엇일까</a:t>
                      </a:r>
                      <a:r>
                        <a:rPr lang="en-US" altLang="ko-KR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?</a:t>
                      </a:r>
                      <a:endParaRPr lang="ko-KR" altLang="en-US" sz="1400" b="0" i="0" dirty="0">
                        <a:solidFill>
                          <a:schemeClr val="bg1"/>
                        </a:solidFill>
                        <a:latin typeface="하나2.0 B" panose="020B0303000000000000" pitchFamily="50" charset="-127"/>
                        <a:ea typeface="하나2.0 B" panose="020B0303000000000000" pitchFamily="50" charset="-127"/>
                      </a:endParaRP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196046"/>
                  </a:ext>
                </a:extLst>
              </a:tr>
              <a:tr h="912399">
                <a:tc>
                  <a:txBody>
                    <a:bodyPr/>
                    <a:lstStyle/>
                    <a:p>
                      <a:endParaRPr lang="en-US" altLang="ko-KR" sz="1100" dirty="0">
                        <a:latin typeface="하나2.0 CM" panose="020B0603000000000000" pitchFamily="50" charset="-127"/>
                        <a:ea typeface="하나2.0 CM" panose="020B0603000000000000" pitchFamily="50" charset="-127"/>
                      </a:endParaRPr>
                    </a:p>
                  </a:txBody>
                  <a:tcPr marL="30788" marR="30788" marT="30788" marB="3078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82143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1C68682-0DC3-F78C-1FE6-2C41FBF25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403927"/>
              </p:ext>
            </p:extLst>
          </p:nvPr>
        </p:nvGraphicFramePr>
        <p:xfrm>
          <a:off x="3210978" y="3739724"/>
          <a:ext cx="2787254" cy="1495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254">
                  <a:extLst>
                    <a:ext uri="{9D8B030D-6E8A-4147-A177-3AD203B41FA5}">
                      <a16:colId xmlns:a16="http://schemas.microsoft.com/office/drawing/2014/main" val="1163203648"/>
                    </a:ext>
                  </a:extLst>
                </a:gridCol>
              </a:tblGrid>
              <a:tr h="583338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근본 원인은 무엇일까</a:t>
                      </a:r>
                      <a:r>
                        <a:rPr lang="en-US" altLang="ko-KR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?</a:t>
                      </a:r>
                      <a:endParaRPr lang="ko-KR" altLang="en-US" sz="1400" b="0" i="0" dirty="0">
                        <a:solidFill>
                          <a:schemeClr val="bg1"/>
                        </a:solidFill>
                        <a:latin typeface="하나2.0 B" panose="020B0303000000000000" pitchFamily="50" charset="-127"/>
                        <a:ea typeface="하나2.0 B" panose="020B0303000000000000" pitchFamily="50" charset="-127"/>
                      </a:endParaRP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196046"/>
                  </a:ext>
                </a:extLst>
              </a:tr>
              <a:tr h="912399">
                <a:tc>
                  <a:txBody>
                    <a:bodyPr/>
                    <a:lstStyle/>
                    <a:p>
                      <a:endParaRPr lang="en-US" altLang="ko-KR" sz="1100" dirty="0">
                        <a:latin typeface="하나2.0 CM" panose="020B0603000000000000" pitchFamily="50" charset="-127"/>
                        <a:ea typeface="하나2.0 CM" panose="020B0603000000000000" pitchFamily="50" charset="-127"/>
                      </a:endParaRPr>
                    </a:p>
                  </a:txBody>
                  <a:tcPr marL="30788" marR="30788" marT="30788" marB="3078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82143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200CEB7-34E0-1B0A-0AB8-2A729660B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376006"/>
              </p:ext>
            </p:extLst>
          </p:nvPr>
        </p:nvGraphicFramePr>
        <p:xfrm>
          <a:off x="6054820" y="3739723"/>
          <a:ext cx="2787254" cy="1495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254">
                  <a:extLst>
                    <a:ext uri="{9D8B030D-6E8A-4147-A177-3AD203B41FA5}">
                      <a16:colId xmlns:a16="http://schemas.microsoft.com/office/drawing/2014/main" val="1163203648"/>
                    </a:ext>
                  </a:extLst>
                </a:gridCol>
              </a:tblGrid>
              <a:tr h="583338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근본 원인은 무엇일까</a:t>
                      </a:r>
                      <a:r>
                        <a:rPr lang="en-US" altLang="ko-KR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?</a:t>
                      </a:r>
                      <a:endParaRPr lang="ko-KR" altLang="en-US" sz="1400" b="0" i="0" dirty="0">
                        <a:solidFill>
                          <a:schemeClr val="bg1"/>
                        </a:solidFill>
                        <a:latin typeface="하나2.0 B" panose="020B0303000000000000" pitchFamily="50" charset="-127"/>
                        <a:ea typeface="하나2.0 B" panose="020B0303000000000000" pitchFamily="50" charset="-127"/>
                      </a:endParaRP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196046"/>
                  </a:ext>
                </a:extLst>
              </a:tr>
              <a:tr h="912399">
                <a:tc>
                  <a:txBody>
                    <a:bodyPr/>
                    <a:lstStyle/>
                    <a:p>
                      <a:endParaRPr lang="en-US" altLang="ko-KR" sz="1100" dirty="0">
                        <a:latin typeface="하나2.0 CM" panose="020B0603000000000000" pitchFamily="50" charset="-127"/>
                        <a:ea typeface="하나2.0 CM" panose="020B0603000000000000" pitchFamily="50" charset="-127"/>
                      </a:endParaRPr>
                    </a:p>
                  </a:txBody>
                  <a:tcPr marL="30788" marR="30788" marT="30788" marB="3078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821438"/>
                  </a:ext>
                </a:extLst>
              </a:tr>
            </a:tbl>
          </a:graphicData>
        </a:graphic>
      </p:graphicFrame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3702FAD-2A03-AF42-8E74-B5D67F071560}"/>
              </a:ext>
            </a:extLst>
          </p:cNvPr>
          <p:cNvCxnSpPr>
            <a:cxnSpLocks/>
          </p:cNvCxnSpPr>
          <p:nvPr/>
        </p:nvCxnSpPr>
        <p:spPr>
          <a:xfrm>
            <a:off x="4581401" y="5283887"/>
            <a:ext cx="0" cy="348356"/>
          </a:xfrm>
          <a:prstGeom prst="straightConnector1">
            <a:avLst/>
          </a:prstGeom>
          <a:ln w="15875">
            <a:solidFill>
              <a:srgbClr val="FF553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F9EA3E9-ED46-5FDE-6579-90E98371C631}"/>
              </a:ext>
            </a:extLst>
          </p:cNvPr>
          <p:cNvSpPr txBox="1"/>
          <p:nvPr/>
        </p:nvSpPr>
        <p:spPr>
          <a:xfrm>
            <a:off x="3779912" y="692696"/>
            <a:ext cx="4930289" cy="7405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우리가 해결하려는 문제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/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니즈를 작성하고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, 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해당 문제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/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니즈의 원인들과 그 원인들의 근본원인을 분석합니다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. 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이와 같은 워크숍을 통해 우리가 해결하고자 하는 원인에 기반한 문제를 한 문장으로 정의합니다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060283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A9AE8-A768-E39B-8E60-D88279003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104B701-B38F-F6DA-8CB9-42006C05F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949251"/>
              </p:ext>
            </p:extLst>
          </p:nvPr>
        </p:nvGraphicFramePr>
        <p:xfrm>
          <a:off x="433799" y="1988840"/>
          <a:ext cx="8276402" cy="291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6402">
                  <a:extLst>
                    <a:ext uri="{9D8B030D-6E8A-4147-A177-3AD203B41FA5}">
                      <a16:colId xmlns:a16="http://schemas.microsoft.com/office/drawing/2014/main" val="1253396727"/>
                    </a:ext>
                  </a:extLst>
                </a:gridCol>
              </a:tblGrid>
              <a:tr h="3068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워크숍 </a:t>
                      </a:r>
                      <a:r>
                        <a:rPr lang="en-US" altLang="ko-KR" sz="1400" dirty="0"/>
                        <a:t>Tips</a:t>
                      </a:r>
                      <a:endParaRPr lang="ko-KR" alt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41767"/>
                  </a:ext>
                </a:extLst>
              </a:tr>
              <a:tr h="2610916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/>
                        <a:t>문제의 원인을 </a:t>
                      </a:r>
                      <a:r>
                        <a:rPr lang="en-US" altLang="ko-KR" sz="1400" b="0" dirty="0"/>
                        <a:t>3</a:t>
                      </a:r>
                      <a:r>
                        <a:rPr lang="ko-KR" altLang="en-US" sz="1400" b="0" dirty="0"/>
                        <a:t>가지 이상 정리해 주세요</a:t>
                      </a:r>
                      <a:r>
                        <a:rPr lang="en-US" altLang="ko-KR" sz="1400" b="0" dirty="0"/>
                        <a:t>. (</a:t>
                      </a:r>
                      <a:r>
                        <a:rPr lang="ko-KR" altLang="en-US" sz="1400" b="0" dirty="0"/>
                        <a:t>칸이 </a:t>
                      </a:r>
                      <a:r>
                        <a:rPr lang="en-US" altLang="ko-KR" sz="1400" b="0" dirty="0"/>
                        <a:t>3</a:t>
                      </a:r>
                      <a:r>
                        <a:rPr lang="ko-KR" altLang="en-US" sz="1400" b="0" dirty="0"/>
                        <a:t>개지만</a:t>
                      </a:r>
                      <a:r>
                        <a:rPr lang="en-US" altLang="ko-KR" sz="1400" b="0" dirty="0"/>
                        <a:t>, </a:t>
                      </a:r>
                      <a:r>
                        <a:rPr lang="ko-KR" altLang="en-US" sz="1400" b="0" dirty="0"/>
                        <a:t>최대한 넓게 분석할수록 선택지가 많아집니다</a:t>
                      </a:r>
                      <a:r>
                        <a:rPr lang="en-US" altLang="ko-KR" sz="1400" b="0" dirty="0"/>
                        <a:t>.)</a:t>
                      </a:r>
                      <a:endParaRPr lang="ko-KR" altLang="en-US" sz="1400" b="0" dirty="0"/>
                    </a:p>
                    <a:p>
                      <a:pPr lvl="1">
                        <a:lnSpc>
                          <a:spcPct val="150000"/>
                        </a:lnSpc>
                      </a:pPr>
                      <a:endParaRPr lang="en-US" altLang="ko-KR" sz="1400" b="0" dirty="0"/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/>
                        <a:t>원인의 근본 원인을 분석할 때는 </a:t>
                      </a:r>
                      <a:r>
                        <a:rPr lang="en-US" altLang="ko-KR" sz="1400" b="0" dirty="0"/>
                        <a:t>5why</a:t>
                      </a:r>
                      <a:r>
                        <a:rPr lang="ko-KR" altLang="en-US" sz="1400" b="0" dirty="0"/>
                        <a:t>를 활용해 주세요</a:t>
                      </a:r>
                      <a:r>
                        <a:rPr lang="en-US" altLang="ko-KR" sz="1400" b="0" dirty="0"/>
                        <a:t>. (</a:t>
                      </a:r>
                      <a:r>
                        <a:rPr lang="ko-KR" altLang="en-US" sz="1400" b="0" dirty="0"/>
                        <a:t>칸이 </a:t>
                      </a:r>
                      <a:r>
                        <a:rPr lang="en-US" altLang="ko-KR" sz="1400" b="0" dirty="0"/>
                        <a:t>2</a:t>
                      </a:r>
                      <a:r>
                        <a:rPr lang="ko-KR" altLang="en-US" sz="1400" b="0" dirty="0"/>
                        <a:t>개지만</a:t>
                      </a:r>
                      <a:r>
                        <a:rPr lang="en-US" altLang="ko-KR" sz="1400" b="0" dirty="0"/>
                        <a:t>, </a:t>
                      </a:r>
                      <a:r>
                        <a:rPr lang="ko-KR" altLang="en-US" sz="1400" b="0" dirty="0"/>
                        <a:t>최대한 깊게 분석할수록 문제의 본질을 찾을 수 있습니다</a:t>
                      </a:r>
                      <a:r>
                        <a:rPr lang="en-US" altLang="ko-KR" sz="1400" b="0" dirty="0"/>
                        <a:t>.) </a:t>
                      </a:r>
                      <a:endParaRPr lang="ko-KR" altLang="en-US" sz="1400" b="0" dirty="0"/>
                    </a:p>
                    <a:p>
                      <a:pPr lvl="1">
                        <a:lnSpc>
                          <a:spcPct val="150000"/>
                        </a:lnSpc>
                      </a:pPr>
                      <a:endParaRPr lang="en-US" altLang="ko-KR" sz="1400" b="0" dirty="0"/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/>
                        <a:t>최종적으로 문제 명확화는 페르소나가 공감할 수 있도록 명료한 한 문장으로 작성해 주세요</a:t>
                      </a:r>
                      <a:r>
                        <a:rPr lang="en-US" altLang="ko-KR" sz="1400" b="0" dirty="0"/>
                        <a:t>.</a:t>
                      </a:r>
                      <a:endParaRPr lang="ko-KR" altLang="en-US" sz="1400" b="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937487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624ABB4-A66F-1823-87C9-B6A077324D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D9ED20-6A16-E1E1-DAC2-3EB96EE515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/</a:t>
            </a:r>
            <a:r>
              <a:rPr lang="ko-KR" altLang="en-US" dirty="0"/>
              <a:t>니즈 정의 워크숍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6B65C503-49D2-7F51-4065-871CE35309CC}"/>
              </a:ext>
            </a:extLst>
          </p:cNvPr>
          <p:cNvSpPr txBox="1">
            <a:spLocks/>
          </p:cNvSpPr>
          <p:nvPr/>
        </p:nvSpPr>
        <p:spPr>
          <a:xfrm>
            <a:off x="432001" y="636814"/>
            <a:ext cx="1835743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844083" rtl="0" eaLnBrk="1" latinLnBrk="1" hangingPunct="1">
              <a:lnSpc>
                <a:spcPct val="90000"/>
              </a:lnSpc>
              <a:spcBef>
                <a:spcPts val="923"/>
              </a:spcBef>
              <a:buFont typeface="Arial" pitchFamily="34" charset="0"/>
              <a:buNone/>
              <a:defRPr sz="2800" kern="12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  <a:cs typeface="+mn-cs"/>
              </a:defRPr>
            </a:lvl1pPr>
            <a:lvl2pPr marL="633062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103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7145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9186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2000" dirty="0"/>
              <a:t>문제</a:t>
            </a:r>
            <a:r>
              <a:rPr lang="en-US" altLang="ko-KR" sz="2000" dirty="0"/>
              <a:t>/</a:t>
            </a:r>
            <a:r>
              <a:rPr lang="ko-KR" altLang="en-US" sz="2000" dirty="0"/>
              <a:t>니즈 정의 워크숍 </a:t>
            </a:r>
            <a:r>
              <a:rPr lang="en-US" altLang="ko-KR" sz="2000" dirty="0"/>
              <a:t>Tips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1958788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3F1E2-9347-1E43-7707-B33B5DB7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43BCE2-86E7-C3CB-3F43-E422EE42B9E4}"/>
              </a:ext>
            </a:extLst>
          </p:cNvPr>
          <p:cNvSpPr txBox="1"/>
          <p:nvPr/>
        </p:nvSpPr>
        <p:spPr>
          <a:xfrm>
            <a:off x="415452" y="686168"/>
            <a:ext cx="4156549" cy="1566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4789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페르소나</a:t>
            </a:r>
            <a:endParaRPr kumimoji="1" lang="en-US" altLang="ko-KR" sz="4789" dirty="0">
              <a:latin typeface="하나2.0 B" panose="020B0303000000000000" pitchFamily="50" charset="-127"/>
              <a:ea typeface="하나2.0 B" panose="020B0303000000000000" pitchFamily="50" charset="-127"/>
              <a:cs typeface="KoPubWorld돋움체 Medium" panose="00000600000000000000" pitchFamily="2" charset="-127"/>
            </a:endParaRPr>
          </a:p>
          <a:p>
            <a:r>
              <a:rPr kumimoji="1" lang="ko-KR" altLang="en-US" sz="4789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워크숍</a:t>
            </a:r>
            <a:endParaRPr kumimoji="1" lang="ko-Kore-KR" altLang="en-US" sz="4789" dirty="0">
              <a:latin typeface="하나2.0 B" panose="020B0303000000000000" pitchFamily="50" charset="-127"/>
              <a:ea typeface="하나2.0 B" panose="020B0303000000000000" pitchFamily="50" charset="-127"/>
              <a:cs typeface="KoPubWorld돋움체 Medium" panose="000006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D82E42-5341-FB6B-66B8-20BDBF469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070" y="3310991"/>
            <a:ext cx="3066682" cy="306668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6ECC6B5-1DBA-0A73-F501-8F938654F51E}"/>
              </a:ext>
            </a:extLst>
          </p:cNvPr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0091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60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19FAC-A64D-7989-6224-76A318F70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82CC9FE-D15C-39B6-7318-874AC10DBC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E047D2-6981-602E-04F5-5D00A0C92F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페르소나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C20C8D-7CDB-07E5-C77E-95C221AB20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1" y="636814"/>
            <a:ext cx="2555823" cy="432000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/>
              <a:t>페르소나 분석 방법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64ADE9-F291-BF4C-84F6-3B4BF3DC5635}"/>
              </a:ext>
            </a:extLst>
          </p:cNvPr>
          <p:cNvSpPr txBox="1"/>
          <p:nvPr/>
        </p:nvSpPr>
        <p:spPr>
          <a:xfrm>
            <a:off x="3563888" y="692696"/>
            <a:ext cx="5146313" cy="7405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가장 먼저 우리가 정의한 문제를 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‘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문제 명확화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’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에 작성합니다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. 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그리고 페르소나 정의에 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‘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어떤 사람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’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인지 구체적으로 작성합니다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. 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다음에는 단 한 사람의 페르소나가 느끼는 어려움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 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또는 원하는 것을 구체적으로 작성하고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, 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페르소나의 특성을 정량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/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정성으로 나눠서 작성해 봅니다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.</a:t>
            </a:r>
            <a:endParaRPr lang="ko-KR" altLang="en-US" sz="1100" dirty="0">
              <a:latin typeface="하나2.0 M" panose="020B0603000000000000" pitchFamily="50" charset="-127"/>
              <a:ea typeface="하나2.0 M" panose="020B0603000000000000" pitchFamily="50" charset="-127"/>
            </a:endParaRPr>
          </a:p>
        </p:txBody>
      </p:sp>
      <p:graphicFrame>
        <p:nvGraphicFramePr>
          <p:cNvPr id="5" name="표 2">
            <a:extLst>
              <a:ext uri="{FF2B5EF4-FFF2-40B4-BE49-F238E27FC236}">
                <a16:creationId xmlns:a16="http://schemas.microsoft.com/office/drawing/2014/main" id="{CF6ED671-4983-ABE0-383F-B90788D37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231143"/>
              </p:ext>
            </p:extLst>
          </p:nvPr>
        </p:nvGraphicFramePr>
        <p:xfrm>
          <a:off x="4616922" y="2797290"/>
          <a:ext cx="4078618" cy="3454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309">
                  <a:extLst>
                    <a:ext uri="{9D8B030D-6E8A-4147-A177-3AD203B41FA5}">
                      <a16:colId xmlns:a16="http://schemas.microsoft.com/office/drawing/2014/main" val="2452863009"/>
                    </a:ext>
                  </a:extLst>
                </a:gridCol>
                <a:gridCol w="2039309">
                  <a:extLst>
                    <a:ext uri="{9D8B030D-6E8A-4147-A177-3AD203B41FA5}">
                      <a16:colId xmlns:a16="http://schemas.microsoft.com/office/drawing/2014/main" val="876103668"/>
                    </a:ext>
                  </a:extLst>
                </a:gridCol>
              </a:tblGrid>
              <a:tr h="446238">
                <a:tc gridSpan="2"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ko-KR" altLang="en-US" sz="1400" b="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페르소나 특성</a:t>
                      </a: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12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endParaRPr lang="ko-KR" altLang="en-US" sz="1200" b="1" dirty="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986456"/>
                  </a:ext>
                </a:extLst>
              </a:tr>
              <a:tr h="515517"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정량적 특성</a:t>
                      </a: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정성적 특성</a:t>
                      </a: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525932"/>
                  </a:ext>
                </a:extLst>
              </a:tr>
              <a:tr h="2492730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ex :</a:t>
                      </a:r>
                      <a:br>
                        <a:rPr lang="en-US" altLang="ko-KR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</a:br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소득 수준</a:t>
                      </a:r>
                      <a:endParaRPr lang="en-US" altLang="ko-KR" sz="1400" dirty="0"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지불 가능한 금액 </a:t>
                      </a:r>
                      <a:endParaRPr lang="en-US" altLang="ko-KR" sz="1400" dirty="0"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성별</a:t>
                      </a:r>
                      <a:endParaRPr lang="en-US" altLang="ko-KR" sz="1400" dirty="0"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거주지</a:t>
                      </a:r>
                      <a:r>
                        <a:rPr lang="en-US" altLang="ko-KR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거주 형태</a:t>
                      </a:r>
                      <a:endParaRPr lang="en-US" altLang="ko-KR" sz="1400" dirty="0"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en-US" altLang="ko-KR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직업</a:t>
                      </a:r>
                      <a:r>
                        <a:rPr lang="en-US" altLang="ko-KR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/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직장</a:t>
                      </a:r>
                      <a:r>
                        <a:rPr lang="en-US" altLang="ko-KR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/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직책</a:t>
                      </a:r>
                      <a:endParaRPr lang="en-US" altLang="ko-KR" sz="1400" dirty="0"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en-US" altLang="ko-KR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SNS 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ex :</a:t>
                      </a:r>
                      <a:br>
                        <a:rPr lang="en-US" altLang="ko-KR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</a:br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경험</a:t>
                      </a:r>
                      <a:endParaRPr lang="en-US" altLang="ko-KR" sz="1400" dirty="0"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취향 </a:t>
                      </a:r>
                      <a:r>
                        <a:rPr lang="en-US" altLang="ko-KR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/ 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성향</a:t>
                      </a:r>
                      <a:endParaRPr lang="en-US" altLang="ko-KR" sz="1400" dirty="0"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성격 </a:t>
                      </a:r>
                      <a:endParaRPr lang="en-US" altLang="ko-KR" sz="1400" dirty="0"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소비 패턴 </a:t>
                      </a:r>
                      <a:endParaRPr lang="en-US" altLang="ko-KR" sz="1400" dirty="0"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중요시하는 가치</a:t>
                      </a:r>
                      <a:endParaRPr lang="en-US" altLang="ko-KR" sz="1400" dirty="0"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pPr algn="ctr">
                        <a:lnSpc>
                          <a:spcPts val="1700"/>
                        </a:lnSpc>
                      </a:pPr>
                      <a:endParaRPr lang="ko-KR" altLang="en-US" sz="1400" b="1" dirty="0">
                        <a:solidFill>
                          <a:schemeClr val="bg1"/>
                        </a:solidFill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63804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80F41AF-45E3-8FBF-445C-9F6C5D589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122328"/>
              </p:ext>
            </p:extLst>
          </p:nvPr>
        </p:nvGraphicFramePr>
        <p:xfrm>
          <a:off x="370014" y="2797290"/>
          <a:ext cx="4157065" cy="3454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065">
                  <a:extLst>
                    <a:ext uri="{9D8B030D-6E8A-4147-A177-3AD203B41FA5}">
                      <a16:colId xmlns:a16="http://schemas.microsoft.com/office/drawing/2014/main" val="1163203648"/>
                    </a:ext>
                  </a:extLst>
                </a:gridCol>
              </a:tblGrid>
              <a:tr h="490989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어려움</a:t>
                      </a:r>
                      <a:r>
                        <a:rPr lang="en-US" altLang="ko-KR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, </a:t>
                      </a:r>
                      <a:r>
                        <a:rPr lang="ko-KR" altLang="en-US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원하는 것</a:t>
                      </a:r>
                      <a:r>
                        <a:rPr lang="en-US" altLang="ko-KR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, </a:t>
                      </a:r>
                      <a:r>
                        <a:rPr lang="ko-KR" altLang="en-US" sz="1400" b="0" i="0" dirty="0">
                          <a:solidFill>
                            <a:schemeClr val="bg1"/>
                          </a:solidFill>
                          <a:latin typeface="하나2.0 B" panose="020B0303000000000000" pitchFamily="50" charset="-127"/>
                          <a:ea typeface="하나2.0 B" panose="020B0303000000000000" pitchFamily="50" charset="-127"/>
                        </a:rPr>
                        <a:t>불만족 사항</a:t>
                      </a: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196046"/>
                  </a:ext>
                </a:extLst>
              </a:tr>
              <a:tr h="2963496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ex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:</a:t>
                      </a:r>
                      <a:br>
                        <a:rPr lang="en-US" altLang="ko-KR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</a:br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어려움 </a:t>
                      </a:r>
                      <a:endParaRPr lang="en-US" altLang="ko-KR" sz="1400" dirty="0"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원하는 것</a:t>
                      </a:r>
                      <a:endParaRPr lang="en-US" altLang="ko-KR" sz="1400" dirty="0"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ko-KR" altLang="en-US" sz="1400" dirty="0" err="1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ㆍ</a:t>
                      </a:r>
                      <a:r>
                        <a:rPr lang="ko-KR" altLang="en-US" sz="1400" dirty="0">
                          <a:latin typeface="하나2.0 CM" panose="020B0603000000000000" pitchFamily="50" charset="-127"/>
                          <a:ea typeface="하나2.0 CM" panose="020B0603000000000000" pitchFamily="50" charset="-127"/>
                          <a:cs typeface="KoPubWorld돋움체 Medium" panose="00000600000000000000" pitchFamily="2" charset="-127"/>
                        </a:rPr>
                        <a:t> 기존 솔루션의 불만족 사항 </a:t>
                      </a:r>
                      <a:endParaRPr lang="en-US" altLang="ko-KR" sz="1400" dirty="0">
                        <a:latin typeface="하나2.0 CM" panose="020B0603000000000000" pitchFamily="50" charset="-127"/>
                        <a:ea typeface="하나2.0 CM" panose="020B0603000000000000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100" dirty="0">
                        <a:latin typeface="하나2.0 CM" panose="020B0603000000000000" pitchFamily="50" charset="-127"/>
                        <a:ea typeface="하나2.0 CM" panose="020B0603000000000000" pitchFamily="50" charset="-127"/>
                      </a:endParaRPr>
                    </a:p>
                  </a:txBody>
                  <a:tcPr marL="30788" marR="30788" marT="30788" marB="3078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821438"/>
                  </a:ext>
                </a:extLst>
              </a:tr>
            </a:tbl>
          </a:graphicData>
        </a:graphic>
      </p:graphicFrame>
      <p:sp>
        <p:nvSpPr>
          <p:cNvPr id="8" name="Google Shape;376;p27">
            <a:extLst>
              <a:ext uri="{FF2B5EF4-FFF2-40B4-BE49-F238E27FC236}">
                <a16:creationId xmlns:a16="http://schemas.microsoft.com/office/drawing/2014/main" id="{351DE421-2732-3758-5D63-A496031585CA}"/>
              </a:ext>
            </a:extLst>
          </p:cNvPr>
          <p:cNvSpPr/>
          <p:nvPr/>
        </p:nvSpPr>
        <p:spPr>
          <a:xfrm>
            <a:off x="372680" y="2098135"/>
            <a:ext cx="1379295" cy="593923"/>
          </a:xfrm>
          <a:prstGeom prst="rect">
            <a:avLst/>
          </a:prstGeom>
          <a:solidFill>
            <a:srgbClr val="21212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30788" tIns="30788" rIns="30788" bIns="3078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68" kern="0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페르소나</a:t>
            </a:r>
            <a:r>
              <a:rPr lang="en-US" altLang="ko-KR" sz="1368" kern="0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 </a:t>
            </a:r>
            <a:r>
              <a:rPr lang="ko-KR" altLang="en-US" sz="1368" kern="0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정의</a:t>
            </a:r>
            <a:endParaRPr sz="1026" kern="0" dirty="0">
              <a:solidFill>
                <a:srgbClr val="FF5534"/>
              </a:solidFill>
              <a:latin typeface="하나2.0 B" panose="020B0303000000000000" pitchFamily="50" charset="-127"/>
              <a:ea typeface="하나2.0 B" panose="020B0303000000000000" pitchFamily="50" charset="-127"/>
              <a:sym typeface="Arial"/>
            </a:endParaRPr>
          </a:p>
        </p:txBody>
      </p:sp>
      <p:sp>
        <p:nvSpPr>
          <p:cNvPr id="9" name="Google Shape;382;p27">
            <a:extLst>
              <a:ext uri="{FF2B5EF4-FFF2-40B4-BE49-F238E27FC236}">
                <a16:creationId xmlns:a16="http://schemas.microsoft.com/office/drawing/2014/main" id="{E0CB7C81-310F-6892-7F73-F60206486F59}"/>
              </a:ext>
            </a:extLst>
          </p:cNvPr>
          <p:cNvSpPr/>
          <p:nvPr/>
        </p:nvSpPr>
        <p:spPr>
          <a:xfrm>
            <a:off x="1757517" y="2098137"/>
            <a:ext cx="6930625" cy="593922"/>
          </a:xfrm>
          <a:prstGeom prst="rect">
            <a:avLst/>
          </a:prstGeom>
          <a:solidFill>
            <a:srgbClr val="F4F4F4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30788" tIns="29326" rIns="30788" bIns="29326" numCol="1" rtlCol="0" anchor="ctr" anchorCtr="0" compatLnSpc="1">
            <a:prstTxWarp prst="textNoShape">
              <a:avLst/>
            </a:prstTxWarp>
          </a:bodyPr>
          <a:lstStyle/>
          <a:p>
            <a:r>
              <a:rPr lang="ko-KR" altLang="en-US" sz="1368" kern="0" dirty="0">
                <a:solidFill>
                  <a:schemeClr val="bg1">
                    <a:lumMod val="65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문제를 겪고 있는 대상 중 핵심 페르소나 정의</a:t>
            </a:r>
            <a:endParaRPr sz="1368" kern="0" dirty="0">
              <a:solidFill>
                <a:schemeClr val="bg1">
                  <a:lumMod val="65000"/>
                </a:schemeClr>
              </a:solidFill>
              <a:latin typeface="하나2.0 CM" panose="020B0603000000000000" pitchFamily="50" charset="-127"/>
              <a:ea typeface="하나2.0 CM" panose="020B0603000000000000" pitchFamily="50" charset="-127"/>
              <a:sym typeface="Arial"/>
            </a:endParaRPr>
          </a:p>
        </p:txBody>
      </p:sp>
      <p:sp>
        <p:nvSpPr>
          <p:cNvPr id="10" name="Google Shape;376;p27">
            <a:extLst>
              <a:ext uri="{FF2B5EF4-FFF2-40B4-BE49-F238E27FC236}">
                <a16:creationId xmlns:a16="http://schemas.microsoft.com/office/drawing/2014/main" id="{340EAD5E-18CD-1BC5-BE23-EE3074F25D41}"/>
              </a:ext>
            </a:extLst>
          </p:cNvPr>
          <p:cNvSpPr/>
          <p:nvPr/>
        </p:nvSpPr>
        <p:spPr>
          <a:xfrm>
            <a:off x="367138" y="1480092"/>
            <a:ext cx="1390379" cy="556849"/>
          </a:xfrm>
          <a:prstGeom prst="rect">
            <a:avLst/>
          </a:prstGeom>
          <a:solidFill>
            <a:srgbClr val="24222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30788" tIns="30788" rIns="30788" bIns="3078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68" kern="0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문제 명확화</a:t>
            </a:r>
            <a:endParaRPr sz="1026" kern="0" dirty="0">
              <a:solidFill>
                <a:srgbClr val="FF5534"/>
              </a:solidFill>
              <a:latin typeface="하나2.0 B" panose="020B0303000000000000" pitchFamily="50" charset="-127"/>
              <a:ea typeface="하나2.0 B" panose="020B0303000000000000" pitchFamily="50" charset="-127"/>
              <a:sym typeface="Arial"/>
            </a:endParaRPr>
          </a:p>
        </p:txBody>
      </p:sp>
      <p:sp>
        <p:nvSpPr>
          <p:cNvPr id="11" name="Google Shape;382;p27">
            <a:extLst>
              <a:ext uri="{FF2B5EF4-FFF2-40B4-BE49-F238E27FC236}">
                <a16:creationId xmlns:a16="http://schemas.microsoft.com/office/drawing/2014/main" id="{B4CF1FED-1800-FEC2-09C4-02405176E31E}"/>
              </a:ext>
            </a:extLst>
          </p:cNvPr>
          <p:cNvSpPr/>
          <p:nvPr/>
        </p:nvSpPr>
        <p:spPr>
          <a:xfrm>
            <a:off x="1751975" y="1480094"/>
            <a:ext cx="6930625" cy="556848"/>
          </a:xfrm>
          <a:prstGeom prst="rect">
            <a:avLst/>
          </a:prstGeom>
          <a:solidFill>
            <a:srgbClr val="F4F4F4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30788" tIns="29326" rIns="30788" bIns="29326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하나2.0 B" panose="020B0303000000000000" pitchFamily="50" charset="-127"/>
                <a:ea typeface="하나2.0 B" panose="020B0303000000000000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“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어떤 사람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의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,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어떤 어려움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니즈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를 해결하려고 한다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.”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9CCB2"/>
                </a:highlight>
                <a:latin typeface="하나2.0 B" panose="020B0303000000000000" pitchFamily="50" charset="-127"/>
                <a:ea typeface="하나2.0 B" panose="020B0303000000000000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624657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A8CDF-6770-844F-B109-DD9BD8DB9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F7BE7FC-B4B1-48E8-D833-A69FA0C39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370713"/>
              </p:ext>
            </p:extLst>
          </p:nvPr>
        </p:nvGraphicFramePr>
        <p:xfrm>
          <a:off x="433799" y="1988840"/>
          <a:ext cx="8276402" cy="2931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6402">
                  <a:extLst>
                    <a:ext uri="{9D8B030D-6E8A-4147-A177-3AD203B41FA5}">
                      <a16:colId xmlns:a16="http://schemas.microsoft.com/office/drawing/2014/main" val="1253396727"/>
                    </a:ext>
                  </a:extLst>
                </a:gridCol>
              </a:tblGrid>
              <a:tr h="3068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워크숍 </a:t>
                      </a:r>
                      <a:r>
                        <a:rPr lang="en-US" altLang="ko-KR" sz="1400" dirty="0"/>
                        <a:t>Tips</a:t>
                      </a:r>
                      <a:endParaRPr lang="ko-KR" alt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41767"/>
                  </a:ext>
                </a:extLst>
              </a:tr>
              <a:tr h="2610916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/>
                        <a:t>문제 명확화의 </a:t>
                      </a:r>
                      <a:r>
                        <a:rPr lang="en-US" altLang="ko-KR" sz="1400" b="0" dirty="0"/>
                        <a:t>‘</a:t>
                      </a:r>
                      <a:r>
                        <a:rPr lang="ko-KR" altLang="en-US" sz="1400" b="0" dirty="0"/>
                        <a:t>어떤 사람</a:t>
                      </a:r>
                      <a:r>
                        <a:rPr lang="en-US" altLang="ko-KR" sz="1400" b="0" dirty="0"/>
                        <a:t>’</a:t>
                      </a:r>
                      <a:r>
                        <a:rPr lang="ko-KR" altLang="en-US" sz="1400" b="0" dirty="0"/>
                        <a:t>이 누구인지 한 명으로 정의할 수 있도록 </a:t>
                      </a:r>
                      <a:r>
                        <a:rPr lang="en-US" altLang="ko-KR" sz="1400" b="0" dirty="0"/>
                        <a:t>‘</a:t>
                      </a:r>
                      <a:r>
                        <a:rPr lang="ko-KR" altLang="en-US" sz="1400" b="0" dirty="0"/>
                        <a:t>페르소나 정의</a:t>
                      </a:r>
                      <a:r>
                        <a:rPr lang="en-US" altLang="ko-KR" sz="1400" b="0" dirty="0"/>
                        <a:t>’</a:t>
                      </a:r>
                      <a:r>
                        <a:rPr lang="ko-KR" altLang="en-US" sz="1400" b="0" dirty="0"/>
                        <a:t>를 구체적으로 작성해 주세요</a:t>
                      </a:r>
                      <a:r>
                        <a:rPr lang="en-US" altLang="ko-KR" sz="1400" b="0" dirty="0"/>
                        <a:t>.</a:t>
                      </a:r>
                      <a:endParaRPr lang="ko-KR" altLang="en-US" sz="1400" b="0" dirty="0"/>
                    </a:p>
                    <a:p>
                      <a:pPr lvl="1">
                        <a:lnSpc>
                          <a:spcPct val="150000"/>
                        </a:lnSpc>
                      </a:pPr>
                      <a:endParaRPr lang="en-US" altLang="ko-KR" sz="1400" b="0" dirty="0"/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/>
                        <a:t>페르소나는 우리가 정의한 문제를 가장 크게 느끼는 사람입니다</a:t>
                      </a:r>
                      <a:r>
                        <a:rPr lang="en-US" altLang="ko-KR" sz="1400" b="0" dirty="0"/>
                        <a:t>. </a:t>
                      </a:r>
                      <a:r>
                        <a:rPr lang="ko-KR" altLang="en-US" sz="1400" b="0" dirty="0"/>
                        <a:t>페르소나의 가장 큰 문제는 무엇이고</a:t>
                      </a:r>
                      <a:r>
                        <a:rPr lang="en-US" altLang="ko-KR" sz="1400" b="0" dirty="0"/>
                        <a:t>, </a:t>
                      </a:r>
                      <a:r>
                        <a:rPr lang="ko-KR" altLang="en-US" sz="1400" b="0" dirty="0"/>
                        <a:t>이들이 원하는 것은 무엇인지 자세히 적어주세요</a:t>
                      </a:r>
                      <a:r>
                        <a:rPr lang="en-US" altLang="ko-KR" sz="1400" b="0" dirty="0"/>
                        <a:t>. (</a:t>
                      </a:r>
                      <a:r>
                        <a:rPr lang="ko-KR" altLang="en-US" sz="1400" b="0" dirty="0"/>
                        <a:t>인터뷰할 때 중요한 요소가 됩니다</a:t>
                      </a:r>
                      <a:r>
                        <a:rPr lang="en-US" altLang="ko-KR" sz="1400" b="0" dirty="0"/>
                        <a:t>.) </a:t>
                      </a:r>
                      <a:endParaRPr lang="ko-KR" altLang="en-US" sz="1400" b="0" dirty="0"/>
                    </a:p>
                    <a:p>
                      <a:pPr lvl="1">
                        <a:lnSpc>
                          <a:spcPct val="150000"/>
                        </a:lnSpc>
                      </a:pPr>
                      <a:endParaRPr lang="en-US" altLang="ko-KR" sz="1400" b="0" dirty="0"/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/>
                        <a:t>정량적</a:t>
                      </a:r>
                      <a:r>
                        <a:rPr lang="en-US" altLang="ko-KR" sz="1400" b="0" dirty="0"/>
                        <a:t> </a:t>
                      </a:r>
                      <a:r>
                        <a:rPr lang="ko-KR" altLang="en-US" sz="1400" b="0" dirty="0"/>
                        <a:t>특성을 통해 페르소나를 분류하거나 시장 크기를 분석하는데 활용할 수 있으며</a:t>
                      </a:r>
                      <a:r>
                        <a:rPr lang="en-US" altLang="ko-KR" sz="1400" b="0" dirty="0"/>
                        <a:t>, </a:t>
                      </a:r>
                      <a:r>
                        <a:rPr lang="ko-KR" altLang="en-US" sz="1400" b="0" dirty="0"/>
                        <a:t>정성적 특성을 통해 고객이 원하는 감성적인 마음은 무엇인지 파악해 볼 수 있습니다</a:t>
                      </a:r>
                      <a:r>
                        <a:rPr lang="en-US" altLang="ko-KR" sz="1400" b="0" dirty="0"/>
                        <a:t>.</a:t>
                      </a:r>
                      <a:r>
                        <a:rPr lang="ko-KR" altLang="en-US" sz="1400" b="0" dirty="0"/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937487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A59879-CA3B-3D9D-8693-6B67E10754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7E899B-27E6-CAF2-405D-5828856B2E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페르소나 분석 워크숍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D7D090B4-E34C-2EDA-C96B-476FDB34F5D5}"/>
              </a:ext>
            </a:extLst>
          </p:cNvPr>
          <p:cNvSpPr txBox="1">
            <a:spLocks/>
          </p:cNvSpPr>
          <p:nvPr/>
        </p:nvSpPr>
        <p:spPr>
          <a:xfrm>
            <a:off x="432001" y="636814"/>
            <a:ext cx="1691727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844083" rtl="0" eaLnBrk="1" latinLnBrk="1" hangingPunct="1">
              <a:lnSpc>
                <a:spcPct val="90000"/>
              </a:lnSpc>
              <a:spcBef>
                <a:spcPts val="923"/>
              </a:spcBef>
              <a:buFont typeface="Arial" pitchFamily="34" charset="0"/>
              <a:buNone/>
              <a:defRPr sz="2800" kern="12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  <a:cs typeface="+mn-cs"/>
              </a:defRPr>
            </a:lvl1pPr>
            <a:lvl2pPr marL="633062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103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7145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9186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2000"/>
              <a:t>페르소나 분석 </a:t>
            </a:r>
            <a:r>
              <a:rPr lang="ko-KR" altLang="en-US" sz="2000" dirty="0"/>
              <a:t>워크숍 </a:t>
            </a:r>
            <a:r>
              <a:rPr lang="en-US" altLang="ko-KR" sz="2000" dirty="0"/>
              <a:t>Tips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8910823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23077-AD77-EC64-88BE-3FDE623C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B8EA86-D21A-63DD-924A-8DEEF089113C}"/>
              </a:ext>
            </a:extLst>
          </p:cNvPr>
          <p:cNvSpPr txBox="1"/>
          <p:nvPr/>
        </p:nvSpPr>
        <p:spPr>
          <a:xfrm>
            <a:off x="415452" y="686168"/>
            <a:ext cx="5020644" cy="2120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4789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기존 솔루션 분석</a:t>
            </a:r>
            <a:endParaRPr kumimoji="1" lang="en-US" altLang="ko-KR" sz="4789" dirty="0">
              <a:latin typeface="하나2.0 B" panose="020B0303000000000000" pitchFamily="50" charset="-127"/>
              <a:ea typeface="하나2.0 B" panose="020B0303000000000000" pitchFamily="50" charset="-127"/>
              <a:cs typeface="KoPubWorld돋움체 Medium" panose="00000600000000000000" pitchFamily="2" charset="-127"/>
            </a:endParaRPr>
          </a:p>
          <a:p>
            <a:r>
              <a:rPr kumimoji="1" lang="en-US" altLang="en-US" sz="3600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(</a:t>
            </a:r>
            <a:r>
              <a:rPr kumimoji="1" lang="ko-KR" altLang="en-US" sz="3600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경쟁사</a:t>
            </a:r>
            <a:r>
              <a:rPr kumimoji="1" lang="en-US" altLang="ko-KR" sz="3600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/</a:t>
            </a:r>
            <a:r>
              <a:rPr kumimoji="1" lang="ko-KR" altLang="en-US" sz="3600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대체재 분석</a:t>
            </a:r>
            <a:r>
              <a:rPr kumimoji="1" lang="en-US" altLang="ko-KR" sz="3600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)</a:t>
            </a:r>
          </a:p>
          <a:p>
            <a:r>
              <a:rPr kumimoji="1" lang="ko-KR" altLang="en-US" sz="4789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워크숍</a:t>
            </a:r>
            <a:endParaRPr kumimoji="1" lang="ko-Kore-KR" altLang="en-US" sz="4789" dirty="0">
              <a:latin typeface="하나2.0 B" panose="020B0303000000000000" pitchFamily="50" charset="-127"/>
              <a:ea typeface="하나2.0 B" panose="020B0303000000000000" pitchFamily="50" charset="-127"/>
              <a:cs typeface="KoPubWorld돋움체 Medium" panose="000006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25C7A6-60F8-E5EE-C1C1-2D2EA2935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070" y="3310991"/>
            <a:ext cx="3066682" cy="30666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36444C-CBC1-0A2B-0103-7B7F2FE58C3C}"/>
              </a:ext>
            </a:extLst>
          </p:cNvPr>
          <p:cNvSpPr txBox="1"/>
          <p:nvPr/>
        </p:nvSpPr>
        <p:spPr>
          <a:xfrm>
            <a:off x="1741382" y="6313713"/>
            <a:ext cx="1627878" cy="184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99" dirty="0">
                <a:solidFill>
                  <a:schemeClr val="tx1">
                    <a:alpha val="7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ⓒ 2020 underdogs All Rights Reserved</a:t>
            </a:r>
            <a:endParaRPr lang="ko-KR" altLang="en-US" sz="599" dirty="0">
              <a:solidFill>
                <a:schemeClr val="tx1">
                  <a:alpha val="70000"/>
                </a:schemeClr>
              </a:solidFill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9F0ADD-5CFA-D9C3-6703-EC97B5BD9D6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439564" y="6323869"/>
            <a:ext cx="637320" cy="10468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51A17C5-FA00-D747-318E-843ECD841388}"/>
              </a:ext>
            </a:extLst>
          </p:cNvPr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0091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444836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F58A-AFA8-253A-66E6-FDEB85144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235E8EC-49F7-B62D-0024-1F7BC8B741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3E13A-9A29-32CE-CEC7-E79F4FD348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기존 솔루션 분석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7014E7-A362-C4F0-BD41-855C1F11F7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1" y="636814"/>
            <a:ext cx="1763735" cy="432000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/>
              <a:t>페르소나 관점의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57DAF1-EBD0-BF4B-AA8C-EF2E1E977CB2}"/>
              </a:ext>
            </a:extLst>
          </p:cNvPr>
          <p:cNvSpPr txBox="1"/>
          <p:nvPr/>
        </p:nvSpPr>
        <p:spPr>
          <a:xfrm>
            <a:off x="3563889" y="692696"/>
            <a:ext cx="5103072" cy="4866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기존 솔루션 분석은 </a:t>
            </a:r>
            <a:r>
              <a:rPr lang="ko-KR" altLang="en-US" sz="1100" dirty="0" err="1">
                <a:latin typeface="하나2.0 M" panose="020B0603000000000000" pitchFamily="50" charset="-127"/>
                <a:ea typeface="하나2.0 M" panose="020B0603000000000000" pitchFamily="50" charset="-127"/>
              </a:rPr>
              <a:t>창업가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 관점에서 경쟁사 분석과 다릅니다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. </a:t>
            </a:r>
            <a:r>
              <a:rPr lang="ko-KR" altLang="en-US" sz="1100" b="1" dirty="0">
                <a:latin typeface="하나2.0 M" panose="020B0603000000000000" pitchFamily="50" charset="-127"/>
                <a:ea typeface="하나2.0 M" panose="020B0603000000000000" pitchFamily="50" charset="-127"/>
              </a:rPr>
              <a:t>페르소나 관점에서 우리가 정의한 문제를 해결하기 위해 어떤 대체재들을 이용하고 있는지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 조사해 주세요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.</a:t>
            </a:r>
            <a:endParaRPr lang="ko-KR" altLang="en-US" sz="1100" dirty="0">
              <a:latin typeface="하나2.0 M" panose="020B0603000000000000" pitchFamily="50" charset="-127"/>
              <a:ea typeface="하나2.0 M" panose="020B06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80B6C6-82F4-2B62-4A5C-1ABE837999B7}"/>
              </a:ext>
            </a:extLst>
          </p:cNvPr>
          <p:cNvSpPr/>
          <p:nvPr/>
        </p:nvSpPr>
        <p:spPr>
          <a:xfrm>
            <a:off x="231301" y="2248372"/>
            <a:ext cx="8435659" cy="445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96" dirty="0">
                <a:solidFill>
                  <a:schemeClr val="tx1"/>
                </a:solidFill>
                <a:latin typeface="하나2.0 B" panose="020B0303000000000000" pitchFamily="50" charset="-127"/>
                <a:ea typeface="하나2.0 B" panose="020B0303000000000000" pitchFamily="50" charset="-127"/>
              </a:rPr>
              <a:t> </a:t>
            </a:r>
            <a:endParaRPr lang="en-US" altLang="ko-KR" sz="1796" dirty="0">
              <a:solidFill>
                <a:schemeClr val="tx1"/>
              </a:solidFill>
              <a:latin typeface="하나2.0 B" panose="020B0303000000000000" pitchFamily="50" charset="-127"/>
              <a:ea typeface="하나2.0 B" panose="020B0303000000000000" pitchFamily="50" charset="-127"/>
            </a:endParaRPr>
          </a:p>
          <a:p>
            <a:pPr algn="ctr"/>
            <a:r>
              <a:rPr lang="en-US" altLang="ko-KR" sz="2737" dirty="0">
                <a:solidFill>
                  <a:schemeClr val="tx1"/>
                </a:solidFill>
                <a:latin typeface="하나2.0 B" panose="020B0303000000000000" pitchFamily="50" charset="-127"/>
                <a:ea typeface="하나2.0 B" panose="020B0303000000000000" pitchFamily="50" charset="-127"/>
              </a:rPr>
              <a:t>“</a:t>
            </a:r>
            <a:r>
              <a:rPr lang="ko-KR" altLang="en-US" sz="2737" dirty="0">
                <a:solidFill>
                  <a:schemeClr val="tx1"/>
                </a:solidFill>
                <a:latin typeface="하나2.0 B" panose="020B0303000000000000" pitchFamily="50" charset="-127"/>
                <a:ea typeface="하나2.0 B" panose="020B0303000000000000" pitchFamily="50" charset="-127"/>
              </a:rPr>
              <a:t>기준은 페르소나</a:t>
            </a:r>
            <a:r>
              <a:rPr lang="en-US" altLang="ko-KR" sz="2737" dirty="0">
                <a:solidFill>
                  <a:schemeClr val="tx1"/>
                </a:solidFill>
                <a:latin typeface="하나2.0 B" panose="020B0303000000000000" pitchFamily="50" charset="-127"/>
                <a:ea typeface="하나2.0 B" panose="020B0303000000000000" pitchFamily="50" charset="-127"/>
              </a:rPr>
              <a:t>!”</a:t>
            </a:r>
            <a:endParaRPr lang="ko-KR" altLang="en-US" sz="2737" dirty="0">
              <a:solidFill>
                <a:schemeClr val="tx1"/>
              </a:solidFill>
              <a:latin typeface="하나2.0 B" panose="020B0303000000000000" pitchFamily="50" charset="-127"/>
              <a:ea typeface="하나2.0 B" panose="020B0303000000000000" pitchFamily="50" charset="-127"/>
            </a:endParaRPr>
          </a:p>
        </p:txBody>
      </p:sp>
      <p:sp>
        <p:nvSpPr>
          <p:cNvPr id="12" name="Rectangle 43">
            <a:extLst>
              <a:ext uri="{FF2B5EF4-FFF2-40B4-BE49-F238E27FC236}">
                <a16:creationId xmlns:a16="http://schemas.microsoft.com/office/drawing/2014/main" id="{C5B1C575-3D87-3265-873A-DCAE9820543A}"/>
              </a:ext>
            </a:extLst>
          </p:cNvPr>
          <p:cNvSpPr/>
          <p:nvPr/>
        </p:nvSpPr>
        <p:spPr>
          <a:xfrm>
            <a:off x="1109776" y="3613691"/>
            <a:ext cx="6863154" cy="5339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54"/>
              </a:lnSpc>
            </a:pPr>
            <a:r>
              <a:rPr lang="ko-KR" altLang="en-US" sz="1600" dirty="0">
                <a:solidFill>
                  <a:schemeClr val="tx1"/>
                </a:solidFill>
                <a:highlight>
                  <a:srgbClr val="F6DFCD"/>
                </a:highlight>
                <a:latin typeface="하나2.0 B" panose="020B0303000000000000" pitchFamily="50" charset="-127"/>
                <a:ea typeface="하나2.0 B" panose="020B0303000000000000" pitchFamily="50" charset="-127"/>
                <a:sym typeface="Wingdings"/>
              </a:rPr>
              <a:t>페르소나가 사용하는 기존 솔루션</a:t>
            </a:r>
            <a:r>
              <a:rPr lang="ko-KR" altLang="en-US" sz="1600" dirty="0">
                <a:solidFill>
                  <a:schemeClr val="tx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Wingdings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Wingdings"/>
              </a:rPr>
              <a:t>vs</a:t>
            </a:r>
            <a:r>
              <a:rPr lang="ko-KR" altLang="en-US" sz="1600" dirty="0">
                <a:solidFill>
                  <a:schemeClr val="tx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Wingdings"/>
              </a:rPr>
              <a:t> </a:t>
            </a:r>
            <a:r>
              <a:rPr lang="ko-KR" altLang="en-US" sz="1600" dirty="0">
                <a:solidFill>
                  <a:srgbClr val="242221"/>
                </a:solidFill>
                <a:highlight>
                  <a:srgbClr val="D6D6D6"/>
                </a:highlight>
                <a:latin typeface="하나2.0 B" panose="020B0303000000000000" pitchFamily="50" charset="-127"/>
                <a:ea typeface="하나2.0 B" panose="020B0303000000000000" pitchFamily="50" charset="-127"/>
                <a:sym typeface="Wingdings"/>
              </a:rPr>
              <a:t>창업가가 생각하는 기존 솔루션</a:t>
            </a:r>
            <a:endParaRPr lang="ko-KR" altLang="en-US" sz="1600" dirty="0">
              <a:solidFill>
                <a:srgbClr val="242221"/>
              </a:solidFill>
              <a:highlight>
                <a:srgbClr val="D6D6D6"/>
              </a:highlight>
              <a:latin typeface="하나2.0 CM" panose="020B0603000000000000" pitchFamily="50" charset="-127"/>
              <a:ea typeface="하나2.0 CM" panose="020B0603000000000000" pitchFamily="50" charset="-127"/>
              <a:sym typeface="Wingdings"/>
            </a:endParaRPr>
          </a:p>
        </p:txBody>
      </p:sp>
      <p:sp>
        <p:nvSpPr>
          <p:cNvPr id="13" name="Rectangle 43">
            <a:extLst>
              <a:ext uri="{FF2B5EF4-FFF2-40B4-BE49-F238E27FC236}">
                <a16:creationId xmlns:a16="http://schemas.microsoft.com/office/drawing/2014/main" id="{DA9FF9CE-4727-4D9D-3B97-34AB5C1BD138}"/>
              </a:ext>
            </a:extLst>
          </p:cNvPr>
          <p:cNvSpPr/>
          <p:nvPr/>
        </p:nvSpPr>
        <p:spPr>
          <a:xfrm>
            <a:off x="0" y="4544218"/>
            <a:ext cx="9144000" cy="5339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54"/>
              </a:lnSpc>
            </a:pPr>
            <a:r>
              <a:rPr lang="ko-KR" altLang="en-US" sz="1600" dirty="0">
                <a:solidFill>
                  <a:schemeClr val="tx1"/>
                </a:solidFill>
                <a:highlight>
                  <a:srgbClr val="F6DFCD"/>
                </a:highlight>
                <a:latin typeface="하나2.0 B" panose="020B0303000000000000" pitchFamily="50" charset="-127"/>
                <a:ea typeface="하나2.0 B" panose="020B0303000000000000" pitchFamily="50" charset="-127"/>
                <a:sym typeface="Wingdings"/>
              </a:rPr>
              <a:t>페르소나가 생각하는 기존 솔루션의 한계점과 강점</a:t>
            </a:r>
            <a:r>
              <a:rPr lang="ko-KR" altLang="en-US" sz="1600" dirty="0">
                <a:solidFill>
                  <a:schemeClr val="tx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Wingdings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Wingdings"/>
              </a:rPr>
              <a:t>vs</a:t>
            </a:r>
            <a:r>
              <a:rPr lang="ko-KR" altLang="en-US" sz="1600" dirty="0">
                <a:solidFill>
                  <a:schemeClr val="tx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Wingdings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D6D6D6"/>
                </a:highlight>
                <a:latin typeface="하나2.0 B" panose="020B0303000000000000" pitchFamily="50" charset="-127"/>
                <a:ea typeface="하나2.0 B" panose="020B0303000000000000" pitchFamily="50" charset="-127"/>
                <a:sym typeface="Wingdings"/>
              </a:rPr>
              <a:t>창업가가 생각하는 기존 솔루션의 한계점과 강점</a:t>
            </a:r>
            <a:endParaRPr lang="ko-KR" altLang="en-US" sz="1600" dirty="0">
              <a:solidFill>
                <a:schemeClr val="tx1"/>
              </a:solidFill>
              <a:highlight>
                <a:srgbClr val="D6D6D6"/>
              </a:highlight>
              <a:latin typeface="하나2.0 CM" panose="020B0603000000000000" pitchFamily="50" charset="-127"/>
              <a:ea typeface="하나2.0 CM" panose="020B0603000000000000" pitchFamily="50" charset="-127"/>
              <a:sym typeface="Wingdings"/>
            </a:endParaRP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CBECD15D-097B-32F1-FF0B-8A32E518B161}"/>
              </a:ext>
            </a:extLst>
          </p:cNvPr>
          <p:cNvSpPr txBox="1">
            <a:spLocks/>
          </p:cNvSpPr>
          <p:nvPr/>
        </p:nvSpPr>
        <p:spPr>
          <a:xfrm>
            <a:off x="432001" y="1010593"/>
            <a:ext cx="1763735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844083" rtl="0" eaLnBrk="1" latinLnBrk="1" hangingPunct="1">
              <a:lnSpc>
                <a:spcPct val="90000"/>
              </a:lnSpc>
              <a:spcBef>
                <a:spcPts val="923"/>
              </a:spcBef>
              <a:buFont typeface="Arial" pitchFamily="34" charset="0"/>
              <a:buNone/>
              <a:defRPr sz="2800" kern="12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  <a:cs typeface="+mn-cs"/>
              </a:defRPr>
            </a:lvl1pPr>
            <a:lvl2pPr marL="633062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103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7145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9186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2000" dirty="0"/>
              <a:t>기존 솔루션 분석</a:t>
            </a:r>
          </a:p>
        </p:txBody>
      </p:sp>
    </p:spTree>
    <p:extLst>
      <p:ext uri="{BB962C8B-B14F-4D97-AF65-F5344CB8AC3E}">
        <p14:creationId xmlns:p14="http://schemas.microsoft.com/office/powerpoint/2010/main" val="323734668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9070E-E7BC-3038-CFE5-71E21856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8AEE9E5-6F9F-A3E6-A044-445A75EA6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6B95CE-11BB-A11E-9841-9DEB0C30A4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기존 솔루션 분석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5C6282-0937-9CB4-075D-5991C01C13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1" y="636814"/>
            <a:ext cx="1907751" cy="432000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/>
              <a:t>기존 솔루션 분석 워크숍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BC3B3E-7A22-75C8-2CED-8D84692844B6}"/>
              </a:ext>
            </a:extLst>
          </p:cNvPr>
          <p:cNvSpPr txBox="1"/>
          <p:nvPr/>
        </p:nvSpPr>
        <p:spPr>
          <a:xfrm>
            <a:off x="3563888" y="692696"/>
            <a:ext cx="5146313" cy="7405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우리 솔루션을 지속가능한 솔루션으로 만들어 주기 위한 핵심가치를 도출해 봅시다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. 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페르소나 관저에서 우리가 정의한 문제를 해결하기 위해 어떤 대체재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(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솔루션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)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을 이용하고 있는지 자세히 분석하고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, 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우리만의 핵심가치를 도출해 보세요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361A1C-E272-D13B-3BA9-34D4BAA7579B}"/>
              </a:ext>
            </a:extLst>
          </p:cNvPr>
          <p:cNvSpPr/>
          <p:nvPr/>
        </p:nvSpPr>
        <p:spPr bwMode="auto">
          <a:xfrm>
            <a:off x="415452" y="1876416"/>
            <a:ext cx="8313097" cy="307884"/>
          </a:xfrm>
          <a:prstGeom prst="rect">
            <a:avLst/>
          </a:prstGeom>
          <a:solidFill>
            <a:srgbClr val="131718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0788" tIns="29326" rIns="30788" bIns="29326" numCol="1" rtlCol="0" anchor="ctr" anchorCtr="0" compatLnSpc="1">
            <a:prstTxWarp prst="textNoShape">
              <a:avLst/>
            </a:prstTxWarp>
          </a:bodyPr>
          <a:lstStyle/>
          <a:p>
            <a:pPr algn="ctr" defTabSz="861993" latinLnBrk="1">
              <a:lnSpc>
                <a:spcPct val="90000"/>
              </a:lnSpc>
              <a:spcBef>
                <a:spcPts val="942"/>
              </a:spcBef>
            </a:pPr>
            <a:r>
              <a:rPr lang="ko-KR" altLang="en-US" sz="1368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rPr>
              <a:t>페르소나</a:t>
            </a:r>
            <a:r>
              <a:rPr lang="en-US" altLang="ko-KR" sz="1368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rPr>
              <a:t>(</a:t>
            </a:r>
            <a:r>
              <a:rPr lang="ko-KR" altLang="en-US" sz="1368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rPr>
              <a:t>고객</a:t>
            </a:r>
            <a:r>
              <a:rPr lang="en-US" altLang="ko-KR" sz="1368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rPr>
              <a:t>)</a:t>
            </a:r>
            <a:endParaRPr lang="ko-Kore-KR" altLang="en-US" sz="1368" dirty="0">
              <a:solidFill>
                <a:schemeClr val="bg1"/>
              </a:solidFill>
              <a:latin typeface="하나2.0 B" panose="020B0303000000000000" pitchFamily="50" charset="-127"/>
              <a:ea typeface="하나2.0 B" panose="020B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450137-BD93-7B9D-0531-5D8EA224D811}"/>
              </a:ext>
            </a:extLst>
          </p:cNvPr>
          <p:cNvSpPr/>
          <p:nvPr/>
        </p:nvSpPr>
        <p:spPr bwMode="auto">
          <a:xfrm>
            <a:off x="415452" y="2145087"/>
            <a:ext cx="8313097" cy="322148"/>
          </a:xfrm>
          <a:prstGeom prst="rect">
            <a:avLst/>
          </a:prstGeom>
          <a:solidFill>
            <a:srgbClr val="F6F4F4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우리의 페르소나</a:t>
            </a:r>
            <a:r>
              <a:rPr lang="en-US" altLang="ko-KR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(</a:t>
            </a:r>
            <a:r>
              <a:rPr lang="ko-KR" altLang="en-US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고객</a:t>
            </a:r>
            <a:r>
              <a:rPr lang="en-US" altLang="ko-KR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/</a:t>
            </a:r>
            <a:r>
              <a:rPr lang="ko-KR" altLang="en-US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사용자</a:t>
            </a:r>
            <a:r>
              <a:rPr lang="en-US" altLang="ko-KR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)</a:t>
            </a:r>
            <a:r>
              <a:rPr lang="ko-KR" altLang="en-US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는 어떤 니즈가 있는 누구인가</a:t>
            </a:r>
            <a:r>
              <a:rPr lang="en-US" altLang="ko-KR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?</a:t>
            </a:r>
          </a:p>
        </p:txBody>
      </p:sp>
      <p:sp>
        <p:nvSpPr>
          <p:cNvPr id="8" name="Google Shape;376;p27">
            <a:extLst>
              <a:ext uri="{FF2B5EF4-FFF2-40B4-BE49-F238E27FC236}">
                <a16:creationId xmlns:a16="http://schemas.microsoft.com/office/drawing/2014/main" id="{87351A07-310E-A88E-C4D9-03F2C4215823}"/>
              </a:ext>
            </a:extLst>
          </p:cNvPr>
          <p:cNvSpPr/>
          <p:nvPr/>
        </p:nvSpPr>
        <p:spPr>
          <a:xfrm>
            <a:off x="410223" y="2672013"/>
            <a:ext cx="2703052" cy="307884"/>
          </a:xfrm>
          <a:prstGeom prst="rect">
            <a:avLst/>
          </a:prstGeom>
          <a:solidFill>
            <a:srgbClr val="585959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7000" tIns="27000" rIns="27000" bIns="27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368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기존 솔루션 </a:t>
            </a:r>
            <a:r>
              <a:rPr lang="en-US" altLang="ko-KR" sz="1368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1</a:t>
            </a:r>
            <a:endParaRPr lang="ko-KR" altLang="en-US" sz="1368" dirty="0">
              <a:solidFill>
                <a:schemeClr val="bg1"/>
              </a:solidFill>
              <a:latin typeface="하나2.0 B" panose="020B0303000000000000" pitchFamily="50" charset="-127"/>
              <a:ea typeface="하나2.0 B" panose="020B0303000000000000" pitchFamily="50" charset="-127"/>
              <a:sym typeface="Arial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212181-CF7F-1829-A188-688754B97F96}"/>
              </a:ext>
            </a:extLst>
          </p:cNvPr>
          <p:cNvSpPr/>
          <p:nvPr/>
        </p:nvSpPr>
        <p:spPr bwMode="auto">
          <a:xfrm>
            <a:off x="415613" y="2975201"/>
            <a:ext cx="2697662" cy="431286"/>
          </a:xfrm>
          <a:prstGeom prst="rect">
            <a:avLst/>
          </a:prstGeom>
          <a:solidFill>
            <a:srgbClr val="F6F4F4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페르소나는 문제를 해결하기 위해</a:t>
            </a:r>
            <a:endParaRPr lang="en-US" altLang="ko-KR" sz="1197" dirty="0">
              <a:solidFill>
                <a:schemeClr val="bg1">
                  <a:lumMod val="50000"/>
                </a:schemeClr>
              </a:solidFill>
              <a:latin typeface="하나2.0 CM" panose="020B0603000000000000" pitchFamily="50" charset="-127"/>
              <a:ea typeface="하나2.0 CM" panose="020B0603000000000000" pitchFamily="50" charset="-127"/>
            </a:endParaRPr>
          </a:p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어떤 솔루션을 사용하고 있을까</a:t>
            </a:r>
            <a:r>
              <a:rPr lang="en-US" altLang="ko-KR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?</a:t>
            </a:r>
          </a:p>
        </p:txBody>
      </p:sp>
      <p:sp>
        <p:nvSpPr>
          <p:cNvPr id="10" name="Google Shape;376;p27">
            <a:extLst>
              <a:ext uri="{FF2B5EF4-FFF2-40B4-BE49-F238E27FC236}">
                <a16:creationId xmlns:a16="http://schemas.microsoft.com/office/drawing/2014/main" id="{B3BAC195-A4B5-2C80-B256-40E417F646B9}"/>
              </a:ext>
            </a:extLst>
          </p:cNvPr>
          <p:cNvSpPr/>
          <p:nvPr/>
        </p:nvSpPr>
        <p:spPr>
          <a:xfrm>
            <a:off x="419901" y="3474455"/>
            <a:ext cx="1313153" cy="307884"/>
          </a:xfrm>
          <a:prstGeom prst="rect">
            <a:avLst/>
          </a:prstGeom>
          <a:solidFill>
            <a:srgbClr val="F6DFCD"/>
          </a:solidFill>
          <a:ln w="9525" cap="flat" cmpd="sng" algn="ctr">
            <a:solidFill>
              <a:srgbClr val="FF55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368" dirty="0">
                <a:solidFill>
                  <a:srgbClr val="FF5534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만족 포인트</a:t>
            </a:r>
            <a:endParaRPr sz="1368" dirty="0">
              <a:solidFill>
                <a:srgbClr val="FF5534"/>
              </a:solidFill>
              <a:latin typeface="하나2.0 B" panose="020B0303000000000000" pitchFamily="50" charset="-127"/>
              <a:ea typeface="하나2.0 B" panose="020B0303000000000000" pitchFamily="50" charset="-127"/>
              <a:sym typeface="Arial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043A12-B288-596E-AE31-393D7BBAB6BE}"/>
              </a:ext>
            </a:extLst>
          </p:cNvPr>
          <p:cNvSpPr/>
          <p:nvPr/>
        </p:nvSpPr>
        <p:spPr bwMode="auto">
          <a:xfrm>
            <a:off x="419901" y="3780682"/>
            <a:ext cx="1313153" cy="1098357"/>
          </a:xfrm>
          <a:prstGeom prst="rect">
            <a:avLst/>
          </a:prstGeom>
          <a:solidFill>
            <a:srgbClr val="F6F4F4"/>
          </a:solidFill>
          <a:ln w="9525" cap="flat" cmpd="sng" algn="ctr">
            <a:solidFill>
              <a:srgbClr val="FF55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1026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페르소나가</a:t>
            </a:r>
          </a:p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1026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기존 솔루션에서 얻는 가치는 무엇일까</a:t>
            </a:r>
            <a:r>
              <a:rPr lang="en-US" altLang="ko-KR" sz="1026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?</a:t>
            </a:r>
            <a:endParaRPr lang="ko-KR" altLang="en-US" sz="1026" dirty="0">
              <a:solidFill>
                <a:schemeClr val="bg1">
                  <a:lumMod val="50000"/>
                </a:schemeClr>
              </a:solidFill>
              <a:latin typeface="하나2.0 CM" panose="020B0603000000000000" pitchFamily="50" charset="-127"/>
              <a:ea typeface="하나2.0 CM" panose="020B0603000000000000" pitchFamily="50" charset="-127"/>
              <a:sym typeface="Arial"/>
            </a:endParaRPr>
          </a:p>
        </p:txBody>
      </p:sp>
      <p:sp>
        <p:nvSpPr>
          <p:cNvPr id="15" name="Google Shape;376;p27">
            <a:extLst>
              <a:ext uri="{FF2B5EF4-FFF2-40B4-BE49-F238E27FC236}">
                <a16:creationId xmlns:a16="http://schemas.microsoft.com/office/drawing/2014/main" id="{7E968923-6BF0-AB90-58EC-8257D0587E18}"/>
              </a:ext>
            </a:extLst>
          </p:cNvPr>
          <p:cNvSpPr/>
          <p:nvPr/>
        </p:nvSpPr>
        <p:spPr>
          <a:xfrm>
            <a:off x="1800122" y="3474455"/>
            <a:ext cx="1313153" cy="307884"/>
          </a:xfrm>
          <a:prstGeom prst="rect">
            <a:avLst/>
          </a:prstGeom>
          <a:solidFill>
            <a:srgbClr val="F6DFCD"/>
          </a:solidFill>
          <a:ln w="9525" cap="flat" cmpd="sng" algn="ctr">
            <a:solidFill>
              <a:srgbClr val="FF55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368" dirty="0">
                <a:solidFill>
                  <a:srgbClr val="FF5534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불만족 포인트</a:t>
            </a:r>
            <a:endParaRPr sz="1368" dirty="0">
              <a:solidFill>
                <a:srgbClr val="FF5534"/>
              </a:solidFill>
              <a:latin typeface="하나2.0 B" panose="020B0303000000000000" pitchFamily="50" charset="-127"/>
              <a:ea typeface="하나2.0 B" panose="020B0303000000000000" pitchFamily="50" charset="-127"/>
              <a:sym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565A6B-707F-E5C2-2EEC-46A8BEE70DE7}"/>
              </a:ext>
            </a:extLst>
          </p:cNvPr>
          <p:cNvSpPr/>
          <p:nvPr/>
        </p:nvSpPr>
        <p:spPr bwMode="auto">
          <a:xfrm>
            <a:off x="1800123" y="3780682"/>
            <a:ext cx="1313153" cy="1098357"/>
          </a:xfrm>
          <a:prstGeom prst="rect">
            <a:avLst/>
          </a:prstGeom>
          <a:solidFill>
            <a:srgbClr val="F6F4F4"/>
          </a:solidFill>
          <a:ln w="9525" cap="flat" cmpd="sng" algn="ctr">
            <a:solidFill>
              <a:srgbClr val="FF55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941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기존 솔루션이</a:t>
            </a:r>
          </a:p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941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만족시켜주지 못하는 한계는 무엇일까</a:t>
            </a:r>
            <a:r>
              <a:rPr lang="en-US" altLang="ko-KR" sz="941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?</a:t>
            </a:r>
            <a:endParaRPr lang="ko-KR" altLang="en-US" sz="941" dirty="0">
              <a:solidFill>
                <a:schemeClr val="bg1">
                  <a:lumMod val="50000"/>
                </a:schemeClr>
              </a:solidFill>
              <a:latin typeface="하나2.0 CM" panose="020B0603000000000000" pitchFamily="50" charset="-127"/>
              <a:ea typeface="하나2.0 CM" panose="020B0603000000000000" pitchFamily="50" charset="-127"/>
              <a:sym typeface="Arial"/>
            </a:endParaRPr>
          </a:p>
        </p:txBody>
      </p:sp>
      <p:sp>
        <p:nvSpPr>
          <p:cNvPr id="17" name="Google Shape;376;p27">
            <a:extLst>
              <a:ext uri="{FF2B5EF4-FFF2-40B4-BE49-F238E27FC236}">
                <a16:creationId xmlns:a16="http://schemas.microsoft.com/office/drawing/2014/main" id="{605D45DA-C208-6464-5BEB-E66EEB69B384}"/>
              </a:ext>
            </a:extLst>
          </p:cNvPr>
          <p:cNvSpPr/>
          <p:nvPr/>
        </p:nvSpPr>
        <p:spPr>
          <a:xfrm>
            <a:off x="3217152" y="2672013"/>
            <a:ext cx="2703052" cy="307884"/>
          </a:xfrm>
          <a:prstGeom prst="rect">
            <a:avLst/>
          </a:prstGeom>
          <a:solidFill>
            <a:srgbClr val="585959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7000" tIns="27000" rIns="27000" bIns="27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368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기존 솔루션 </a:t>
            </a:r>
            <a:r>
              <a:rPr lang="en-US" altLang="ko-KR" sz="1368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2</a:t>
            </a:r>
            <a:endParaRPr lang="ko-KR" altLang="en-US" sz="1368" dirty="0">
              <a:solidFill>
                <a:schemeClr val="bg1"/>
              </a:solidFill>
              <a:latin typeface="하나2.0 B" panose="020B0303000000000000" pitchFamily="50" charset="-127"/>
              <a:ea typeface="하나2.0 B" panose="020B0303000000000000" pitchFamily="50" charset="-127"/>
              <a:sym typeface="Arial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FE22FF-50C0-B1E4-5D39-57A846C516D7}"/>
              </a:ext>
            </a:extLst>
          </p:cNvPr>
          <p:cNvSpPr/>
          <p:nvPr/>
        </p:nvSpPr>
        <p:spPr bwMode="auto">
          <a:xfrm>
            <a:off x="3217153" y="2975201"/>
            <a:ext cx="2703052" cy="431286"/>
          </a:xfrm>
          <a:prstGeom prst="rect">
            <a:avLst/>
          </a:prstGeom>
          <a:solidFill>
            <a:srgbClr val="F6F4F4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페르소나는 문제를 해결하기 위해</a:t>
            </a:r>
            <a:endParaRPr lang="en-US" altLang="ko-KR" sz="1197" dirty="0">
              <a:solidFill>
                <a:schemeClr val="bg1">
                  <a:lumMod val="50000"/>
                </a:schemeClr>
              </a:solidFill>
              <a:latin typeface="하나2.0 CM" panose="020B0603000000000000" pitchFamily="50" charset="-127"/>
              <a:ea typeface="하나2.0 CM" panose="020B0603000000000000" pitchFamily="50" charset="-127"/>
            </a:endParaRPr>
          </a:p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어떤 솔루션을 사용하고 있을까</a:t>
            </a:r>
            <a:r>
              <a:rPr lang="en-US" altLang="ko-KR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?</a:t>
            </a:r>
          </a:p>
        </p:txBody>
      </p:sp>
      <p:sp>
        <p:nvSpPr>
          <p:cNvPr id="19" name="Google Shape;376;p27">
            <a:extLst>
              <a:ext uri="{FF2B5EF4-FFF2-40B4-BE49-F238E27FC236}">
                <a16:creationId xmlns:a16="http://schemas.microsoft.com/office/drawing/2014/main" id="{A1005CBB-EDCC-AE63-9726-FC99142220EE}"/>
              </a:ext>
            </a:extLst>
          </p:cNvPr>
          <p:cNvSpPr/>
          <p:nvPr/>
        </p:nvSpPr>
        <p:spPr>
          <a:xfrm>
            <a:off x="6020267" y="2672013"/>
            <a:ext cx="2703052" cy="307884"/>
          </a:xfrm>
          <a:prstGeom prst="rect">
            <a:avLst/>
          </a:prstGeom>
          <a:solidFill>
            <a:srgbClr val="585959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7000" tIns="27000" rIns="27000" bIns="27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368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기존 솔루션 </a:t>
            </a:r>
            <a:r>
              <a:rPr lang="en-US" altLang="ko-KR" sz="1368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3</a:t>
            </a:r>
            <a:endParaRPr lang="ko-KR" altLang="en-US" sz="1368" dirty="0">
              <a:solidFill>
                <a:schemeClr val="bg1"/>
              </a:solidFill>
              <a:latin typeface="하나2.0 B" panose="020B0303000000000000" pitchFamily="50" charset="-127"/>
              <a:ea typeface="하나2.0 B" panose="020B0303000000000000" pitchFamily="50" charset="-127"/>
              <a:sym typeface="Arial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1BA64DC-1024-B009-7322-ED1ECF5CE045}"/>
              </a:ext>
            </a:extLst>
          </p:cNvPr>
          <p:cNvSpPr/>
          <p:nvPr/>
        </p:nvSpPr>
        <p:spPr bwMode="auto">
          <a:xfrm>
            <a:off x="6020266" y="2975202"/>
            <a:ext cx="2703053" cy="431284"/>
          </a:xfrm>
          <a:prstGeom prst="rect">
            <a:avLst/>
          </a:prstGeom>
          <a:solidFill>
            <a:srgbClr val="F6F4F4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페르소나는 문제를 해결하기 위해</a:t>
            </a:r>
            <a:endParaRPr lang="en-US" altLang="ko-KR" sz="1197" dirty="0">
              <a:solidFill>
                <a:schemeClr val="bg1">
                  <a:lumMod val="50000"/>
                </a:schemeClr>
              </a:solidFill>
              <a:latin typeface="하나2.0 CM" panose="020B0603000000000000" pitchFamily="50" charset="-127"/>
              <a:ea typeface="하나2.0 CM" panose="020B0603000000000000" pitchFamily="50" charset="-127"/>
            </a:endParaRPr>
          </a:p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어떤 솔루션을 사용하고 있을까</a:t>
            </a:r>
            <a:r>
              <a:rPr lang="en-US" altLang="ko-KR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?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A24EC96-8D9D-9D18-6327-7F01A9668B44}"/>
              </a:ext>
            </a:extLst>
          </p:cNvPr>
          <p:cNvGrpSpPr/>
          <p:nvPr/>
        </p:nvGrpSpPr>
        <p:grpSpPr>
          <a:xfrm>
            <a:off x="415452" y="5061758"/>
            <a:ext cx="8313097" cy="747229"/>
            <a:chOff x="485776" y="2201368"/>
            <a:chExt cx="9720262" cy="1022960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AB63D70-B372-C91E-A877-15820E80C94E}"/>
                </a:ext>
              </a:extLst>
            </p:cNvPr>
            <p:cNvSpPr/>
            <p:nvPr/>
          </p:nvSpPr>
          <p:spPr bwMode="auto">
            <a:xfrm>
              <a:off x="485776" y="2201368"/>
              <a:ext cx="9720262" cy="421495"/>
            </a:xfrm>
            <a:prstGeom prst="rect">
              <a:avLst/>
            </a:prstGeom>
            <a:solidFill>
              <a:srgbClr val="FF5534"/>
            </a:solidFill>
            <a:ln w="9525" cap="flat" cmpd="sng" algn="ctr">
              <a:solidFill>
                <a:srgbClr val="FF553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0788" tIns="29326" rIns="30788" bIns="29326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1993" latinLnBrk="1">
                <a:spcBef>
                  <a:spcPts val="942"/>
                </a:spcBef>
              </a:pPr>
              <a:r>
                <a:rPr lang="ko-KR" altLang="en-US" sz="1368" dirty="0">
                  <a:solidFill>
                    <a:schemeClr val="bg1"/>
                  </a:solidFill>
                  <a:latin typeface="하나2.0 B" panose="020B0303000000000000" pitchFamily="50" charset="-127"/>
                  <a:ea typeface="하나2.0 B" panose="020B0303000000000000" pitchFamily="50" charset="-127"/>
                </a:rPr>
                <a:t>핵심 가치</a:t>
              </a:r>
              <a:endParaRPr lang="ko-Kore-KR" altLang="en-US" sz="1368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9B39E59-9EC4-3CD6-59B2-9F2F5B91A9A2}"/>
                </a:ext>
              </a:extLst>
            </p:cNvPr>
            <p:cNvSpPr/>
            <p:nvPr/>
          </p:nvSpPr>
          <p:spPr bwMode="auto">
            <a:xfrm>
              <a:off x="485776" y="2622865"/>
              <a:ext cx="9720262" cy="601463"/>
            </a:xfrm>
            <a:prstGeom prst="rect">
              <a:avLst/>
            </a:prstGeom>
            <a:solidFill>
              <a:srgbClr val="F6F4F4"/>
            </a:solidFill>
            <a:ln w="9525" cap="flat" cmpd="sng" algn="ctr">
              <a:solidFill>
                <a:srgbClr val="FF553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108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1190" algn="ctr" defTabSz="675075">
                <a:lnSpc>
                  <a:spcPct val="120000"/>
                </a:lnSpc>
                <a:spcAft>
                  <a:spcPct val="10000"/>
                </a:spcAft>
              </a:pPr>
              <a:r>
                <a:rPr lang="ko-KR" altLang="en-US" sz="1197" dirty="0">
                  <a:solidFill>
                    <a:schemeClr val="bg1">
                      <a:lumMod val="50000"/>
                    </a:schemeClr>
                  </a:solidFill>
                  <a:latin typeface="하나2.0 CM" panose="020B0603000000000000" pitchFamily="50" charset="-127"/>
                  <a:ea typeface="하나2.0 CM" panose="020B0603000000000000" pitchFamily="50" charset="-127"/>
                  <a:sym typeface="Wingdings"/>
                </a:rPr>
                <a:t>기존 솔루션 분석을 통해 알 수 있는 핵심 가치</a:t>
              </a:r>
              <a:endParaRPr lang="ko-Kore-KR" altLang="en-US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endParaRPr>
            </a:p>
          </p:txBody>
        </p:sp>
      </p:grpSp>
      <p:sp>
        <p:nvSpPr>
          <p:cNvPr id="24" name="Google Shape;376;p27">
            <a:extLst>
              <a:ext uri="{FF2B5EF4-FFF2-40B4-BE49-F238E27FC236}">
                <a16:creationId xmlns:a16="http://schemas.microsoft.com/office/drawing/2014/main" id="{94FAD593-FB16-92DF-66E0-088F5E32D822}"/>
              </a:ext>
            </a:extLst>
          </p:cNvPr>
          <p:cNvSpPr/>
          <p:nvPr/>
        </p:nvSpPr>
        <p:spPr>
          <a:xfrm>
            <a:off x="3217153" y="3474455"/>
            <a:ext cx="1317872" cy="307884"/>
          </a:xfrm>
          <a:prstGeom prst="rect">
            <a:avLst/>
          </a:prstGeom>
          <a:solidFill>
            <a:srgbClr val="F6DFCD"/>
          </a:solidFill>
          <a:ln w="9525" cap="flat" cmpd="sng" algn="ctr">
            <a:solidFill>
              <a:srgbClr val="FF55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368" dirty="0">
                <a:solidFill>
                  <a:srgbClr val="FF5534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만족 포인트</a:t>
            </a:r>
            <a:endParaRPr sz="1368" dirty="0">
              <a:solidFill>
                <a:srgbClr val="FF5534"/>
              </a:solidFill>
              <a:latin typeface="하나2.0 B" panose="020B0303000000000000" pitchFamily="50" charset="-127"/>
              <a:ea typeface="하나2.0 B" panose="020B0303000000000000" pitchFamily="50" charset="-127"/>
              <a:sym typeface="Arial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1DC622E-1D53-23D0-00CC-55B2D8AC1643}"/>
              </a:ext>
            </a:extLst>
          </p:cNvPr>
          <p:cNvSpPr/>
          <p:nvPr/>
        </p:nvSpPr>
        <p:spPr bwMode="auto">
          <a:xfrm>
            <a:off x="3217153" y="3780682"/>
            <a:ext cx="1317872" cy="1098357"/>
          </a:xfrm>
          <a:prstGeom prst="rect">
            <a:avLst/>
          </a:prstGeom>
          <a:solidFill>
            <a:srgbClr val="F6F4F4"/>
          </a:solidFill>
          <a:ln w="9525" cap="flat" cmpd="sng" algn="ctr">
            <a:solidFill>
              <a:srgbClr val="FF55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1026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페르소나가</a:t>
            </a:r>
          </a:p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1026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기존 솔루션에서 얻는 가치는 무엇일까</a:t>
            </a:r>
            <a:r>
              <a:rPr lang="en-US" altLang="ko-KR" sz="1026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?</a:t>
            </a:r>
            <a:endParaRPr lang="ko-KR" altLang="en-US" sz="1026" dirty="0">
              <a:solidFill>
                <a:schemeClr val="bg1">
                  <a:lumMod val="50000"/>
                </a:schemeClr>
              </a:solidFill>
              <a:latin typeface="하나2.0 CM" panose="020B0603000000000000" pitchFamily="50" charset="-127"/>
              <a:ea typeface="하나2.0 CM" panose="020B0603000000000000" pitchFamily="50" charset="-127"/>
              <a:sym typeface="Arial"/>
            </a:endParaRPr>
          </a:p>
        </p:txBody>
      </p:sp>
      <p:sp>
        <p:nvSpPr>
          <p:cNvPr id="26" name="Google Shape;376;p27">
            <a:extLst>
              <a:ext uri="{FF2B5EF4-FFF2-40B4-BE49-F238E27FC236}">
                <a16:creationId xmlns:a16="http://schemas.microsoft.com/office/drawing/2014/main" id="{EA9DEC32-E3B7-E27C-0865-2E7DCD72B8D9}"/>
              </a:ext>
            </a:extLst>
          </p:cNvPr>
          <p:cNvSpPr/>
          <p:nvPr/>
        </p:nvSpPr>
        <p:spPr>
          <a:xfrm>
            <a:off x="4602332" y="3474455"/>
            <a:ext cx="1317872" cy="307884"/>
          </a:xfrm>
          <a:prstGeom prst="rect">
            <a:avLst/>
          </a:prstGeom>
          <a:solidFill>
            <a:srgbClr val="F6DFCD"/>
          </a:solidFill>
          <a:ln w="9525" cap="flat" cmpd="sng" algn="ctr">
            <a:solidFill>
              <a:srgbClr val="FF55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368" dirty="0">
                <a:solidFill>
                  <a:srgbClr val="FF5534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불만족 포인트</a:t>
            </a:r>
            <a:endParaRPr sz="1368" dirty="0">
              <a:solidFill>
                <a:srgbClr val="FF5534"/>
              </a:solidFill>
              <a:latin typeface="하나2.0 B" panose="020B0303000000000000" pitchFamily="50" charset="-127"/>
              <a:ea typeface="하나2.0 B" panose="020B0303000000000000" pitchFamily="50" charset="-127"/>
              <a:sym typeface="Arial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71037BB-ACC7-B35C-DD41-4FD82FA43CC3}"/>
              </a:ext>
            </a:extLst>
          </p:cNvPr>
          <p:cNvSpPr/>
          <p:nvPr/>
        </p:nvSpPr>
        <p:spPr bwMode="auto">
          <a:xfrm>
            <a:off x="4602333" y="3780682"/>
            <a:ext cx="1317872" cy="1098357"/>
          </a:xfrm>
          <a:prstGeom prst="rect">
            <a:avLst/>
          </a:prstGeom>
          <a:solidFill>
            <a:srgbClr val="F6F4F4"/>
          </a:solidFill>
          <a:ln w="9525" cap="flat" cmpd="sng" algn="ctr">
            <a:solidFill>
              <a:srgbClr val="FF55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941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기존 솔루션이</a:t>
            </a:r>
          </a:p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941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만족시켜주지 못하는 한계는 무엇일까</a:t>
            </a:r>
            <a:r>
              <a:rPr lang="en-US" altLang="ko-KR" sz="941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?</a:t>
            </a:r>
            <a:endParaRPr lang="ko-KR" altLang="en-US" sz="941" dirty="0">
              <a:solidFill>
                <a:schemeClr val="bg1">
                  <a:lumMod val="50000"/>
                </a:schemeClr>
              </a:solidFill>
              <a:latin typeface="하나2.0 CM" panose="020B0603000000000000" pitchFamily="50" charset="-127"/>
              <a:ea typeface="하나2.0 CM" panose="020B0603000000000000" pitchFamily="50" charset="-127"/>
              <a:sym typeface="Arial"/>
            </a:endParaRPr>
          </a:p>
        </p:txBody>
      </p:sp>
      <p:sp>
        <p:nvSpPr>
          <p:cNvPr id="28" name="Google Shape;376;p27">
            <a:extLst>
              <a:ext uri="{FF2B5EF4-FFF2-40B4-BE49-F238E27FC236}">
                <a16:creationId xmlns:a16="http://schemas.microsoft.com/office/drawing/2014/main" id="{64B050FA-8386-D1D0-B609-1B140F84CC16}"/>
              </a:ext>
            </a:extLst>
          </p:cNvPr>
          <p:cNvSpPr/>
          <p:nvPr/>
        </p:nvSpPr>
        <p:spPr>
          <a:xfrm>
            <a:off x="6020266" y="3474455"/>
            <a:ext cx="1317872" cy="307884"/>
          </a:xfrm>
          <a:prstGeom prst="rect">
            <a:avLst/>
          </a:prstGeom>
          <a:solidFill>
            <a:srgbClr val="F6DFCD"/>
          </a:solidFill>
          <a:ln w="9525" cap="flat" cmpd="sng" algn="ctr">
            <a:solidFill>
              <a:srgbClr val="FF55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368" dirty="0">
                <a:solidFill>
                  <a:srgbClr val="FF5534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만족 포인트</a:t>
            </a:r>
            <a:endParaRPr sz="1368" dirty="0">
              <a:solidFill>
                <a:srgbClr val="FF5534"/>
              </a:solidFill>
              <a:latin typeface="하나2.0 B" panose="020B0303000000000000" pitchFamily="50" charset="-127"/>
              <a:ea typeface="하나2.0 B" panose="020B0303000000000000" pitchFamily="50" charset="-127"/>
              <a:sym typeface="Arial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57A2F9E-436D-0B35-11E4-624CFBC93E87}"/>
              </a:ext>
            </a:extLst>
          </p:cNvPr>
          <p:cNvSpPr/>
          <p:nvPr/>
        </p:nvSpPr>
        <p:spPr bwMode="auto">
          <a:xfrm>
            <a:off x="6020266" y="3780682"/>
            <a:ext cx="1317872" cy="1098357"/>
          </a:xfrm>
          <a:prstGeom prst="rect">
            <a:avLst/>
          </a:prstGeom>
          <a:solidFill>
            <a:srgbClr val="F6F4F4"/>
          </a:solidFill>
          <a:ln w="9525" cap="flat" cmpd="sng" algn="ctr">
            <a:solidFill>
              <a:srgbClr val="FF55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1026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페르소나가</a:t>
            </a:r>
          </a:p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1026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기존 솔루션에서 얻는 가치는 무엇일까</a:t>
            </a:r>
            <a:r>
              <a:rPr lang="en-US" altLang="ko-KR" sz="1026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?</a:t>
            </a:r>
            <a:endParaRPr lang="ko-KR" altLang="en-US" sz="1026" dirty="0">
              <a:solidFill>
                <a:schemeClr val="bg1">
                  <a:lumMod val="50000"/>
                </a:schemeClr>
              </a:solidFill>
              <a:latin typeface="하나2.0 CM" panose="020B0603000000000000" pitchFamily="50" charset="-127"/>
              <a:ea typeface="하나2.0 CM" panose="020B0603000000000000" pitchFamily="50" charset="-127"/>
              <a:sym typeface="Arial"/>
            </a:endParaRPr>
          </a:p>
        </p:txBody>
      </p:sp>
      <p:sp>
        <p:nvSpPr>
          <p:cNvPr id="30" name="Google Shape;376;p27">
            <a:extLst>
              <a:ext uri="{FF2B5EF4-FFF2-40B4-BE49-F238E27FC236}">
                <a16:creationId xmlns:a16="http://schemas.microsoft.com/office/drawing/2014/main" id="{88EA2D57-66C2-FBC8-9FEF-E725519E19BC}"/>
              </a:ext>
            </a:extLst>
          </p:cNvPr>
          <p:cNvSpPr/>
          <p:nvPr/>
        </p:nvSpPr>
        <p:spPr>
          <a:xfrm>
            <a:off x="7405446" y="3474455"/>
            <a:ext cx="1317872" cy="307884"/>
          </a:xfrm>
          <a:prstGeom prst="rect">
            <a:avLst/>
          </a:prstGeom>
          <a:solidFill>
            <a:srgbClr val="F6DFCD"/>
          </a:solidFill>
          <a:ln w="9525" cap="flat" cmpd="sng" algn="ctr">
            <a:solidFill>
              <a:srgbClr val="FF55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368" dirty="0">
                <a:solidFill>
                  <a:srgbClr val="FF5534"/>
                </a:solidFill>
                <a:latin typeface="하나2.0 B" panose="020B0303000000000000" pitchFamily="50" charset="-127"/>
                <a:ea typeface="하나2.0 B" panose="020B0303000000000000" pitchFamily="50" charset="-127"/>
                <a:sym typeface="Arial"/>
              </a:rPr>
              <a:t>불만족 포인트</a:t>
            </a:r>
            <a:endParaRPr sz="1368" dirty="0">
              <a:solidFill>
                <a:srgbClr val="FF5534"/>
              </a:solidFill>
              <a:latin typeface="하나2.0 B" panose="020B0303000000000000" pitchFamily="50" charset="-127"/>
              <a:ea typeface="하나2.0 B" panose="020B0303000000000000" pitchFamily="50" charset="-127"/>
              <a:sym typeface="Arial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DEC04A3-8C29-59B5-BFEA-4288F0289AF3}"/>
              </a:ext>
            </a:extLst>
          </p:cNvPr>
          <p:cNvSpPr/>
          <p:nvPr/>
        </p:nvSpPr>
        <p:spPr bwMode="auto">
          <a:xfrm>
            <a:off x="7405447" y="3780682"/>
            <a:ext cx="1317872" cy="1098357"/>
          </a:xfrm>
          <a:prstGeom prst="rect">
            <a:avLst/>
          </a:prstGeom>
          <a:solidFill>
            <a:srgbClr val="F6F4F4"/>
          </a:solidFill>
          <a:ln w="9525" cap="flat" cmpd="sng" algn="ctr">
            <a:solidFill>
              <a:srgbClr val="FF553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108000" bIns="0" numCol="1" rtlCol="0" anchor="ctr" anchorCtr="0" compatLnSpc="1">
            <a:prstTxWarp prst="textNoShape">
              <a:avLst/>
            </a:prstTxWarp>
          </a:bodyPr>
          <a:lstStyle/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941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기존 솔루션이</a:t>
            </a:r>
          </a:p>
          <a:p>
            <a:pPr marL="1190" algn="ctr" defTabSz="675075">
              <a:lnSpc>
                <a:spcPct val="120000"/>
              </a:lnSpc>
              <a:spcAft>
                <a:spcPct val="10000"/>
              </a:spcAft>
            </a:pPr>
            <a:r>
              <a:rPr lang="ko-KR" altLang="en-US" sz="941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만족시켜주지 못하는 한계는 무엇일까</a:t>
            </a:r>
            <a:r>
              <a:rPr lang="en-US" altLang="ko-KR" sz="941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  <a:sym typeface="Arial"/>
              </a:rPr>
              <a:t>?</a:t>
            </a:r>
            <a:endParaRPr lang="ko-KR" altLang="en-US" sz="941" dirty="0">
              <a:solidFill>
                <a:schemeClr val="bg1">
                  <a:lumMod val="50000"/>
                </a:schemeClr>
              </a:solidFill>
              <a:latin typeface="하나2.0 CM" panose="020B0603000000000000" pitchFamily="50" charset="-127"/>
              <a:ea typeface="하나2.0 CM" panose="020B0603000000000000" pitchFamily="50" charset="-127"/>
              <a:sym typeface="Arial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E01D1BB-6A62-5F11-00DF-7B3B536704DB}"/>
              </a:ext>
            </a:extLst>
          </p:cNvPr>
          <p:cNvGrpSpPr/>
          <p:nvPr/>
        </p:nvGrpSpPr>
        <p:grpSpPr>
          <a:xfrm>
            <a:off x="1657181" y="2490526"/>
            <a:ext cx="5649494" cy="139558"/>
            <a:chOff x="1937693" y="2923079"/>
            <a:chExt cx="6605788" cy="217194"/>
          </a:xfrm>
        </p:grpSpPr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20803F5F-464D-270C-4080-571184BC113C}"/>
                </a:ext>
              </a:extLst>
            </p:cNvPr>
            <p:cNvCxnSpPr>
              <a:cxnSpLocks/>
            </p:cNvCxnSpPr>
            <p:nvPr/>
          </p:nvCxnSpPr>
          <p:spPr>
            <a:xfrm>
              <a:off x="5345115" y="2939651"/>
              <a:ext cx="0" cy="184051"/>
            </a:xfrm>
            <a:prstGeom prst="straightConnector1">
              <a:avLst/>
            </a:prstGeom>
            <a:ln w="19050">
              <a:solidFill>
                <a:srgbClr val="FF5534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C3B2A71C-9C67-C0CB-D0BF-233633371A50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2046290" y="2923079"/>
              <a:ext cx="0" cy="217194"/>
            </a:xfrm>
            <a:prstGeom prst="straightConnector1">
              <a:avLst/>
            </a:prstGeom>
            <a:ln w="19050">
              <a:solidFill>
                <a:srgbClr val="FF5534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5BFB819C-080D-BBBA-8227-06CDCEDA9303}"/>
                </a:ext>
              </a:extLst>
            </p:cNvPr>
            <p:cNvCxnSpPr>
              <a:cxnSpLocks/>
            </p:cNvCxnSpPr>
            <p:nvPr/>
          </p:nvCxnSpPr>
          <p:spPr>
            <a:xfrm rot="18900000" flipH="1">
              <a:off x="8543481" y="2923079"/>
              <a:ext cx="0" cy="217194"/>
            </a:xfrm>
            <a:prstGeom prst="straightConnector1">
              <a:avLst/>
            </a:prstGeom>
            <a:ln w="19050">
              <a:solidFill>
                <a:srgbClr val="FF5534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7548C783-7F16-D807-94A6-5A960AFDB50F}"/>
              </a:ext>
            </a:extLst>
          </p:cNvPr>
          <p:cNvCxnSpPr>
            <a:cxnSpLocks/>
          </p:cNvCxnSpPr>
          <p:nvPr/>
        </p:nvCxnSpPr>
        <p:spPr>
          <a:xfrm>
            <a:off x="4571324" y="4907027"/>
            <a:ext cx="0" cy="123154"/>
          </a:xfrm>
          <a:prstGeom prst="straightConnector1">
            <a:avLst/>
          </a:prstGeom>
          <a:ln w="19050">
            <a:solidFill>
              <a:srgbClr val="FF5534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23659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E42B9-18FF-7801-6DDF-61AEB47EF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B4D5D66-EC2F-B102-252F-04B9C8C994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469395-F660-B44B-3A77-279D9E7BA0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기존 솔루션 분석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BB3959-F0B9-B3F5-E502-A76A046467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1" y="636814"/>
            <a:ext cx="1907751" cy="432000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/>
              <a:t>기존 솔루션 분석 워크숍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3FD80D0-3464-B72D-B6CC-1F5977D7E84F}"/>
              </a:ext>
            </a:extLst>
          </p:cNvPr>
          <p:cNvGrpSpPr/>
          <p:nvPr/>
        </p:nvGrpSpPr>
        <p:grpSpPr>
          <a:xfrm>
            <a:off x="414773" y="3059648"/>
            <a:ext cx="8313097" cy="2893543"/>
            <a:chOff x="485776" y="48358"/>
            <a:chExt cx="9720262" cy="3961271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7E7AC56-6AC2-513B-D647-AB7B4710872F}"/>
                </a:ext>
              </a:extLst>
            </p:cNvPr>
            <p:cNvSpPr/>
            <p:nvPr/>
          </p:nvSpPr>
          <p:spPr bwMode="auto">
            <a:xfrm>
              <a:off x="485776" y="48358"/>
              <a:ext cx="9720262" cy="427641"/>
            </a:xfrm>
            <a:prstGeom prst="rect">
              <a:avLst/>
            </a:prstGeom>
            <a:solidFill>
              <a:srgbClr val="131718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0788" tIns="29326" rIns="30788" bIns="29326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1993" latinLnBrk="1">
                <a:spcBef>
                  <a:spcPts val="942"/>
                </a:spcBef>
              </a:pPr>
              <a:r>
                <a:rPr lang="ko-KR" altLang="en-US" sz="1368" dirty="0">
                  <a:solidFill>
                    <a:srgbClr val="FF5534"/>
                  </a:solidFill>
                  <a:latin typeface="하나2.0 B" panose="020B0303000000000000" pitchFamily="50" charset="-127"/>
                  <a:ea typeface="하나2.0 B" panose="020B0303000000000000" pitchFamily="50" charset="-127"/>
                </a:rPr>
                <a:t>솔루션 아이디어</a:t>
              </a:r>
              <a:endParaRPr lang="ko-Kore-KR" altLang="en-US" sz="1368" dirty="0">
                <a:solidFill>
                  <a:srgbClr val="FF5534"/>
                </a:solidFill>
                <a:latin typeface="하나2.0 B" panose="020B0303000000000000" pitchFamily="50" charset="-127"/>
                <a:ea typeface="하나2.0 B" panose="020B0303000000000000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F9D52FB-A848-5A47-A928-C51B28127F5C}"/>
                </a:ext>
              </a:extLst>
            </p:cNvPr>
            <p:cNvSpPr/>
            <p:nvPr/>
          </p:nvSpPr>
          <p:spPr bwMode="auto">
            <a:xfrm>
              <a:off x="485776" y="475999"/>
              <a:ext cx="9720262" cy="3533630"/>
            </a:xfrm>
            <a:prstGeom prst="rect">
              <a:avLst/>
            </a:prstGeom>
            <a:solidFill>
              <a:srgbClr val="F6F4F4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108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1190" algn="ctr" defTabSz="675075">
                <a:lnSpc>
                  <a:spcPct val="120000"/>
                </a:lnSpc>
                <a:spcAft>
                  <a:spcPct val="10000"/>
                </a:spcAft>
              </a:pPr>
              <a:r>
                <a:rPr lang="ko-KR" altLang="en-US" sz="1197" dirty="0">
                  <a:solidFill>
                    <a:schemeClr val="bg1">
                      <a:lumMod val="50000"/>
                    </a:schemeClr>
                  </a:solidFill>
                  <a:latin typeface="하나2.0 CM" panose="020B0603000000000000" pitchFamily="50" charset="-127"/>
                  <a:ea typeface="하나2.0 CM" panose="020B0603000000000000" pitchFamily="50" charset="-127"/>
                </a:rPr>
                <a:t>핵심 가치를 담을 수 있는 아이디어</a:t>
              </a:r>
              <a:endParaRPr lang="ko-Kore-KR" altLang="en-US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98CA7B9-FB35-886B-4B8C-CFBC9168FE06}"/>
              </a:ext>
            </a:extLst>
          </p:cNvPr>
          <p:cNvGrpSpPr/>
          <p:nvPr/>
        </p:nvGrpSpPr>
        <p:grpSpPr>
          <a:xfrm>
            <a:off x="415452" y="2011833"/>
            <a:ext cx="8313097" cy="747229"/>
            <a:chOff x="485776" y="2201368"/>
            <a:chExt cx="9720262" cy="1022960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BF657DED-3A65-D93B-5FC4-55C3D488ABB1}"/>
                </a:ext>
              </a:extLst>
            </p:cNvPr>
            <p:cNvSpPr/>
            <p:nvPr/>
          </p:nvSpPr>
          <p:spPr bwMode="auto">
            <a:xfrm>
              <a:off x="485776" y="2201368"/>
              <a:ext cx="9720262" cy="421495"/>
            </a:xfrm>
            <a:prstGeom prst="rect">
              <a:avLst/>
            </a:prstGeom>
            <a:solidFill>
              <a:srgbClr val="FF5534"/>
            </a:solidFill>
            <a:ln w="9525" cap="flat" cmpd="sng" algn="ctr">
              <a:solidFill>
                <a:srgbClr val="FF553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0788" tIns="29326" rIns="30788" bIns="29326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61993" latinLnBrk="1">
                <a:spcBef>
                  <a:spcPts val="942"/>
                </a:spcBef>
              </a:pPr>
              <a:r>
                <a:rPr lang="ko-KR" altLang="en-US" sz="1368" dirty="0">
                  <a:solidFill>
                    <a:schemeClr val="bg1"/>
                  </a:solidFill>
                  <a:latin typeface="하나2.0 B" panose="020B0303000000000000" pitchFamily="50" charset="-127"/>
                  <a:ea typeface="하나2.0 B" panose="020B0303000000000000" pitchFamily="50" charset="-127"/>
                </a:rPr>
                <a:t>핵심 가치</a:t>
              </a:r>
              <a:endParaRPr lang="ko-Kore-KR" altLang="en-US" sz="1368" dirty="0">
                <a:solidFill>
                  <a:schemeClr val="bg1"/>
                </a:solidFill>
                <a:latin typeface="하나2.0 B" panose="020B0303000000000000" pitchFamily="50" charset="-127"/>
                <a:ea typeface="하나2.0 B" panose="020B0303000000000000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C338BE2-2055-D128-5AA4-537E6606FA21}"/>
                </a:ext>
              </a:extLst>
            </p:cNvPr>
            <p:cNvSpPr/>
            <p:nvPr/>
          </p:nvSpPr>
          <p:spPr bwMode="auto">
            <a:xfrm>
              <a:off x="485776" y="2622865"/>
              <a:ext cx="9720262" cy="601463"/>
            </a:xfrm>
            <a:prstGeom prst="rect">
              <a:avLst/>
            </a:prstGeom>
            <a:solidFill>
              <a:srgbClr val="F6F4F4"/>
            </a:solidFill>
            <a:ln w="9525" cap="flat" cmpd="sng" algn="ctr">
              <a:solidFill>
                <a:srgbClr val="FF553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108000" bIns="0" numCol="1" rtlCol="0" anchor="ctr" anchorCtr="0" compatLnSpc="1">
              <a:prstTxWarp prst="textNoShape">
                <a:avLst/>
              </a:prstTxWarp>
            </a:bodyPr>
            <a:lstStyle/>
            <a:p>
              <a:pPr marL="1190" algn="ctr" defTabSz="675075">
                <a:lnSpc>
                  <a:spcPct val="120000"/>
                </a:lnSpc>
                <a:spcAft>
                  <a:spcPct val="10000"/>
                </a:spcAft>
              </a:pPr>
              <a:r>
                <a:rPr lang="ko-KR" altLang="en-US" sz="1197" dirty="0">
                  <a:solidFill>
                    <a:schemeClr val="bg1">
                      <a:lumMod val="50000"/>
                    </a:schemeClr>
                  </a:solidFill>
                  <a:latin typeface="하나2.0 CM" panose="020B0603000000000000" pitchFamily="50" charset="-127"/>
                  <a:ea typeface="하나2.0 CM" panose="020B0603000000000000" pitchFamily="50" charset="-127"/>
                  <a:sym typeface="Wingdings"/>
                </a:rPr>
                <a:t>기존 솔루션 분석을 통해 알 수 있는 핵심 가치</a:t>
              </a:r>
              <a:endParaRPr lang="ko-Kore-KR" altLang="en-US" sz="1197" dirty="0">
                <a:solidFill>
                  <a:schemeClr val="bg1">
                    <a:lumMod val="5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endParaRPr>
            </a:p>
          </p:txBody>
        </p:sp>
      </p:grp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42CCE71-7DDB-F2CA-BD9A-B5C5B3D19568}"/>
              </a:ext>
            </a:extLst>
          </p:cNvPr>
          <p:cNvCxnSpPr>
            <a:cxnSpLocks/>
          </p:cNvCxnSpPr>
          <p:nvPr/>
        </p:nvCxnSpPr>
        <p:spPr>
          <a:xfrm>
            <a:off x="4571324" y="1857103"/>
            <a:ext cx="0" cy="123154"/>
          </a:xfrm>
          <a:prstGeom prst="straightConnector1">
            <a:avLst/>
          </a:prstGeom>
          <a:ln w="19050">
            <a:solidFill>
              <a:srgbClr val="FF5534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37657E4-29A1-A327-2F6B-B75EE84CF71B}"/>
              </a:ext>
            </a:extLst>
          </p:cNvPr>
          <p:cNvCxnSpPr>
            <a:cxnSpLocks/>
          </p:cNvCxnSpPr>
          <p:nvPr/>
        </p:nvCxnSpPr>
        <p:spPr>
          <a:xfrm>
            <a:off x="4571324" y="2868523"/>
            <a:ext cx="0" cy="123154"/>
          </a:xfrm>
          <a:prstGeom prst="straightConnector1">
            <a:avLst/>
          </a:prstGeom>
          <a:ln w="19050">
            <a:solidFill>
              <a:srgbClr val="FF5534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17AE4C0-1623-A451-55E2-F4126F8395B5}"/>
              </a:ext>
            </a:extLst>
          </p:cNvPr>
          <p:cNvSpPr txBox="1"/>
          <p:nvPr/>
        </p:nvSpPr>
        <p:spPr>
          <a:xfrm>
            <a:off x="3563888" y="692696"/>
            <a:ext cx="5146313" cy="2327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우리가 도출한 핵심가치를 바탕으로 </a:t>
            </a:r>
            <a:r>
              <a:rPr lang="ko-KR" altLang="en-US" sz="1100">
                <a:latin typeface="하나2.0 M" panose="020B0603000000000000" pitchFamily="50" charset="-127"/>
                <a:ea typeface="하나2.0 M" panose="020B0603000000000000" pitchFamily="50" charset="-127"/>
              </a:rPr>
              <a:t>솔루션 아이디어를 최대한 많이 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정리해 주세요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137729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B8746-7905-94D6-C12C-1B0CD52A8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9428A14-5886-0356-E7EF-035462C9A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615608"/>
              </p:ext>
            </p:extLst>
          </p:nvPr>
        </p:nvGraphicFramePr>
        <p:xfrm>
          <a:off x="433799" y="1988840"/>
          <a:ext cx="8276402" cy="2931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6402">
                  <a:extLst>
                    <a:ext uri="{9D8B030D-6E8A-4147-A177-3AD203B41FA5}">
                      <a16:colId xmlns:a16="http://schemas.microsoft.com/office/drawing/2014/main" val="1253396727"/>
                    </a:ext>
                  </a:extLst>
                </a:gridCol>
              </a:tblGrid>
              <a:tr h="3068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워크숍 </a:t>
                      </a:r>
                      <a:r>
                        <a:rPr lang="en-US" altLang="ko-KR" sz="1400" dirty="0"/>
                        <a:t>Tips</a:t>
                      </a:r>
                      <a:endParaRPr lang="ko-KR" alt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41767"/>
                  </a:ext>
                </a:extLst>
              </a:tr>
              <a:tr h="2610916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/>
                        <a:t>고객 관점에서 문제를 해결하기 위해 기존에 어떤 대체재를 사용하고 있는지 조사하고</a:t>
                      </a:r>
                      <a:r>
                        <a:rPr lang="en-US" altLang="ko-KR" sz="1400" b="0" dirty="0"/>
                        <a:t>,</a:t>
                      </a:r>
                      <a:r>
                        <a:rPr lang="ko-KR" altLang="en-US" sz="1400" b="0" dirty="0"/>
                        <a:t> 가장 많이 사용하는 대체재부터 정리해 주세요</a:t>
                      </a:r>
                      <a:r>
                        <a:rPr lang="en-US" altLang="ko-KR" sz="1400" b="0" dirty="0"/>
                        <a:t>.</a:t>
                      </a:r>
                      <a:endParaRPr lang="ko-KR" altLang="en-US" sz="1400" b="0" dirty="0"/>
                    </a:p>
                    <a:p>
                      <a:pPr lvl="1">
                        <a:lnSpc>
                          <a:spcPct val="150000"/>
                        </a:lnSpc>
                      </a:pPr>
                      <a:endParaRPr lang="en-US" altLang="ko-KR" sz="1400" b="0" dirty="0"/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/>
                        <a:t>만족</a:t>
                      </a:r>
                      <a:r>
                        <a:rPr lang="en-US" altLang="ko-KR" sz="1400" b="0" dirty="0"/>
                        <a:t>/</a:t>
                      </a:r>
                      <a:r>
                        <a:rPr lang="ko-KR" altLang="en-US" sz="1400" b="0" dirty="0"/>
                        <a:t>불만족을 분석할 때는 만족하는 요소보다 불만족하는 요소가 무엇이고</a:t>
                      </a:r>
                      <a:r>
                        <a:rPr lang="en-US" altLang="ko-KR" sz="1400" b="0" dirty="0"/>
                        <a:t>, </a:t>
                      </a:r>
                      <a:r>
                        <a:rPr lang="ko-KR" altLang="en-US" sz="1400" b="0" dirty="0"/>
                        <a:t>해결되지 못하는 한계는 무엇인지 고민해 주세요</a:t>
                      </a:r>
                      <a:r>
                        <a:rPr lang="en-US" altLang="ko-KR" sz="1400" b="0" dirty="0"/>
                        <a:t>. </a:t>
                      </a:r>
                      <a:r>
                        <a:rPr lang="ko-KR" altLang="en-US" sz="1400" b="0" dirty="0"/>
                        <a:t>이것이 우리의 핵심가치가 될 가능성이 높습니다</a:t>
                      </a:r>
                      <a:r>
                        <a:rPr lang="en-US" altLang="ko-KR" sz="1400" b="0" dirty="0"/>
                        <a:t>. </a:t>
                      </a:r>
                      <a:endParaRPr lang="ko-KR" altLang="en-US" sz="1400" b="0" dirty="0"/>
                    </a:p>
                    <a:p>
                      <a:pPr lvl="1">
                        <a:lnSpc>
                          <a:spcPct val="150000"/>
                        </a:lnSpc>
                      </a:pPr>
                      <a:endParaRPr lang="en-US" altLang="ko-KR" sz="1400" b="0" dirty="0"/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/>
                        <a:t>우리가 도출한 핵심가치를 기반으로 </a:t>
                      </a:r>
                      <a:r>
                        <a:rPr lang="en-US" altLang="ko-KR" sz="1400" b="0" dirty="0"/>
                        <a:t>‘</a:t>
                      </a:r>
                      <a:r>
                        <a:rPr lang="ko-KR" altLang="en-US" sz="1400" b="0" dirty="0"/>
                        <a:t>고객을 설득</a:t>
                      </a:r>
                      <a:r>
                        <a:rPr lang="en-US" altLang="ko-KR" sz="1400" b="0" dirty="0"/>
                        <a:t>’</a:t>
                      </a:r>
                      <a:r>
                        <a:rPr lang="ko-KR" altLang="en-US" sz="1400" b="0" dirty="0"/>
                        <a:t>시키기 위한 솔루션을 한 문장으로 정리하고</a:t>
                      </a:r>
                      <a:r>
                        <a:rPr lang="en-US" altLang="ko-KR" sz="1400" b="0" dirty="0"/>
                        <a:t>, </a:t>
                      </a:r>
                      <a:r>
                        <a:rPr lang="ko-KR" altLang="en-US" sz="1400" b="0" dirty="0"/>
                        <a:t>솔루션과 관련된 다양한 아이디어를 브레인스토밍 해주세요</a:t>
                      </a:r>
                      <a:r>
                        <a:rPr lang="en-US" altLang="ko-KR" sz="1400" b="0" dirty="0"/>
                        <a:t>.</a:t>
                      </a:r>
                      <a:endParaRPr lang="ko-KR" altLang="en-US" sz="1400" b="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937487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FE5CA98-6358-F3CC-EA3C-1653EE57E3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EA01EB-D0E6-DD20-60CD-20C3FE2A10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기존 솔루션 분석 워크숍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610054D8-29DB-655D-881E-C53778F7A551}"/>
              </a:ext>
            </a:extLst>
          </p:cNvPr>
          <p:cNvSpPr txBox="1">
            <a:spLocks/>
          </p:cNvSpPr>
          <p:nvPr/>
        </p:nvSpPr>
        <p:spPr>
          <a:xfrm>
            <a:off x="432001" y="636814"/>
            <a:ext cx="1835743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844083" rtl="0" eaLnBrk="1" latinLnBrk="1" hangingPunct="1">
              <a:lnSpc>
                <a:spcPct val="90000"/>
              </a:lnSpc>
              <a:spcBef>
                <a:spcPts val="923"/>
              </a:spcBef>
              <a:buFont typeface="Arial" pitchFamily="34" charset="0"/>
              <a:buNone/>
              <a:defRPr sz="2800" kern="12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  <a:cs typeface="+mn-cs"/>
              </a:defRPr>
            </a:lvl1pPr>
            <a:lvl2pPr marL="633062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103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7145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9186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2000" dirty="0"/>
              <a:t>기존 솔루션 분석 워크숍 </a:t>
            </a:r>
            <a:r>
              <a:rPr lang="en-US" altLang="ko-KR" sz="2000" dirty="0"/>
              <a:t>Tips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2100315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3F1E2-9347-1E43-7707-B33B5DB7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43BCE2-86E7-C3CB-3F43-E422EE42B9E4}"/>
              </a:ext>
            </a:extLst>
          </p:cNvPr>
          <p:cNvSpPr txBox="1"/>
          <p:nvPr/>
        </p:nvSpPr>
        <p:spPr>
          <a:xfrm>
            <a:off x="415452" y="686168"/>
            <a:ext cx="4156549" cy="1566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4789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관점도출</a:t>
            </a:r>
            <a:endParaRPr kumimoji="1" lang="en-US" altLang="ko-KR" sz="4789" dirty="0">
              <a:latin typeface="하나2.0 B" panose="020B0303000000000000" pitchFamily="50" charset="-127"/>
              <a:ea typeface="하나2.0 B" panose="020B0303000000000000" pitchFamily="50" charset="-127"/>
              <a:cs typeface="KoPubWorld돋움체 Medium" panose="00000600000000000000" pitchFamily="2" charset="-127"/>
            </a:endParaRPr>
          </a:p>
          <a:p>
            <a:r>
              <a:rPr kumimoji="1" lang="ko-KR" altLang="en-US" sz="4789" dirty="0">
                <a:latin typeface="하나2.0 B" panose="020B0303000000000000" pitchFamily="50" charset="-127"/>
                <a:ea typeface="하나2.0 B" panose="020B0303000000000000" pitchFamily="50" charset="-127"/>
                <a:cs typeface="KoPubWorld돋움체 Medium" panose="00000600000000000000" pitchFamily="2" charset="-127"/>
              </a:rPr>
              <a:t>워크숍</a:t>
            </a:r>
            <a:endParaRPr kumimoji="1" lang="ko-Kore-KR" altLang="en-US" sz="4789" dirty="0">
              <a:latin typeface="하나2.0 B" panose="020B0303000000000000" pitchFamily="50" charset="-127"/>
              <a:ea typeface="하나2.0 B" panose="020B0303000000000000" pitchFamily="50" charset="-127"/>
              <a:cs typeface="KoPubWorld돋움체 Medium" panose="000006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D82E42-5341-FB6B-66B8-20BDBF469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070" y="3310991"/>
            <a:ext cx="3066682" cy="30666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45B520-D8A7-238A-AD78-9616E00D8D91}"/>
              </a:ext>
            </a:extLst>
          </p:cNvPr>
          <p:cNvSpPr txBox="1"/>
          <p:nvPr/>
        </p:nvSpPr>
        <p:spPr>
          <a:xfrm>
            <a:off x="1741382" y="6313713"/>
            <a:ext cx="1627878" cy="184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99" dirty="0">
                <a:solidFill>
                  <a:schemeClr val="tx1">
                    <a:alpha val="70000"/>
                  </a:schemeClr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ⓒ 2020 underdogs All Rights Reserved</a:t>
            </a:r>
            <a:endParaRPr lang="ko-KR" altLang="en-US" sz="599" dirty="0">
              <a:solidFill>
                <a:schemeClr val="tx1">
                  <a:alpha val="70000"/>
                </a:schemeClr>
              </a:solidFill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586D7C-5A0C-0BD1-5FE1-1C416FC243F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439564" y="6323869"/>
            <a:ext cx="637320" cy="10468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776F77B-FE9B-9476-E059-49C52E181405}"/>
              </a:ext>
            </a:extLst>
          </p:cNvPr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0091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396540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79474-DD06-F1F3-7524-1FF982D7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2D823CB-4BF4-4DA7-E622-DB2CC66369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AB7ED0-1D4D-87F3-60C4-6A51E1D37B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관점도출 </a:t>
            </a:r>
            <a:r>
              <a:rPr lang="en-US" altLang="ko-KR" dirty="0"/>
              <a:t>(</a:t>
            </a:r>
            <a:r>
              <a:rPr lang="ko-KR" altLang="en-US" dirty="0"/>
              <a:t>솔루션 정의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CE40F-5FC3-CC6C-3B24-FEA26153C0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1" y="636814"/>
            <a:ext cx="2123775" cy="432000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 err="1"/>
              <a:t>창업가의</a:t>
            </a:r>
            <a:r>
              <a:rPr lang="ko-KR" altLang="en-US" sz="2000" dirty="0"/>
              <a:t> 관점 도출 워크숍</a:t>
            </a:r>
          </a:p>
        </p:txBody>
      </p:sp>
      <p:graphicFrame>
        <p:nvGraphicFramePr>
          <p:cNvPr id="6" name="표 2">
            <a:extLst>
              <a:ext uri="{FF2B5EF4-FFF2-40B4-BE49-F238E27FC236}">
                <a16:creationId xmlns:a16="http://schemas.microsoft.com/office/drawing/2014/main" id="{C6FB36EA-0E91-5BD4-4349-9CB371101CA5}"/>
              </a:ext>
            </a:extLst>
          </p:cNvPr>
          <p:cNvGraphicFramePr>
            <a:graphicFrameLocks noGrp="1"/>
          </p:cNvGraphicFramePr>
          <p:nvPr/>
        </p:nvGraphicFramePr>
        <p:xfrm>
          <a:off x="415451" y="1412776"/>
          <a:ext cx="8313099" cy="4752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033">
                  <a:extLst>
                    <a:ext uri="{9D8B030D-6E8A-4147-A177-3AD203B41FA5}">
                      <a16:colId xmlns:a16="http://schemas.microsoft.com/office/drawing/2014/main" val="1544315803"/>
                    </a:ext>
                  </a:extLst>
                </a:gridCol>
                <a:gridCol w="2771033">
                  <a:extLst>
                    <a:ext uri="{9D8B030D-6E8A-4147-A177-3AD203B41FA5}">
                      <a16:colId xmlns:a16="http://schemas.microsoft.com/office/drawing/2014/main" val="2065838639"/>
                    </a:ext>
                  </a:extLst>
                </a:gridCol>
                <a:gridCol w="2771033">
                  <a:extLst>
                    <a:ext uri="{9D8B030D-6E8A-4147-A177-3AD203B41FA5}">
                      <a16:colId xmlns:a16="http://schemas.microsoft.com/office/drawing/2014/main" val="2519735572"/>
                    </a:ext>
                  </a:extLst>
                </a:gridCol>
              </a:tblGrid>
              <a:tr h="306679"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페르소나의 주요 문제</a:t>
                      </a:r>
                    </a:p>
                  </a:txBody>
                  <a:tcPr marL="78203" marR="78203" marT="39101" marB="39101" anchor="ctr">
                    <a:lnL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기존 솔루션의 한계와 우리만의 </a:t>
                      </a:r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차별점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아이템 구체화 및 솔루션</a:t>
                      </a: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986456"/>
                  </a:ext>
                </a:extLst>
              </a:tr>
              <a:tr h="1380056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어떤 사람인가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0788" marR="30788" marT="30788" marB="30788" anchor="ctr">
                    <a:lnL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기존에 사용했던 솔루션들은 무엇인가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EE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우리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솔루션이 고객의 문제를 해결해 주는 주요 기능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들은 무엇인가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8203" marR="78203" marT="39101" marB="39101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F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638044"/>
                  </a:ext>
                </a:extLst>
              </a:tr>
              <a:tr h="1533395"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7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갖고 있는 문제는 무엇인가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8203" marR="78203" marT="39101" marB="39101" anchor="ctr">
                    <a:lnL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솔루션들의 한계점들은 무엇인가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8203" marR="78203" marT="39101" marB="39101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7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 문제 해결 시나리오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171450" indent="-171450" algn="l">
                        <a:lnSpc>
                          <a:spcPts val="17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Before:</a:t>
                      </a:r>
                    </a:p>
                    <a:p>
                      <a:pPr marL="171450" indent="-171450" algn="l">
                        <a:lnSpc>
                          <a:spcPts val="17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Using:</a:t>
                      </a:r>
                    </a:p>
                    <a:p>
                      <a:pPr marL="171450" indent="-171450" algn="l">
                        <a:lnSpc>
                          <a:spcPts val="17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After:</a:t>
                      </a:r>
                    </a:p>
                  </a:txBody>
                  <a:tcPr marL="78203" marR="78203" marT="39101" marB="39101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F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171477"/>
                  </a:ext>
                </a:extLst>
              </a:tr>
              <a:tr h="1532398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갖고 있는 문제의 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원인은 무엇인가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8203" marR="78203" marT="39101" marB="39101" anchor="ctr">
                    <a:lnL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우리 솔루션의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차별점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핵심가치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들은 무엇인가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8203" marR="78203" marT="39101" marB="39101" anchor="ctr">
                    <a:lnL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6767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EE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우리의 솔루션을 페르소나가 이해하기 쉽게 한 줄로 정리한다면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8203" marR="78203" marT="39101" marB="39101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67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F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48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5E6D6CF-8FFA-C0D2-3419-114E5E166331}"/>
              </a:ext>
            </a:extLst>
          </p:cNvPr>
          <p:cNvSpPr txBox="1"/>
          <p:nvPr/>
        </p:nvSpPr>
        <p:spPr>
          <a:xfrm>
            <a:off x="3635896" y="692696"/>
            <a:ext cx="5074305" cy="2327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아래의 항목들을 작성하며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, </a:t>
            </a:r>
            <a:r>
              <a:rPr lang="ko-KR" altLang="en-US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우리만의 관점을 한페이지로 정리해 보세요</a:t>
            </a:r>
            <a:r>
              <a:rPr lang="en-US" altLang="ko-KR" sz="1100" dirty="0">
                <a:latin typeface="하나2.0 M" panose="020B0603000000000000" pitchFamily="50" charset="-127"/>
                <a:ea typeface="하나2.0 M" panose="020B0603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749061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2908F-2379-2479-334C-746D1341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0125118-67F2-BF15-47C4-B28032AFD6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FFBC51-5EDA-1954-E11A-5408F94970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아이템 구체화 워크숍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5CFBC5E2-C299-7935-CAC2-F6D374488B25}"/>
              </a:ext>
            </a:extLst>
          </p:cNvPr>
          <p:cNvSpPr txBox="1">
            <a:spLocks/>
          </p:cNvSpPr>
          <p:nvPr/>
        </p:nvSpPr>
        <p:spPr>
          <a:xfrm>
            <a:off x="432001" y="636814"/>
            <a:ext cx="1331687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844083" rtl="0" eaLnBrk="1" latinLnBrk="1" hangingPunct="1">
              <a:lnSpc>
                <a:spcPct val="90000"/>
              </a:lnSpc>
              <a:spcBef>
                <a:spcPts val="923"/>
              </a:spcBef>
              <a:buFont typeface="Arial" pitchFamily="34" charset="0"/>
              <a:buNone/>
              <a:defRPr sz="2800" kern="12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  <a:cs typeface="+mn-cs"/>
              </a:defRPr>
            </a:lvl1pPr>
            <a:lvl2pPr marL="633062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103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7145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9186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2000" dirty="0"/>
              <a:t>관점 도출  워크숍 </a:t>
            </a:r>
            <a:r>
              <a:rPr lang="en-US" altLang="ko-KR" sz="2000" dirty="0"/>
              <a:t>Tips</a:t>
            </a:r>
            <a:endParaRPr lang="ko-KR" altLang="en-US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4FCCFC7-6D49-3051-954D-D96D20B0EBCC}"/>
              </a:ext>
            </a:extLst>
          </p:cNvPr>
          <p:cNvGraphicFramePr>
            <a:graphicFrameLocks noGrp="1"/>
          </p:cNvGraphicFramePr>
          <p:nvPr/>
        </p:nvGraphicFramePr>
        <p:xfrm>
          <a:off x="433799" y="1988840"/>
          <a:ext cx="8276402" cy="291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6402">
                  <a:extLst>
                    <a:ext uri="{9D8B030D-6E8A-4147-A177-3AD203B41FA5}">
                      <a16:colId xmlns:a16="http://schemas.microsoft.com/office/drawing/2014/main" val="1253396727"/>
                    </a:ext>
                  </a:extLst>
                </a:gridCol>
              </a:tblGrid>
              <a:tr h="3068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워크숍 </a:t>
                      </a:r>
                      <a:r>
                        <a:rPr lang="en-US" altLang="ko-KR" sz="1400" dirty="0"/>
                        <a:t>Tips</a:t>
                      </a:r>
                      <a:endParaRPr lang="ko-KR" alt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41767"/>
                  </a:ext>
                </a:extLst>
              </a:tr>
              <a:tr h="2610916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/>
                        <a:t>어떤 사람한테 어떤 문제가 있는데</a:t>
                      </a:r>
                      <a:r>
                        <a:rPr lang="en-US" altLang="ko-KR" sz="1400" b="0" dirty="0"/>
                        <a:t>, </a:t>
                      </a:r>
                      <a:r>
                        <a:rPr lang="ko-KR" altLang="en-US" sz="1400" b="0" dirty="0"/>
                        <a:t>이 문제의 원인이 무엇인지 논리적으로 이해하기 쉽게 작성해 주세요</a:t>
                      </a:r>
                      <a:r>
                        <a:rPr lang="en-US" altLang="ko-KR" sz="1400" b="0" dirty="0"/>
                        <a:t>.</a:t>
                      </a:r>
                      <a:endParaRPr lang="ko-KR" altLang="en-US" sz="1400" b="0" dirty="0"/>
                    </a:p>
                    <a:p>
                      <a:pPr lvl="1">
                        <a:lnSpc>
                          <a:spcPct val="150000"/>
                        </a:lnSpc>
                      </a:pPr>
                      <a:endParaRPr lang="en-US" altLang="ko-KR" sz="1400" b="0" dirty="0"/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/>
                        <a:t>기존 솔루션은 어떤 것들이 있고</a:t>
                      </a:r>
                      <a:r>
                        <a:rPr lang="en-US" altLang="ko-KR" sz="1400" b="0" dirty="0"/>
                        <a:t>, </a:t>
                      </a:r>
                      <a:r>
                        <a:rPr lang="ko-KR" altLang="en-US" sz="1400" b="0" dirty="0"/>
                        <a:t>이것들의 한계점은 무엇인지</a:t>
                      </a:r>
                      <a:r>
                        <a:rPr lang="en-US" altLang="ko-KR" sz="1400" b="0" dirty="0"/>
                        <a:t>, </a:t>
                      </a:r>
                      <a:r>
                        <a:rPr lang="ko-KR" altLang="en-US" sz="1400" b="0" dirty="0" err="1"/>
                        <a:t>우리만이</a:t>
                      </a:r>
                      <a:r>
                        <a:rPr lang="ko-KR" altLang="en-US" sz="1400" b="0" dirty="0"/>
                        <a:t> 할 수 있는 차별점은 무엇인지 이해하기 쉽게 작성해 주세요</a:t>
                      </a:r>
                      <a:r>
                        <a:rPr lang="en-US" altLang="ko-KR" sz="1400" b="0" dirty="0"/>
                        <a:t>.</a:t>
                      </a:r>
                      <a:endParaRPr lang="ko-KR" altLang="en-US" sz="1400" b="0" dirty="0"/>
                    </a:p>
                    <a:p>
                      <a:pPr lvl="1">
                        <a:lnSpc>
                          <a:spcPct val="150000"/>
                        </a:lnSpc>
                      </a:pPr>
                      <a:endParaRPr lang="en-US" altLang="ko-KR" sz="1400" b="0" dirty="0"/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1400" b="0" dirty="0"/>
                        <a:t>고객의 문제가 해결되는 시나리오를 기반으로 고객의 관점에서 고객의 언어로 솔루션을 명료하게 설명해 주세요</a:t>
                      </a:r>
                      <a:r>
                        <a:rPr lang="en-US" altLang="ko-KR" sz="1400" b="0" dirty="0"/>
                        <a:t>.</a:t>
                      </a:r>
                      <a:endParaRPr lang="ko-KR" altLang="en-US" sz="1400" b="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937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07477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2.0.50727.8974"/>
  <p:tag name="AS_OS" val="Microsoft Windows NT 6.2.9200.0"/>
  <p:tag name="AS_RELEASE_DATE" val="2021.08.14"/>
  <p:tag name="AS_TITLE" val="Aspose.Slides for .NET 2.0"/>
  <p:tag name="AS_VERSION" val="21.8"/>
</p:tagLst>
</file>

<file path=ppt/theme/theme1.xml><?xml version="1.0" encoding="utf-8"?>
<a:theme xmlns:a="http://schemas.openxmlformats.org/drawingml/2006/main" name="A4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하나2.0 B"/>
        <a:ea typeface="하나2.0 B"/>
        <a:cs typeface="Arial" pitchFamily="34" charset="0"/>
      </a:majorFont>
      <a:minorFont>
        <a:latin typeface="하나2.0 M"/>
        <a:ea typeface="하나2.0 M"/>
        <a:cs typeface="Arial" pitchFamily="34" charset="0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B9ACBD0D-4B4B-4DA7-8FD3-6A513CDADE66}" vid="{03B789AE-8B6F-41E3-AEA8-332F5CAC9E57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3078</TotalTime>
  <Words>918</Words>
  <Application>Microsoft Office PowerPoint</Application>
  <PresentationFormat>화면 슬라이드 쇼(4:3)</PresentationFormat>
  <Paragraphs>148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맑은 고딕</vt:lpstr>
      <vt:lpstr>하나2.0 B</vt:lpstr>
      <vt:lpstr>하나2.0 CM</vt:lpstr>
      <vt:lpstr>하나2.0 M</vt:lpstr>
      <vt:lpstr>하나2.0 R</vt:lpstr>
      <vt:lpstr>Arial</vt:lpstr>
      <vt:lpstr>A4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한미연_2320261</dc:creator>
  <cp:lastModifiedBy>Byeong Ryong Park</cp:lastModifiedBy>
  <cp:revision>46</cp:revision>
  <cp:lastPrinted>2024-01-03T17:33:42Z</cp:lastPrinted>
  <dcterms:created xsi:type="dcterms:W3CDTF">2024-01-03T08:33:42Z</dcterms:created>
  <dcterms:modified xsi:type="dcterms:W3CDTF">2026-07-23T02:42:07Z</dcterms:modified>
</cp:coreProperties>
</file>