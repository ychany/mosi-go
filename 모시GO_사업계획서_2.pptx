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모시GO — 충주 읍·면 어르신의 정기 통원을 AI 합승 배차로 왕복 책임지고 자녀에게 보고하는 지역 모빌리티 플랫폼입니다.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알림이 핵심 — 어르신이 병원에서 지체되는 순간이 자녀에게 가장 불안한 시간인데, 기존 수단은 이때 아무 정보도 주지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프로토타입 화면. 관제에는 실행 버튼이 없다 — AI가 새벽에 자동 수립한 결과를 재생만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이동이 무료인데도 치료를 포기한다는 사실이 이 사업의 존재 이유다.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roundRect">
            <a:avLst>
              <a:gd name="adj" fmla="val 50000"/>
            </a:avLst>
          </a:prstGeom>
          <a:solidFill>
            <a:srgbClr val="6AB34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3BA94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충주 지역정주형 특화산업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530352" y="3273552"/>
            <a:ext cx="5989320" cy="603504"/>
          </a:xfrm>
          <a:prstGeom prst="roundRect">
            <a:avLst>
              <a:gd name="adj" fmla="val 15152"/>
            </a:avLst>
          </a:prstGeom>
          <a:solidFill>
            <a:srgbClr val="6AB34D">
              <a:alpha val="2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7355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가는 길, 끝까지 책임집니다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8770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읍·면 어르신을 위한 AI 합승 통원 배차 플랫폼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3840480" cy="0"/>
          </a:xfrm>
          <a:prstGeom prst="line">
            <a:avLst/>
          </a:prstGeom>
          <a:noFill/>
          <a:ln w="19050">
            <a:solidFill>
              <a:srgbClr val="6AB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29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단계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pPr indent="0" marL="0">
              <a:buNone/>
            </a:pPr>
            <a:r>
              <a:rPr lang="en-US" sz="13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발행일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55448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정의 · 핵심 투자 포인트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359152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2359152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&amp; 시장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35915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· Why Now · TAM/SAM/SOM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163824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163824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37360" y="316382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&amp; 제품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316382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· 핵심 기술 · 경쟁 우위 · 파트너십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968496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968496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37360" y="3968496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 &amp; 성과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396849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모델 · 유닛 이코노믹스 · 실증 · 로드맵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4773168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773168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737360" y="477316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구동 화면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477316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· 관리자 콘솔 · 자녀 앱 · 지자체 대시보드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5577840"/>
            <a:ext cx="1088136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557784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37360" y="557784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557784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· 로컬 네트워크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COMPANY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소개 — 우리는 무엇을 하는가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1B3A2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PITCH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56816"/>
            <a:ext cx="10149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모시GO는 충주 읍·면 어르신의 정기 통원을 </a:t>
            </a:r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시간에 맞춘 AI 합승 배차</a:t>
            </a:r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왕복 책임지고,</a:t>
            </a:r>
            <a:pPr indent="0" marL="0">
              <a:lnSpc>
                <a:spcPts val="2700"/>
              </a:lnSpc>
              <a:buNone/>
            </a:pP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과정을 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자녀에게 보고</a:t>
            </a:r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지역 모빌리티 플랫폼입니다.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해결하는 문제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어르신이 이동 수단이 없어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투석·재활 등 정기 치료를 중단·포기한다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15968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제공하는 가치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예약 기준 왕복 배차 + 자녀 보고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어르신은 부르지 않고, 자녀는 연차를 안 낸다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91856" y="310896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33467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273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지금의 단계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7888" y="36393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채널 프로토타입 완성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 파일럿 준비 (차량 2~3대·월 200건)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3832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충주시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1264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모빌리티 · 헬스케어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869680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COMPANY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투자 포인트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737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19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이동이 무료인데도 치료를 포기하는 시장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224028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충주는 65세 이상에게 버스·콜버스가 월 15회 무료(2025.5~). 그럼에도 읍·면 어르신은 투석을 포기한다. 문제는 가격이 아니라 구조 — 진료 시간을 보장하고 왕복을 책임지는 주체가 없다.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737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17190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합승이 만드는 유일한 지방 원가 구조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64808" y="224028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이동은 지방에서 원가가 붕괴한다(8명 태우면 −13.6만). 3인 합승으로 운행당 +4.3만 원 마진. AI 배차는 기술 과시가 아니라 수익모델 그 자체다.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58768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1330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예산이 이미 열려 있는 B2G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2688" y="463600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100원택시(건당 보조), 화천 병원셔틀(조례 운송), 춘천 병원동행(시간당 지원) — 행정 선례가 전국에 있다. 새 예산이 아니라 기존 형식에 얹는다.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858768"/>
            <a:ext cx="53492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41330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자산도 인력도 무겁지 않다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464808" y="463600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차량은 운수사 임차(면허·자산 부담 없음), 동행 인력 없음(관리자 1명이 하루 수십 건) — 확산 시 인건비가 선형으로 늘지 않는다.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충주에서 세 가지 공백이 겹친다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공백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버스로는 진료 시간을 못 맞춘다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→ 거점병원 환승 포함 1시간+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 간격 1~2시간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콜버스는 호출형 — 시간 보장 없음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장애인콜택시 법정 25대 중 19대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공백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이동이 안 되면 치료를 포기한다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주 3회 · 재활 주 2~3회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통원이 생존과 직결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회차 이동 문제 반복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치료 중단·포기 발생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1463040"/>
            <a:ext cx="349300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7373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돌봄 공백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1579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자녀는 수도권에 있다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7888" y="267004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통원일마다 연차 또는 어르신 혼자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내용·처방 변경을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누구도 모른다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죄책감만 남는다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4515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결국, 충주 읍·면 어르신 약 1.8만 명이 </a:t>
            </a:r>
            <a:pPr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"병원에 갈 수는 있지만 제때 갈 수는 없는"</a:t>
            </a:r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상태에 놓여 있습니다.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5614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동행 서비스는 대중교통을 전제로 설계되어 지방에 내려올 수 없다. 충주의 문제는 '동행'이 아니라 이동 × 시간 × 보고의 결합 문제다.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지금이 적기인 이유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초고령사회 진입 완료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65960" y="201168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65세 이상 25.2% (2025.8) · 충북 22.7%로 전국 평균(20.8%) 상회 · 인접 괴산군 43.0%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063240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632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2971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예산이 열리고 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65960" y="33375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병원안심동행 3년 누적 4.5만 건·만족도 92.9% → 전국 벤치마킹 · 춘천 등 지방 도시도 집행 시작 · 국토부 DRT 가이드라인(2025.12)이 운수사 상생모델 권장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389120"/>
            <a:ext cx="868680" cy="475488"/>
          </a:xfrm>
          <a:prstGeom prst="roundRect">
            <a:avLst>
              <a:gd name="adj" fmla="val 19231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4297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아무도 지방에 없다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65960" y="466344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위드메이트·케어네이션·케어닥에 수백억 투자 — 전원 대도시·매칭 모델·차량 미포함. 충주 읍·면에는 매칭할 동행인 풀조차 없다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1B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59612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서울에서 시장성이 검증됐고, 지방에는 아무도 없으며, 지자체 예산은 이미 열려 있습니다.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5840" y="59436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그 셋이 만나는 지점에 있습니다.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 — TAM · SAM · SOM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1B3A2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3,000억+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92040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비수도권 시·군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3BA94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250억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062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북부권 5개 시·군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5~6억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1읍 12면 (3년)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50876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719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검증 · 북부 3면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23760" y="2121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0" name="Text 18"/>
          <p:cNvSpPr/>
          <p:nvPr/>
        </p:nvSpPr>
        <p:spPr>
          <a:xfrm>
            <a:off x="7607808" y="2093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 6,900명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64040" y="2112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산척 2,157 · 엄정 2,954 · 소태 1,820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26517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고령 2,090명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64040" y="2642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65세 이상 30% 적용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230명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64040" y="3172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11 · 재활 31 · 외래 188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371246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9" name="Text 27"/>
          <p:cNvSpPr/>
          <p:nvPr/>
        </p:nvSpPr>
        <p:spPr>
          <a:xfrm>
            <a:off x="7607808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673건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64040" y="3703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질환별 통원 빈도 적용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424281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32" name="Text 30"/>
          <p:cNvSpPr/>
          <p:nvPr/>
        </p:nvSpPr>
        <p:spPr>
          <a:xfrm>
            <a:off x="7607808" y="4215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130~200건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6404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 침투율 20~30%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0749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SOM이 작아 보일 수 있으나 "지자체 1곳 실증 매출"로는 정직한 숫자입니다. 성장 논리는 "충주에서 검증해 전국 시군으로 복제"입니다.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행안부 주민등록(2025.8) · 충주시 인구통계(2025.7) · 대한신장학회 등록사업(2024, 인구 10만 명당 157명)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해결합니다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465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6464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부르지 않는다, 등록한다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26464" y="190195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일정을 등록해두면 매 회차 자동 배차.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주 3회 = 캘린더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05456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7706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6464" y="2651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시간에서 역산해 묶는다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26464" y="29260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새벽 5시에 시간대(±40분)·방면 클러스터링.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10시 진료 → 09:20 픽업, 문 앞에서 병원 정문까지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7947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26464" y="3675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왕복이 닫히고 자녀에게 전달된다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26464" y="395020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차량이 병원에 상주 → 진료 종료 후 5분 내 탑승.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탑승·도착·지연·귀가 매 순간 푸시 알림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0" y="1481328"/>
            <a:ext cx="2724912" cy="3163824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465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34656" y="20299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34656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호출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31936" y="2249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일정 등록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34656" y="25420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픽업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34656" y="2761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승강장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31936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문 앞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34656" y="30540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34656" y="3273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도착 유동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631936" y="3273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역산 보장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34656" y="3566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귀가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34656" y="3785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재호출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31936" y="3785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병원 상주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34656" y="40782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34656" y="42976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없음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31936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푸시+리포트</a:t>
            </a:r>
            <a:endParaRPr lang="en-US" sz="1150" dirty="0"/>
          </a:p>
        </p:txBody>
      </p:sp>
      <p:pic>
        <p:nvPicPr>
          <p:cNvPr id="37" name="Image 0" descr="/private/tmp/claude-501/-Users-joyeongchan-mosi-go/b718a283-49c0-48aa-b814-0e25309cd091/scratchpad/cap-guardian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1481328"/>
            <a:ext cx="1325880" cy="27157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38" name="Text 35"/>
          <p:cNvSpPr/>
          <p:nvPr/>
        </p:nvSpPr>
        <p:spPr>
          <a:xfrm>
            <a:off x="10222992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앱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40080" y="4846320"/>
            <a:ext cx="10908792" cy="896112"/>
          </a:xfrm>
          <a:prstGeom prst="roundRect">
            <a:avLst>
              <a:gd name="adj" fmla="val 12245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0120" y="4956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자녀에게 가는 알림 (통원 1회 4~5건)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960120" y="524865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 09:20 통원 예정  →  탑승 09:22  →  병원 도착 09:43  →  </a:t>
            </a:r>
            <a:pPr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진료가 길어지고 있습니다 · 차량 대기 중</a:t>
            </a:r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자택 도착 12:40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 배차 — 실제 동작 화면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pic>
        <p:nvPicPr>
          <p:cNvPr id="5" name="Image 0" descr="/private/tmp/claude-501/-Users-joyeongchan-mosi-go/b718a283-49c0-48aa-b814-0e25309cd091/scratchpad/cap-before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5120640" cy="287121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1" descr="/private/tmp/claude-501/-Users-joyeongchan-mosi-go/b718a283-49c0-48aa-b814-0e25309cd091/scratchpad/cap-after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5120640" cy="287121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40080" y="1188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9E9E9E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예약 8건 흩어짐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1188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3개 노선으로 묶임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70448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2" name="Text 8"/>
          <p:cNvSpPr/>
          <p:nvPr/>
        </p:nvSpPr>
        <p:spPr>
          <a:xfrm>
            <a:off x="587044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400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8828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−62.5%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229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8대 → 3대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3832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48828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+4.3만 원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5661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264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20" name="Text 16"/>
          <p:cNvSpPr/>
          <p:nvPr/>
        </p:nvSpPr>
        <p:spPr>
          <a:xfrm>
            <a:off x="6309360" y="48828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0회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3093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누른 버튼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869680" y="4828032"/>
            <a:ext cx="2578608" cy="786384"/>
          </a:xfrm>
          <a:prstGeom prst="roundRect">
            <a:avLst>
              <a:gd name="adj" fmla="val 11628"/>
            </a:avLst>
          </a:prstGeom>
          <a:solidFill>
            <a:srgbClr val="F1F8EC"/>
          </a:solidFill>
          <a:ln/>
        </p:spPr>
      </p:sp>
      <p:sp>
        <p:nvSpPr>
          <p:cNvPr id="23" name="Text 19"/>
          <p:cNvSpPr/>
          <p:nvPr/>
        </p:nvSpPr>
        <p:spPr>
          <a:xfrm>
            <a:off x="9052560" y="48828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새벽 05:00 자동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905256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배차 수립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최적화(시간대 ±40분 그룹핑 → 좌표 클러스터링 → 목적지·정원 분할). 운행 데이터가 축적되면 소요시간 예측 모델로 고도화합니다.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— 모방 난이도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196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9616" y="17007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 배차 엔진 — 수익모델 그 자체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9616" y="201168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시각 역산 → 시간대(±40분) 클러스터링 → 방면 분할 → 정원 분할.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1:1이면 8대, 합승하면 3대. 초기 규칙 기반 → 데이터 축적 후 예측 모델 고도화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169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99616" y="27980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 폐루프 — 병원 상주 배차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99616" y="31089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거점병원은 2곳뿐. 오전 등원을 마친 차량이 병원에 상주한다.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목적지가 적다는 지방의 약점을 운영 강점으로 전환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0142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9616" y="38953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알림 + AI 통원 리포트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9616" y="42062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전이마다 자녀 폰으로 자동 푸시. 귀가 후 AI가 리포트 발송.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"앱을 열어야 보이면 조회이고, 폰이 울려야 보고다"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6720840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11149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B3A22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111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99616" y="49926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케어노트 데이터 자산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99616" y="53035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휠체어·청력·주의사항이 기사에게 사전 전달되고 회차마다 누적된다.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익명의 호출 기사와 우리를 가르는 것이 이 데이터</a:t>
            </a:r>
            <a:endParaRPr lang="en-US" sz="1150" dirty="0"/>
          </a:p>
        </p:txBody>
      </p:sp>
      <p:pic>
        <p:nvPicPr>
          <p:cNvPr id="25" name="Image 0" descr="/private/tmp/claude-501/-Users-joyeongchan-mosi-go/b718a283-49c0-48aa-b814-0e25309cd091/scratchpad/cap-manager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54480"/>
            <a:ext cx="1572768" cy="322783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26" name="Text 23"/>
          <p:cNvSpPr/>
          <p:nvPr/>
        </p:nvSpPr>
        <p:spPr>
          <a:xfrm>
            <a:off x="7635240" y="48463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콘솔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사무실에서 운행을 지킨다</a:t>
            </a:r>
            <a:endParaRPr lang="en-US" sz="1150" dirty="0"/>
          </a:p>
        </p:txBody>
      </p:sp>
      <p:pic>
        <p:nvPicPr>
          <p:cNvPr id="27" name="Image 1" descr="/private/tmp/claude-501/-Users-joyeongchan-mosi-go/b718a283-49c0-48aa-b814-0e25309cd091/scratchpad/cap-dash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554480"/>
            <a:ext cx="1837944" cy="103327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28" name="Text 24"/>
          <p:cNvSpPr/>
          <p:nvPr/>
        </p:nvSpPr>
        <p:spPr>
          <a:xfrm>
            <a:off x="9710928" y="265176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대시보드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영업 무기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9710928" y="3337560"/>
            <a:ext cx="1837944" cy="1444752"/>
          </a:xfrm>
          <a:prstGeom prst="roundRect">
            <a:avLst>
              <a:gd name="adj" fmla="val 6329"/>
            </a:avLst>
          </a:prstGeom>
          <a:solidFill>
            <a:srgbClr val="F1F8EC"/>
          </a:solidFill>
          <a:ln/>
        </p:spPr>
      </p:sp>
      <p:sp>
        <p:nvSpPr>
          <p:cNvPr id="30" name="Text 26"/>
          <p:cNvSpPr/>
          <p:nvPr/>
        </p:nvSpPr>
        <p:spPr>
          <a:xfrm>
            <a:off x="9710928" y="3337560"/>
            <a:ext cx="18379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구동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COMPETITION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구도 &amp; 차별점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143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모시GO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충주콜버스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장애인콜택시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민간 동행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 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자격제한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교통비별도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진료 시간 보장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예약제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왕복 폐루프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편도호출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보호자 보고(푸시)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예약대행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 통원 설계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단발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지방 성립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공급부족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공급·가격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04164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제공   △ 제한적   X 제공 안 함   — 해당 없음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23760" y="1481328"/>
            <a:ext cx="4325112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 2축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01168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의료 특화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호출이 아니라 진료 예약이 배차 기준이다
</a:t>
            </a:r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보호자 채널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수단 중 가족에게 무언가를 '보내는' 것은 하나도 없다. 푸시 알림이 그 차이를 만든다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4224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충주콜버스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834640" y="42245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호출형 — 시간 미보장·편도·가족 정보 없음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장애인콜택시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83464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중증장애인 한정 · 대수 부족(19/25)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102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 병원동행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834640" y="51023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없음(교통비 별도) · 1:1 인건비로 지방 확산 정체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5412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민간 동행 플랫폼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34640" y="55412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모델 — 읍·면에 공급자 풀 없음 · 건당 5~10만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RESOURCES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소유하지 않고 결합한다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3BA949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682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17099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고객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07008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예산 효율화 + 읍·면별 접근성 지표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2267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운영 위탁비 / 건당 정산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8132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73736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82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운수사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89720" y="17099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1709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공급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39128" y="2029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오전 유휴 차량에 고정 수요 계약 공급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39128" y="2267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차량 임차 (면허·자산 부담 회피)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15468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1207008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거점병원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0" y="31272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1272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 공급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07008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노쇼 감소 · 재진율 유지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07008" y="3685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모객 채널 + 일정 연동 + 주차 협조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898648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154680"/>
            <a:ext cx="128016" cy="658368"/>
          </a:xfrm>
          <a:prstGeom prst="roundRect">
            <a:avLst>
              <a:gd name="adj" fmla="val 50000"/>
            </a:avLst>
          </a:prstGeom>
          <a:solidFill>
            <a:srgbClr val="1B3A22"/>
          </a:solidFill>
          <a:ln/>
        </p:spPr>
      </p:sp>
      <p:sp>
        <p:nvSpPr>
          <p:cNvPr id="28" name="Text 26"/>
          <p:cNvSpPr/>
          <p:nvPr/>
        </p:nvSpPr>
        <p:spPr>
          <a:xfrm>
            <a:off x="6739128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읍·면 네트워크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89720" y="31272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31272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 발굴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39128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주는 것 · 지역 어르신 이동 편의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39128" y="3685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받는 것 · 오프라인 접수 채널 (이장·복지관)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407408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B3A22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직접 소유하는 것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배차 엔진 + 운행 데이터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운영 관리자 1~2명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138160" y="4882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케어노트 DB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05840" y="52486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국토부 DRT 가이드라인(2025.12)이 기존 운수사업자와의 상생협력모델을 권장 — 운수사와 경쟁하지 않는 구조가 정부 방침과 일치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3층 수익 구조 — 판매 단위는 '회차'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007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3BA94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1층 · B2G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17556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719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이동지원 예산의 운영 플랫폼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719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3.5만 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26151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6AB34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6151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2층 · B2C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670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2년차~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타지 자녀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통원권 (구독 / 회수권)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6334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회차 단위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10128"/>
            <a:ext cx="6400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52958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FFA72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529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3층 · B2B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3584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2~3년차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35478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거점병원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566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노쇼 감소 제휴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547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정액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0" y="1481328"/>
            <a:ext cx="4233672" cy="26334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통원권 — 두 갈래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0" y="210312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1F8E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2176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통원 구독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24140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투석·재활 등 고정 스케줄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2615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정액 12~13회 · 좌석 우선 · 휴진 이월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0" y="306324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1F8EC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3136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통원 회수권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33741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비정기 외래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72400" y="3575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10회권 · 유효기간 6개월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4315968"/>
            <a:ext cx="10908792" cy="896112"/>
          </a:xfrm>
          <a:prstGeom prst="roundRect">
            <a:avLst>
              <a:gd name="adj" fmla="val 12245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4425696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알림 · 실시간 위치 · AI 리포트 · 정기 자동배차는 전 이용자 기본 포함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47365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옵션으로 분리하면 "옵션 안 사면 그냥 콜택시"가 되어 차별화 자체가 사라진다  ·  지불 흐름: 지자체 바우처 우선 차감 → 초과분만 자녀 결제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UNIT ECONOMICS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1:1이면 적자, 합승이면 흑자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운행 단위 경제 · 3인 합승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바우처 3.5만 × 3인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+105,000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왕복 5.2만 + 운영 1.0만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−62,000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077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+43,000원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37667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8명을 태울 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1993392"/>
            <a:ext cx="2377440" cy="1298448"/>
          </a:xfrm>
          <a:prstGeom prst="roundRect">
            <a:avLst>
              <a:gd name="adj" fmla="val 7042"/>
            </a:avLst>
          </a:prstGeom>
          <a:solidFill>
            <a:srgbClr val="FDEDE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배차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2359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8대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−13.6만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52560" y="1993392"/>
            <a:ext cx="2377440" cy="1298448"/>
          </a:xfrm>
          <a:prstGeom prst="roundRect">
            <a:avLst>
              <a:gd name="adj" fmla="val 7042"/>
            </a:avLst>
          </a:prstGeom>
          <a:solidFill>
            <a:srgbClr val="F1F8EC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89720" y="2359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3대 (−62.5%)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9720" y="2633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+9.4만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109087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· 정기 통원 환자 기준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150회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1440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3회 × 52주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6324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215만 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06324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기여 마진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08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3년+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21208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지속 기간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609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645만 원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36092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18320" y="38404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1F8EC"/>
          </a:solidFill>
          <a:ln/>
        </p:spPr>
      </p:sp>
      <p:sp>
        <p:nvSpPr>
          <p:cNvPr id="37" name="Text 35"/>
          <p:cNvSpPr/>
          <p:nvPr/>
        </p:nvSpPr>
        <p:spPr>
          <a:xfrm>
            <a:off x="9555480" y="3968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매우 낮음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55480" y="4224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투석실에 명단이</a:t>
            </a:r>
            <a:endParaRPr lang="en-US" sz="11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모여 있다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2303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금액은 공개 통계가 아니라 설계 가정입니다 — 파일럿에서 실제 계약으로 확정합니다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한 일 — 숫자로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완료 화면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8→3대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9028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배차 검증 (−62.5%)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1856" y="148132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66176" y="15727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6종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66176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분석한 기존 대안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624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1읍 12면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조사한 행정구역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0288" y="2624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673건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90288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산출한 월 잠재 수요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91856" y="2532888"/>
            <a:ext cx="349300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66176" y="2624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12건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66176" y="3081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확보한 통계 출처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프로토타입으로 증명한 3가지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096512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41422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합승이 원가를 만든다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414223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8대 → 3대, 운행당 +4.3만 전환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709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 배차가 가능하다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709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화면에 실행 버튼이 없다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230368"/>
            <a:ext cx="6720840" cy="493776"/>
          </a:xfrm>
          <a:prstGeom prst="roundRect">
            <a:avLst>
              <a:gd name="adj" fmla="val 18519"/>
            </a:avLst>
          </a:prstGeom>
          <a:solidFill>
            <a:srgbClr val="F1F8EC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276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리포트가 자동 생성된다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5276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진료실에 안 들어가도 정보 전달</a:t>
            </a:r>
            <a:endParaRPr lang="en-US" sz="1150" dirty="0"/>
          </a:p>
        </p:txBody>
      </p:sp>
      <p:pic>
        <p:nvPicPr>
          <p:cNvPr id="33" name="Image 0" descr="/private/tmp/claude-501/-Users-joyeongchan-mosi-go/b718a283-49c0-48aa-b814-0e25309cd091/scratchpad/cap-report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703320"/>
            <a:ext cx="1463040" cy="299923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34" name="Text 31"/>
          <p:cNvSpPr/>
          <p:nvPr/>
        </p:nvSpPr>
        <p:spPr>
          <a:xfrm>
            <a:off x="94640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통원 리포트</a:t>
            </a:r>
            <a:endParaRPr lang="en-US" sz="13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(실제 화면)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40080" y="5852160"/>
            <a:ext cx="6720840" cy="749808"/>
          </a:xfrm>
          <a:prstGeom prst="roundRect">
            <a:avLst>
              <a:gd name="adj" fmla="val 14634"/>
            </a:avLst>
          </a:prstGeom>
          <a:solidFill>
            <a:srgbClr val="1B3A22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85216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매출은 없습니다. </a:t>
            </a:r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대신 "왜 아무도 못 했는지"를 6종 대안 분석으로 규명했고,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"우리는 왜 되는지"를 배차 시뮬레이션으로 증명했습니다.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 계획 — 앞으로 6개월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사양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 (산척·엄정·소태)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2350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20명 → 6개월 후 50~60명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3736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2~3대 (휠체어 대응 1대 포함)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37360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60건 → 월 170~200건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364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73736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관리자 1명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481328"/>
            <a:ext cx="53766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구성 · 침투율 25%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993392"/>
          <a:ext cx="4846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60120"/>
                <a:gridCol w="960120"/>
                <a:gridCol w="109728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잠재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건수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3회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2회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1.5회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2.9회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A9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170건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40080" y="3977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KPI — 무엇을 증명할 것인가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40080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94944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정시 도착률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459736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14600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이하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2514600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귀가 대기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79392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34256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334256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치료 중단율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99048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53912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153912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재이용률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18704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73568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7973568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만족도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738360" y="4334256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793224" y="442569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+4.3만 실현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9793224" y="484632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운행당 마진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"기술보다 수요 검증 먼저" — 초기에는 앱 없이 전화·스프레드시트로 시작해 실제 수요를 확인한 뒤 제품화한다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STRATEGY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실행 계획 — 무엇을 언제까지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15544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충주시 협약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스마트도시과·노인복지과 제안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실증 협약 체결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48256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48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1214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운수사 계약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23360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대일운수·엔씨비 오전 차량 임차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2139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차량 2~3대 확보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15184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151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2688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협조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2336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건국대충주병원 투석실·원무과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55280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환자 안내 + 주차 확보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182112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821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65960" y="32552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모집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02336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이장·복지관 + 병원 채널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산척면 중심 20명 등록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65960" y="38221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개시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02336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전화·스프레드시트 운영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첫 운행 실시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4315968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FFA72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159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65960" y="4389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리포트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023360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KPI 측정·정리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충주시 확대 계약 제안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029200"/>
            <a:ext cx="10908792" cy="841248"/>
          </a:xfrm>
          <a:prstGeom prst="roundRect">
            <a:avLst>
              <a:gd name="adj" fmla="val 13043"/>
            </a:avLst>
          </a:prstGeom>
          <a:solidFill>
            <a:srgbClr val="1B3A22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138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후 (2027.04)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51023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700건+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32120" y="51023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200건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89520" y="51023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50~60명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46920" y="51023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매출 700만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5840" y="54681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8개 액션으로 "지방에서 통원 배차가 원가와 함께 작동한다"를 증명한다 — 그 데이터가 확대 계약과 병원 제휴를 여는 열쇠다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확장 로드맵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 준비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2~3대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52928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DCEDC8"/>
          </a:solidFill>
          <a:ln/>
        </p:spPr>
      </p:sp>
      <p:sp>
        <p:nvSpPr>
          <p:cNvPr id="13" name="Text 11"/>
          <p:cNvSpPr/>
          <p:nvPr/>
        </p:nvSpPr>
        <p:spPr>
          <a:xfrm>
            <a:off x="2852928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52928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검증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1752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3면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200건 · 매출 700만/월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888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5776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6AB34D"/>
          </a:solidFill>
          <a:ln/>
        </p:spPr>
      </p:sp>
      <p:sp>
        <p:nvSpPr>
          <p:cNvPr id="20" name="Text 18"/>
          <p:cNvSpPr/>
          <p:nvPr/>
        </p:nvSpPr>
        <p:spPr>
          <a:xfrm>
            <a:off x="5065776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65776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권역 확산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30368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북부권 6개 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5~6대 · 월 400~500건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31736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78624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3BA949"/>
          </a:solidFill>
          <a:ln/>
        </p:spPr>
      </p:sp>
      <p:sp>
        <p:nvSpPr>
          <p:cNvPr id="27" name="Text 25"/>
          <p:cNvSpPr/>
          <p:nvPr/>
        </p:nvSpPr>
        <p:spPr>
          <a:xfrm>
            <a:off x="7278624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78624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43216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전역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443216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1읍 12면 전체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43216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12~15대 · 연 매출 5억+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4458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91472" y="1554480"/>
            <a:ext cx="2029968" cy="457200"/>
          </a:xfrm>
          <a:prstGeom prst="roundRect">
            <a:avLst>
              <a:gd name="adj" fmla="val 20000"/>
            </a:avLst>
          </a:prstGeom>
          <a:solidFill>
            <a:srgbClr val="1B3A22"/>
          </a:solidFill>
          <a:ln/>
        </p:spPr>
      </p:sp>
      <p:sp>
        <p:nvSpPr>
          <p:cNvPr id="34" name="Text 32"/>
          <p:cNvSpPr/>
          <p:nvPr/>
        </p:nvSpPr>
        <p:spPr>
          <a:xfrm>
            <a:off x="9491472" y="15544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491472" y="2121408"/>
            <a:ext cx="2029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56064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복제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656064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제천·괴산 → 타 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56064" y="2871216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프랜차이즈형 플랫폼 공급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4069080"/>
            <a:ext cx="109087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6012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논리 — 왜 순차적으로 열리는가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6012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· Now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012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 북부 3면 — 가장 접근성 나쁜 권역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여기서 되면 어디든 된다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8056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· +12~18M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8056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충북 북부권 — 괴산 43.0% · 제천 28.5%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연 250억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001000" y="4572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· +24M~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01000" y="4846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비수도권 군 82개 — 동일한 공백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연 3,000억+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단위가 가볍다 — 신규 지역 진입에 필요한 것은 운수사 계약 + 관리자 1명 + 지자체 협약뿐이다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5303520" cy="5303520"/>
          </a:xfrm>
          <a:prstGeom prst="roundRect">
            <a:avLst>
              <a:gd name="adj" fmla="val 50000"/>
            </a:avLst>
          </a:prstGeom>
          <a:solidFill>
            <a:srgbClr val="6AB34D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구동 화면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목업이 아닙니다. 지금 이 자리에서 열어 보여드릴 수 있는 동작하는 제품입니다.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AB34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· 배차 모니터링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457200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AB34D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4572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콘솔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57200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AB34D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4572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앱 3종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4572000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6AB34D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4572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대시보드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대시보드 — B2G 영업 무기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pic>
        <p:nvPicPr>
          <p:cNvPr id="5" name="Image 0" descr="/private/tmp/claude-501/-Users-joyeongchan-mosi-go/b718a283-49c0-48aa-b814-0e25309cd091/scratchpad/d-dash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7772400" cy="42062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595360" y="1481328"/>
            <a:ext cx="2953512" cy="804672"/>
          </a:xfrm>
          <a:prstGeom prst="roundRect">
            <a:avLst>
              <a:gd name="adj" fmla="val 11364"/>
            </a:avLst>
          </a:prstGeom>
          <a:solidFill>
            <a:srgbClr val="F1F8EC"/>
          </a:solidFill>
          <a:ln/>
        </p:spPr>
      </p:sp>
      <p:sp>
        <p:nvSpPr>
          <p:cNvPr id="7" name="Text 4"/>
          <p:cNvSpPr/>
          <p:nvPr/>
        </p:nvSpPr>
        <p:spPr>
          <a:xfrm>
            <a:off x="8796528" y="15910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운행 1,284건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96528" y="1901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개시 후 7개월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95360" y="2414016"/>
            <a:ext cx="2953512" cy="804672"/>
          </a:xfrm>
          <a:prstGeom prst="roundRect">
            <a:avLst>
              <a:gd name="adj" fmla="val 11364"/>
            </a:avLst>
          </a:prstGeom>
          <a:solidFill>
            <a:srgbClr val="F1F8EC"/>
          </a:solidFill>
          <a:ln/>
        </p:spPr>
      </p:sp>
      <p:sp>
        <p:nvSpPr>
          <p:cNvPr id="10" name="Text 7"/>
          <p:cNvSpPr/>
          <p:nvPr/>
        </p:nvSpPr>
        <p:spPr>
          <a:xfrm>
            <a:off x="8796528" y="25237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취약지 커버율 72%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96528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북부 5개 읍·면 기준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95360" y="3346704"/>
            <a:ext cx="2953512" cy="804672"/>
          </a:xfrm>
          <a:prstGeom prst="roundRect">
            <a:avLst>
              <a:gd name="adj" fmla="val 11364"/>
            </a:avLst>
          </a:prstGeom>
          <a:solidFill>
            <a:srgbClr val="F1F8EC"/>
          </a:solidFill>
          <a:ln/>
        </p:spPr>
      </p:sp>
      <p:sp>
        <p:nvSpPr>
          <p:cNvPr id="13" name="Text 10"/>
          <p:cNvSpPr/>
          <p:nvPr/>
        </p:nvSpPr>
        <p:spPr>
          <a:xfrm>
            <a:off x="8796528" y="34564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대기시간 −38분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96528" y="3767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버스 환승 대비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4279392"/>
            <a:ext cx="2953512" cy="804672"/>
          </a:xfrm>
          <a:prstGeom prst="roundRect">
            <a:avLst>
              <a:gd name="adj" fmla="val 11364"/>
            </a:avLst>
          </a:prstGeom>
          <a:solidFill>
            <a:srgbClr val="F1F8EC"/>
          </a:solidFill>
          <a:ln/>
        </p:spPr>
      </p:sp>
      <p:sp>
        <p:nvSpPr>
          <p:cNvPr id="16" name="Text 13"/>
          <p:cNvSpPr/>
          <p:nvPr/>
        </p:nvSpPr>
        <p:spPr>
          <a:xfrm>
            <a:off x="8796528" y="43891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노쇼 −63%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796528" y="4700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3층 B2B 제휴의 근거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지자체가 사는 것은 동행 서비스가 아니라, 예산을 효율화하고 실적을 지표로 증명하는 운영 플랫폼입니다.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앱 — 보호자에게 '보내는' 유일한 서비스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pic>
        <p:nvPicPr>
          <p:cNvPr id="5" name="Image 0" descr="/private/tmp/claude-501/-Users-joyeongchan-mosi-go/b718a283-49c0-48aa-b814-0e25309cd091/scratchpad/d-guardian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17904"/>
            <a:ext cx="2121408" cy="43159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77240" y="5907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위치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6217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차량이 어디 있는지 · 지금 어느 단계인지</a:t>
            </a:r>
            <a:endParaRPr lang="en-US" sz="1100" dirty="0"/>
          </a:p>
        </p:txBody>
      </p:sp>
      <p:pic>
        <p:nvPicPr>
          <p:cNvPr id="8" name="Image 1" descr="/private/tmp/claude-501/-Users-joyeongchan-mosi-go/b718a283-49c0-48aa-b814-0e25309cd091/scratchpad/d-report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17904"/>
            <a:ext cx="2121408" cy="43159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4389120" y="5907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통원 리포트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89120" y="6217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귀가 후 자동 생성 · 의료 소견 없이 사실만</a:t>
            </a:r>
            <a:endParaRPr lang="en-US" sz="1100" dirty="0"/>
          </a:p>
        </p:txBody>
      </p:sp>
      <p:pic>
        <p:nvPicPr>
          <p:cNvPr id="11" name="Image 2" descr="/private/tmp/claude-501/-Users-joyeongchan-mosi-go/b718a283-49c0-48aa-b814-0e25309cd091/scratchpad/d-schedule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17904"/>
            <a:ext cx="2121408" cy="43159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8001000" y="5907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일정 · 통원권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01000" y="6217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투석 주3회 자동 배차 · 바우처 우선 차감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콘솔 — 동행하지 않고 운영한다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pic>
        <p:nvPicPr>
          <p:cNvPr id="5" name="Image 0" descr="/private/tmp/claude-501/-Users-joyeongchan-mosi-go/b718a283-49c0-48aa-b814-0e25309cd091/scratchpad/d-manager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212848" cy="449884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246120" y="1517904"/>
            <a:ext cx="830275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520440" y="17830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8" name="Text 5"/>
          <p:cNvSpPr/>
          <p:nvPr/>
        </p:nvSpPr>
        <p:spPr>
          <a:xfrm>
            <a:off x="35204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9080" y="1682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배차 결과 확인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69080" y="2011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새벽 05:00에 자동 수립된 오늘의 배차를 확인한다. 사람이 짜지 않는다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2615184"/>
            <a:ext cx="830275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69080" y="2779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건만 개입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69080" y="31089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건에는 전화하지 않는다. 미탑승·지연·연락두절만 직접 확인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3712464"/>
            <a:ext cx="830275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20440" y="39776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69080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처리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069080" y="4206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문의 응대 · 병원/운수사 연락 · 이슈 기록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46120" y="4809744"/>
            <a:ext cx="8302752" cy="96926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520440" y="50749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CEDC8"/>
          </a:solidFill>
          <a:ln/>
        </p:spPr>
      </p:sp>
      <p:sp>
        <p:nvSpPr>
          <p:cNvPr id="23" name="Text 20"/>
          <p:cNvSpPr/>
          <p:nvPr/>
        </p:nvSpPr>
        <p:spPr>
          <a:xfrm>
            <a:off x="35204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069080" y="49743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검토·발송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069080" y="5303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생성한 통원 리포트를 확인 후 자녀에게 발송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5943600"/>
            <a:ext cx="8302752" cy="566928"/>
          </a:xfrm>
          <a:prstGeom prst="roundRect">
            <a:avLst>
              <a:gd name="adj" fmla="val 16129"/>
            </a:avLst>
          </a:prstGeom>
          <a:solidFill>
            <a:srgbClr val="F1F8EC"/>
          </a:solidFill>
          <a:ln/>
        </p:spPr>
      </p:sp>
      <p:sp>
        <p:nvSpPr>
          <p:cNvPr id="27" name="Text 24"/>
          <p:cNvSpPr/>
          <p:nvPr/>
        </p:nvSpPr>
        <p:spPr>
          <a:xfrm>
            <a:off x="3429000" y="59436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1명이 하루 수십 건 — 동행 인력이 1명당 1~2건인 것과 비교하면 처리량이 10배 이상입니다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6A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— 우리가 해낼 수 있는 이유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02975" y="384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75104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/ CEO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전문성 · 지역 네트워크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50992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98848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/ CTO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884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배차 · 플랫폼 개발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91856" y="15544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0" y="17830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CEDC8"/>
          </a:solidFill>
          <a:ln/>
        </p:spPr>
      </p:sp>
      <p:sp>
        <p:nvSpPr>
          <p:cNvPr id="17" name="Text 15"/>
          <p:cNvSpPr/>
          <p:nvPr/>
        </p:nvSpPr>
        <p:spPr>
          <a:xfrm>
            <a:off x="8174736" y="27432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〈이름〉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74736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/ COO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74736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오퍼레이션 · 복지 행정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F1F8EC"/>
          </a:solidFill>
          <a:ln w="12700">
            <a:solidFill>
              <a:srgbClr val="DCE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96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A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강한 카드 — 충주 로컬 네트워크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442569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이장·복지관·거점병원·지역 운수사와의 관계는 자본으로 단기간에 살 수 없는 자산입니다.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플랫폼이 지방에 진입하지 못하는 이유이자, 우리가 이 문제를 풀 적임자인 이유입니다.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 · 파트너   |   지역 운수사 · 거점병원 · 충주시 관련 부서 · 사회적경제 조직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6035040" cy="6035040"/>
          </a:xfrm>
          <a:prstGeom prst="roundRect">
            <a:avLst>
              <a:gd name="adj" fmla="val 50000"/>
            </a:avLst>
          </a:prstGeom>
          <a:solidFill>
            <a:srgbClr val="6AB3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3BA949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충주는 어르신에게 이동이 이미 무료인 도시입니다.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그런데도 투석을 포기합니다.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12064" y="3145536"/>
            <a:ext cx="10149840" cy="676656"/>
          </a:xfrm>
          <a:prstGeom prst="roundRect">
            <a:avLst>
              <a:gd name="adj" fmla="val 13514"/>
            </a:avLst>
          </a:prstGeom>
          <a:solidFill>
            <a:srgbClr val="6AB34D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45536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파는 것은 이동이 아니라, 약속을 지키는 운영 체계입니다.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3108960" cy="0"/>
          </a:xfrm>
          <a:prstGeom prst="line">
            <a:avLst/>
          </a:prstGeom>
          <a:noFill/>
          <a:ln w="19050">
            <a:solidFill>
              <a:srgbClr val="6AB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모시GO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49194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가는 길, 끝까지 책임집니다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모시GO 사업계획서</dc:title>
  <dc:subject>PptxGenJS Presentation</dc:subject>
  <dc:creator>모시GO</dc:creator>
  <cp:lastModifiedBy>모시GO</cp:lastModifiedBy>
  <cp:revision>1</cp:revision>
  <dcterms:created xsi:type="dcterms:W3CDTF">2026-07-23T13:33:17Z</dcterms:created>
  <dcterms:modified xsi:type="dcterms:W3CDTF">2026-07-23T13:33:17Z</dcterms:modified>
</cp:coreProperties>
</file>