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4700" r:id="rId2"/>
    <p:sldId id="256" r:id="rId3"/>
    <p:sldId id="257" r:id="rId4"/>
    <p:sldId id="258" r:id="rId5"/>
    <p:sldId id="260" r:id="rId6"/>
    <p:sldId id="261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2" r:id="rId15"/>
    <p:sldId id="273" r:id="rId16"/>
    <p:sldId id="276" r:id="rId17"/>
    <p:sldId id="277" r:id="rId18"/>
    <p:sldId id="282" r:id="rId19"/>
    <p:sldId id="283" r:id="rId20"/>
    <p:sldId id="284" r:id="rId21"/>
    <p:sldId id="285" r:id="rId22"/>
    <p:sldId id="286" r:id="rId23"/>
    <p:sldId id="287" r:id="rId24"/>
    <p:sldId id="288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5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073"/>
    <p:restoredTop sz="94610"/>
  </p:normalViewPr>
  <p:slideViewPr>
    <p:cSldViewPr snapToGrid="0" snapToObjects="1">
      <p:cViewPr>
        <p:scale>
          <a:sx n="75" d="100"/>
          <a:sy n="75" d="100"/>
        </p:scale>
        <p:origin x="844" y="8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4031F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'24</c:v>
                </c:pt>
                <c:pt idx="1">
                  <c:v>'25</c:v>
                </c:pt>
                <c:pt idx="2">
                  <c:v>'26</c:v>
                </c:pt>
                <c:pt idx="3">
                  <c:v>'27</c:v>
                </c:pt>
                <c:pt idx="4">
                  <c:v>'28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138</c:v>
                </c:pt>
                <c:pt idx="2">
                  <c:v>190</c:v>
                </c:pt>
                <c:pt idx="3">
                  <c:v>262</c:v>
                </c:pt>
                <c:pt idx="4">
                  <c:v>360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D1-2346-8C74-C252F9CD1A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82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4031FF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52</c:v>
                </c:pt>
                <c:pt idx="2">
                  <c:v>41</c:v>
                </c:pt>
                <c:pt idx="3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70-4C4E-8E32-5950DFCDAA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82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7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82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ln w="38100" cap="flat">
              <a:solidFill>
                <a:srgbClr val="8C43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C43FF"/>
              </a:solidFill>
              <a:ln w="9525" cap="flat">
                <a:solidFill>
                  <a:srgbClr val="8C43FF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24</c:v>
                </c:pt>
                <c:pt idx="2">
                  <c:v>18</c:v>
                </c:pt>
                <c:pt idx="3">
                  <c:v>40</c:v>
                </c:pt>
                <c:pt idx="4">
                  <c:v>55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0F3-D74E-8D50-140F49AE59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82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7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82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031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3AC-B84D-852A-161A9FC7DEC2}"/>
              </c:ext>
            </c:extLst>
          </c:dPt>
          <c:dPt>
            <c:idx val="1"/>
            <c:bubble3D val="0"/>
            <c:spPr>
              <a:solidFill>
                <a:srgbClr val="8C43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3AC-B84D-852A-161A9FC7DEC2}"/>
              </c:ext>
            </c:extLst>
          </c:dPt>
          <c:dPt>
            <c:idx val="2"/>
            <c:bubble3D val="0"/>
            <c:spPr>
              <a:solidFill>
                <a:srgbClr val="C7C5F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3AC-B84D-852A-161A9FC7DEC2}"/>
              </c:ext>
            </c:extLst>
          </c:dPt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35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3AC-B84D-852A-161A9FC7DE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6B6B82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8C43FF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</c:v>
                </c:pt>
                <c:pt idx="1">
                  <c:v>48</c:v>
                </c:pt>
                <c:pt idx="2">
                  <c:v>33</c:v>
                </c:pt>
                <c:pt idx="3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11-C244-B09A-B245C192D6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82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7E7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82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4031FF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'24</c:v>
                </c:pt>
                <c:pt idx="1">
                  <c:v>'25</c:v>
                </c:pt>
                <c:pt idx="2">
                  <c:v>'26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35</c:v>
                </c:pt>
                <c:pt idx="2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49-184D-AEC4-C9B0C5AA99D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s2</c:v>
                </c:pt>
              </c:strCache>
            </c:strRef>
          </c:tx>
          <c:spPr>
            <a:solidFill>
              <a:srgbClr val="8E8BF5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'24</c:v>
                </c:pt>
                <c:pt idx="1">
                  <c:v>'25</c:v>
                </c:pt>
                <c:pt idx="2">
                  <c:v>'26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</c:v>
                </c:pt>
                <c:pt idx="1">
                  <c:v>25</c:v>
                </c:pt>
                <c:pt idx="2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149-184D-AEC4-C9B0C5AA99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82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7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82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
              <a:solidFill>
                <a:srgbClr val="6B6B82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4031FF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'24</c:v>
                </c:pt>
                <c:pt idx="1">
                  <c:v>'25</c:v>
                </c:pt>
                <c:pt idx="2">
                  <c:v>'26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55</c:v>
                </c:pt>
                <c:pt idx="2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64-7D42-B469-4E574F636D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이익</c:v>
                </c:pt>
              </c:strCache>
            </c:strRef>
          </c:tx>
          <c:spPr>
            <a:ln w="38100" cap="flat">
              <a:solidFill>
                <a:srgbClr val="11113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1113A"/>
              </a:solidFill>
              <a:ln w="9525" cap="flat">
                <a:solidFill>
                  <a:srgbClr val="11113A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'24</c:v>
                </c:pt>
                <c:pt idx="1">
                  <c:v>'25</c:v>
                </c:pt>
                <c:pt idx="2">
                  <c:v>'26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-5</c:v>
                </c:pt>
                <c:pt idx="1">
                  <c:v>8</c:v>
                </c:pt>
                <c:pt idx="2">
                  <c:v>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264-7D42-B469-4E574F636D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82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7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82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
              <a:solidFill>
                <a:srgbClr val="6B6B82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5165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및 내용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/>
          <p:cNvSpPr txBox="1"/>
          <p:nvPr userDrawn="1"/>
        </p:nvSpPr>
        <p:spPr>
          <a:xfrm>
            <a:off x="11460738" y="6498000"/>
            <a:ext cx="354461" cy="288000"/>
          </a:xfrm>
          <a:prstGeom prst="rect">
            <a:avLst/>
          </a:prstGeom>
        </p:spPr>
        <p:txBody>
          <a:bodyPr wrap="none" lIns="0" tIns="0" rIns="0" bIns="0" anchor="ctr"/>
          <a:lstStyle>
            <a:defPPr>
              <a:defRPr lang="ko-KR"/>
            </a:defPPr>
            <a:lvl1pPr marL="0" algn="ctr" defTabSz="914400" rtl="0" eaLnBrk="1" latinLnBrk="1" hangingPunct="1">
              <a:defRPr sz="600" kern="120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/>
              <a:t>|  </a:t>
            </a:r>
            <a:fld id="{53863ED4-A9C3-4307-A509-CA990A199134}" type="slidenum">
              <a:rPr lang="ko-KR" altLang="en-US" sz="600" smtClean="0"/>
              <a:pPr algn="ctr"/>
              <a:t>‹#›</a:t>
            </a:fld>
            <a:r>
              <a:rPr lang="en-US" altLang="ko-KR" sz="600"/>
              <a:t>p</a:t>
            </a:r>
            <a:endParaRPr lang="ko-KR" altLang="en-US" sz="60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FDEE1B-75C4-AF41-0177-E136E52316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31080" y="6560005"/>
            <a:ext cx="5722401" cy="16192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None/>
              <a:defRPr lang="ko-KR" altLang="en-US" sz="600" kern="1200" smtClean="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1pPr>
            <a:lvl2pPr>
              <a:defRPr lang="ko-KR" altLang="en-US" sz="554" kern="1200" smtClean="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2pPr>
            <a:lvl3pPr>
              <a:defRPr lang="ko-KR" altLang="en-US" sz="554" kern="1200" smtClean="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3pPr>
            <a:lvl4pPr>
              <a:defRPr lang="ko-KR" altLang="en-US" sz="554" kern="1200" smtClean="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4pPr>
            <a:lvl5pPr>
              <a:defRPr lang="ko-KR" altLang="en-US" sz="554" kern="1200">
                <a:solidFill>
                  <a:schemeClr val="bg1"/>
                </a:solidFill>
                <a:latin typeface="하나2.0 M" panose="020B0603000000000000" pitchFamily="50" charset="-127"/>
                <a:ea typeface="하나2.0 M" panose="020B0603000000000000" pitchFamily="50" charset="-127"/>
                <a:cs typeface="+mn-cs"/>
              </a:defRPr>
            </a:lvl5pPr>
          </a:lstStyle>
          <a:p>
            <a:pPr lvl="0"/>
            <a:r>
              <a:rPr lang="ko-KR" altLang="en-US"/>
              <a:t>본  자료의 제목을 적어주세요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5B4BF458-D4AC-1A16-662E-3B1A638A51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6001" y="432000"/>
            <a:ext cx="4743484" cy="20481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000">
                <a:solidFill>
                  <a:srgbClr val="009178"/>
                </a:solidFill>
                <a:latin typeface="하나2.0 M" panose="020B0603000000000000" pitchFamily="50" charset="-127"/>
                <a:ea typeface="하나2.0 M" panose="020B0603000000000000" pitchFamily="50" charset="-127"/>
              </a:defRPr>
            </a:lvl1pPr>
          </a:lstStyle>
          <a:p>
            <a:pPr lvl="0"/>
            <a:r>
              <a:rPr lang="ko-KR" altLang="en-US"/>
              <a:t>목차 이름</a:t>
            </a:r>
            <a:r>
              <a:rPr lang="en-US" altLang="ko-KR"/>
              <a:t>(</a:t>
            </a:r>
            <a:r>
              <a:rPr lang="ko-KR" altLang="en-US"/>
              <a:t>개요</a:t>
            </a:r>
            <a:r>
              <a:rPr lang="en-US" altLang="ko-KR"/>
              <a:t>)</a:t>
            </a:r>
            <a:r>
              <a:rPr lang="ko-KR" altLang="en-US"/>
              <a:t>를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M 10pt</a:t>
            </a:r>
            <a:endParaRPr lang="ko-KR" altLang="en-US"/>
          </a:p>
        </p:txBody>
      </p:sp>
      <p:sp>
        <p:nvSpPr>
          <p:cNvPr id="14" name="텍스트 개체 틀 12">
            <a:extLst>
              <a:ext uri="{FF2B5EF4-FFF2-40B4-BE49-F238E27FC236}">
                <a16:creationId xmlns:a16="http://schemas.microsoft.com/office/drawing/2014/main" id="{1FCCB0AD-E057-73DD-C98E-788768A9F6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6001" y="636814"/>
            <a:ext cx="11040000" cy="432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800">
                <a:solidFill>
                  <a:srgbClr val="009178"/>
                </a:solidFill>
                <a:latin typeface="하나2.0 B" panose="020B0303000000000000" pitchFamily="50" charset="-127"/>
                <a:ea typeface="하나2.0 B" panose="020B0303000000000000" pitchFamily="50" charset="-127"/>
              </a:defRPr>
            </a:lvl1pPr>
          </a:lstStyle>
          <a:p>
            <a:pPr lvl="0"/>
            <a:r>
              <a:rPr lang="ko-KR" altLang="en-US"/>
              <a:t>주요 핵심 내용을 작성해 주세요 </a:t>
            </a:r>
            <a:r>
              <a:rPr lang="en-US" altLang="ko-KR"/>
              <a:t>: </a:t>
            </a:r>
            <a:r>
              <a:rPr lang="ko-KR" altLang="en-US"/>
              <a:t>하나</a:t>
            </a:r>
            <a:r>
              <a:rPr lang="en-US" altLang="ko-KR"/>
              <a:t>2.0 B 28pt</a:t>
            </a:r>
            <a:endParaRPr lang="ko-KR" altLang="en-US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31C1250-AEDB-198B-1014-410AB74487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31080" y="6560005"/>
            <a:ext cx="5722401" cy="1619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CDCEC6E-9170-1FCC-B190-F89F9D820F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" y="6399997"/>
            <a:ext cx="12386733" cy="69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326805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7.xml"/><Relationship Id="rId3" Type="http://schemas.openxmlformats.org/officeDocument/2006/relationships/chart" Target="../charts/chart2.xml"/><Relationship Id="rId7" Type="http://schemas.openxmlformats.org/officeDocument/2006/relationships/chart" Target="../charts/chart6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70CA6-1FE4-0B3A-22A6-519C351D7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4806502-98BA-0D88-F39E-ED08BF8AE8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56002" y="636814"/>
            <a:ext cx="2555823" cy="432000"/>
          </a:xfrm>
        </p:spPr>
        <p:txBody>
          <a:bodyPr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20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사업계획서의</a:t>
            </a:r>
            <a:endParaRPr lang="ko-KR" altLang="en-US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3" name="텍스트 개체 틀 3">
            <a:extLst>
              <a:ext uri="{FF2B5EF4-FFF2-40B4-BE49-F238E27FC236}">
                <a16:creationId xmlns:a16="http://schemas.microsoft.com/office/drawing/2014/main" id="{15C1EA94-3FA9-E7E7-6463-F8274BEFA73A}"/>
              </a:ext>
            </a:extLst>
          </p:cNvPr>
          <p:cNvSpPr txBox="1">
            <a:spLocks/>
          </p:cNvSpPr>
          <p:nvPr/>
        </p:nvSpPr>
        <p:spPr>
          <a:xfrm>
            <a:off x="1956002" y="988788"/>
            <a:ext cx="2555823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844083" rtl="0" eaLnBrk="1" latinLnBrk="1" hangingPunct="1">
              <a:lnSpc>
                <a:spcPct val="90000"/>
              </a:lnSpc>
              <a:spcBef>
                <a:spcPts val="923"/>
              </a:spcBef>
              <a:buFont typeface="Arial" pitchFamily="34" charset="0"/>
              <a:buNone/>
              <a:defRPr sz="2800" kern="1200">
                <a:solidFill>
                  <a:srgbClr val="009178"/>
                </a:solidFill>
                <a:latin typeface="하나2.0 B" panose="020B0303000000000000" pitchFamily="50" charset="-127"/>
                <a:ea typeface="하나2.0 B" panose="020B0303000000000000" pitchFamily="50" charset="-127"/>
                <a:cs typeface="+mn-cs"/>
              </a:defRPr>
            </a:lvl1pPr>
            <a:lvl2pPr marL="633062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22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5103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8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77145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99186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21227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69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65310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87351" indent="-211021" algn="l" defTabSz="844083" rtl="0" eaLnBrk="1" latinLnBrk="1" hangingPunct="1">
              <a:lnSpc>
                <a:spcPct val="90000"/>
              </a:lnSpc>
              <a:spcBef>
                <a:spcPts val="462"/>
              </a:spcBef>
              <a:buFont typeface="Arial" pitchFamily="34" charset="0"/>
              <a:buChar char="•"/>
              <a:defRPr sz="166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구성 요소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7D45C22-FA26-3446-72D0-816E5BCE28C4}"/>
              </a:ext>
            </a:extLst>
          </p:cNvPr>
          <p:cNvGrpSpPr/>
          <p:nvPr/>
        </p:nvGrpSpPr>
        <p:grpSpPr>
          <a:xfrm>
            <a:off x="1732249" y="1700809"/>
            <a:ext cx="8755249" cy="4215897"/>
            <a:chOff x="1732249" y="1700809"/>
            <a:chExt cx="8755249" cy="3633053"/>
          </a:xfrm>
        </p:grpSpPr>
        <p:sp>
          <p:nvSpPr>
            <p:cNvPr id="14" name="Google Shape;3825;p249">
              <a:extLst>
                <a:ext uri="{FF2B5EF4-FFF2-40B4-BE49-F238E27FC236}">
                  <a16:creationId xmlns:a16="http://schemas.microsoft.com/office/drawing/2014/main" id="{F5C2C491-B523-25BE-A5BC-D65709DEFEC4}"/>
                </a:ext>
              </a:extLst>
            </p:cNvPr>
            <p:cNvSpPr/>
            <p:nvPr/>
          </p:nvSpPr>
          <p:spPr>
            <a:xfrm>
              <a:off x="1949970" y="1700809"/>
              <a:ext cx="1603221" cy="430387"/>
            </a:xfrm>
            <a:prstGeom prst="rect">
              <a:avLst/>
            </a:prstGeom>
            <a:solidFill>
              <a:srgbClr val="242221"/>
            </a:solidFill>
            <a:ln w="9525" cap="flat" cmpd="sng">
              <a:solidFill>
                <a:srgbClr val="2525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0775" tIns="30775" rIns="30775" bIns="30775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026"/>
              </a:pPr>
              <a:r>
                <a:rPr lang="en-US" altLang="ko-KR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1. </a:t>
              </a:r>
              <a:r>
                <a:rPr lang="ko-KR" altLang="en-US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오프닝</a:t>
              </a:r>
              <a:endParaRPr sz="1400" dirty="0">
                <a:solidFill>
                  <a:srgbClr val="000000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  <a:p>
              <a:pPr algn="ctr">
                <a:buClr>
                  <a:srgbClr val="000000"/>
                </a:buClr>
                <a:buSzPts val="1026"/>
              </a:pPr>
              <a:r>
                <a:rPr lang="en-US" altLang="ko-KR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(</a:t>
              </a:r>
              <a:r>
                <a:rPr lang="en-US" altLang="ko-KR" sz="1026" b="1" dirty="0" err="1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Opening</a:t>
              </a:r>
              <a:r>
                <a:rPr lang="en-US" altLang="ko-KR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)</a:t>
              </a:r>
              <a:endParaRPr sz="1026" b="1" dirty="0">
                <a:solidFill>
                  <a:schemeClr val="lt1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</p:txBody>
        </p:sp>
        <p:sp>
          <p:nvSpPr>
            <p:cNvPr id="15" name="Google Shape;3826;p249">
              <a:extLst>
                <a:ext uri="{FF2B5EF4-FFF2-40B4-BE49-F238E27FC236}">
                  <a16:creationId xmlns:a16="http://schemas.microsoft.com/office/drawing/2014/main" id="{DD8595F4-D891-7A5F-5912-76E74E637635}"/>
                </a:ext>
              </a:extLst>
            </p:cNvPr>
            <p:cNvSpPr/>
            <p:nvPr/>
          </p:nvSpPr>
          <p:spPr>
            <a:xfrm>
              <a:off x="3622911" y="1700809"/>
              <a:ext cx="1603221" cy="430387"/>
            </a:xfrm>
            <a:prstGeom prst="rect">
              <a:avLst/>
            </a:prstGeom>
            <a:solidFill>
              <a:srgbClr val="242221"/>
            </a:solidFill>
            <a:ln w="9525" cap="flat" cmpd="sng">
              <a:solidFill>
                <a:srgbClr val="2525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0775" tIns="30775" rIns="30775" bIns="30775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026"/>
              </a:pPr>
              <a:r>
                <a:rPr lang="en-US" altLang="ko-KR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2. </a:t>
              </a:r>
              <a:r>
                <a:rPr lang="ko-KR" altLang="en-US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필요성</a:t>
              </a:r>
              <a:r>
                <a:rPr lang="en-US" altLang="ko-KR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(</a:t>
              </a:r>
              <a:r>
                <a:rPr lang="ko-KR" altLang="en-US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문제</a:t>
              </a:r>
              <a:r>
                <a:rPr lang="en-US" altLang="ko-KR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/</a:t>
              </a:r>
              <a:r>
                <a:rPr lang="ko-KR" altLang="en-US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니즈</a:t>
              </a:r>
              <a:r>
                <a:rPr lang="en-US" altLang="ko-KR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)</a:t>
              </a:r>
              <a:endParaRPr sz="1400" dirty="0">
                <a:solidFill>
                  <a:srgbClr val="000000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  <a:p>
              <a:pPr algn="ctr">
                <a:buClr>
                  <a:srgbClr val="000000"/>
                </a:buClr>
                <a:buSzPts val="1026"/>
              </a:pPr>
              <a:r>
                <a:rPr lang="en-US" altLang="ko-KR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(</a:t>
              </a:r>
              <a:r>
                <a:rPr lang="en-US" altLang="ko-KR" sz="1026" b="1" dirty="0" err="1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Problem</a:t>
              </a:r>
              <a:r>
                <a:rPr lang="en-US" altLang="ko-KR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/</a:t>
              </a:r>
              <a:r>
                <a:rPr lang="en-US" altLang="ko-KR" sz="1026" b="1" dirty="0" err="1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Needs</a:t>
              </a:r>
              <a:r>
                <a:rPr lang="en-US" altLang="ko-KR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)</a:t>
              </a:r>
              <a:endParaRPr sz="1026" b="1" dirty="0">
                <a:solidFill>
                  <a:schemeClr val="lt1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</p:txBody>
        </p:sp>
        <p:sp>
          <p:nvSpPr>
            <p:cNvPr id="18" name="Google Shape;3827;p249">
              <a:extLst>
                <a:ext uri="{FF2B5EF4-FFF2-40B4-BE49-F238E27FC236}">
                  <a16:creationId xmlns:a16="http://schemas.microsoft.com/office/drawing/2014/main" id="{CF89E84D-89C8-8FA7-A096-2FFE247FCEBC}"/>
                </a:ext>
              </a:extLst>
            </p:cNvPr>
            <p:cNvSpPr/>
            <p:nvPr/>
          </p:nvSpPr>
          <p:spPr>
            <a:xfrm>
              <a:off x="5295851" y="1700809"/>
              <a:ext cx="1603221" cy="430387"/>
            </a:xfrm>
            <a:prstGeom prst="rect">
              <a:avLst/>
            </a:prstGeom>
            <a:solidFill>
              <a:srgbClr val="242221"/>
            </a:solidFill>
            <a:ln w="9525" cap="flat" cmpd="sng">
              <a:solidFill>
                <a:srgbClr val="2525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0775" tIns="30775" rIns="30775" bIns="30775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026"/>
              </a:pPr>
              <a:r>
                <a:rPr lang="en-US" altLang="ko-KR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3. </a:t>
              </a:r>
              <a:r>
                <a:rPr lang="ko-KR" altLang="en-US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해결책</a:t>
              </a:r>
              <a:endParaRPr sz="1026" b="1" dirty="0">
                <a:solidFill>
                  <a:schemeClr val="lt1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  <a:p>
              <a:pPr algn="ctr">
                <a:buClr>
                  <a:srgbClr val="000000"/>
                </a:buClr>
                <a:buSzPts val="1026"/>
              </a:pPr>
              <a:r>
                <a:rPr lang="en-US" altLang="ko-KR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(</a:t>
              </a:r>
              <a:r>
                <a:rPr lang="en-US" altLang="ko-KR" sz="1026" b="1" dirty="0" err="1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Solution</a:t>
              </a:r>
              <a:r>
                <a:rPr lang="en-US" altLang="ko-KR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)</a:t>
              </a:r>
              <a:endParaRPr sz="1026" b="1" dirty="0">
                <a:solidFill>
                  <a:schemeClr val="lt1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</p:txBody>
        </p:sp>
        <p:sp>
          <p:nvSpPr>
            <p:cNvPr id="19" name="Google Shape;3828;p249">
              <a:extLst>
                <a:ext uri="{FF2B5EF4-FFF2-40B4-BE49-F238E27FC236}">
                  <a16:creationId xmlns:a16="http://schemas.microsoft.com/office/drawing/2014/main" id="{7090994A-93CF-01BF-22E4-62B6524DBB8B}"/>
                </a:ext>
              </a:extLst>
            </p:cNvPr>
            <p:cNvSpPr/>
            <p:nvPr/>
          </p:nvSpPr>
          <p:spPr>
            <a:xfrm>
              <a:off x="6972092" y="1700809"/>
              <a:ext cx="1603221" cy="430387"/>
            </a:xfrm>
            <a:prstGeom prst="rect">
              <a:avLst/>
            </a:prstGeom>
            <a:solidFill>
              <a:srgbClr val="242221"/>
            </a:solidFill>
            <a:ln w="9525" cap="flat" cmpd="sng">
              <a:solidFill>
                <a:srgbClr val="2525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0775" tIns="30775" rIns="30775" bIns="30775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026"/>
              </a:pPr>
              <a:r>
                <a:rPr lang="en-US" altLang="ko-KR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4. </a:t>
              </a:r>
              <a:r>
                <a:rPr lang="ko-KR" altLang="en-US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실제성과</a:t>
              </a:r>
              <a:endParaRPr sz="1026" b="1" dirty="0">
                <a:solidFill>
                  <a:schemeClr val="lt1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  <a:p>
              <a:pPr algn="ctr">
                <a:buClr>
                  <a:srgbClr val="000000"/>
                </a:buClr>
                <a:buSzPts val="1026"/>
              </a:pPr>
              <a:r>
                <a:rPr lang="en-US" altLang="ko-KR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(</a:t>
              </a:r>
              <a:r>
                <a:rPr lang="ko-KR" altLang="ko-KR" sz="1026" b="1" dirty="0" err="1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Performance</a:t>
              </a:r>
              <a:r>
                <a:rPr lang="en-US" altLang="ko-KR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)</a:t>
              </a:r>
              <a:endParaRPr sz="1026" b="1" dirty="0">
                <a:solidFill>
                  <a:schemeClr val="lt1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</p:txBody>
        </p:sp>
        <p:sp>
          <p:nvSpPr>
            <p:cNvPr id="20" name="Google Shape;3829;p249">
              <a:extLst>
                <a:ext uri="{FF2B5EF4-FFF2-40B4-BE49-F238E27FC236}">
                  <a16:creationId xmlns:a16="http://schemas.microsoft.com/office/drawing/2014/main" id="{7C627143-82B3-252F-BDAE-B70C8B4E5280}"/>
                </a:ext>
              </a:extLst>
            </p:cNvPr>
            <p:cNvSpPr/>
            <p:nvPr/>
          </p:nvSpPr>
          <p:spPr>
            <a:xfrm>
              <a:off x="8648333" y="1700809"/>
              <a:ext cx="1603221" cy="430387"/>
            </a:xfrm>
            <a:prstGeom prst="rect">
              <a:avLst/>
            </a:prstGeom>
            <a:solidFill>
              <a:srgbClr val="242221"/>
            </a:solidFill>
            <a:ln w="9525" cap="flat" cmpd="sng">
              <a:solidFill>
                <a:srgbClr val="2525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0775" tIns="30775" rIns="30775" bIns="30775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026"/>
              </a:pPr>
              <a:r>
                <a:rPr lang="en-US" altLang="ko-KR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5. </a:t>
              </a:r>
              <a:r>
                <a:rPr lang="ko-KR" altLang="en-US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경쟁현황</a:t>
              </a:r>
              <a:endParaRPr sz="1026" b="1" dirty="0">
                <a:solidFill>
                  <a:schemeClr val="lt1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  <a:p>
              <a:pPr algn="ctr">
                <a:buClr>
                  <a:srgbClr val="000000"/>
                </a:buClr>
                <a:buSzPts val="1026"/>
              </a:pPr>
              <a:r>
                <a:rPr lang="en-US" altLang="ko-KR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(</a:t>
              </a:r>
              <a:r>
                <a:rPr lang="en-US" altLang="ko-KR" sz="1026" b="1" dirty="0" err="1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Competition</a:t>
              </a:r>
              <a:r>
                <a:rPr lang="en-US" altLang="ko-KR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)</a:t>
              </a:r>
              <a:endParaRPr sz="1026" b="1" dirty="0">
                <a:solidFill>
                  <a:schemeClr val="lt1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</p:txBody>
        </p:sp>
        <p:sp>
          <p:nvSpPr>
            <p:cNvPr id="21" name="Google Shape;3830;p249">
              <a:extLst>
                <a:ext uri="{FF2B5EF4-FFF2-40B4-BE49-F238E27FC236}">
                  <a16:creationId xmlns:a16="http://schemas.microsoft.com/office/drawing/2014/main" id="{DAC4E834-9413-1450-6DEE-8CAE13C7C085}"/>
                </a:ext>
              </a:extLst>
            </p:cNvPr>
            <p:cNvSpPr/>
            <p:nvPr/>
          </p:nvSpPr>
          <p:spPr>
            <a:xfrm>
              <a:off x="1949970" y="3548618"/>
              <a:ext cx="1603221" cy="430383"/>
            </a:xfrm>
            <a:prstGeom prst="rect">
              <a:avLst/>
            </a:prstGeom>
            <a:solidFill>
              <a:srgbClr val="242221"/>
            </a:solidFill>
            <a:ln w="9525" cap="flat" cmpd="sng">
              <a:solidFill>
                <a:srgbClr val="2525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0775" tIns="30775" rIns="30775" bIns="30775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026"/>
              </a:pPr>
              <a:r>
                <a:rPr lang="en-US" altLang="ko-KR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6. </a:t>
              </a:r>
              <a:r>
                <a:rPr lang="ko-KR" altLang="en-US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시장기회</a:t>
              </a:r>
              <a:endParaRPr sz="1026" b="1" dirty="0">
                <a:solidFill>
                  <a:schemeClr val="lt1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  <a:p>
              <a:pPr algn="ctr">
                <a:buClr>
                  <a:srgbClr val="000000"/>
                </a:buClr>
                <a:buSzPts val="1026"/>
              </a:pPr>
              <a:r>
                <a:rPr lang="en-US" altLang="ko-KR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(Market Opportunity)</a:t>
              </a:r>
              <a:endParaRPr sz="1026" b="1" dirty="0">
                <a:solidFill>
                  <a:schemeClr val="lt1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</p:txBody>
        </p:sp>
        <p:sp>
          <p:nvSpPr>
            <p:cNvPr id="22" name="Google Shape;3831;p249">
              <a:extLst>
                <a:ext uri="{FF2B5EF4-FFF2-40B4-BE49-F238E27FC236}">
                  <a16:creationId xmlns:a16="http://schemas.microsoft.com/office/drawing/2014/main" id="{2C22A759-17D8-3224-4975-1AE26C42FB94}"/>
                </a:ext>
              </a:extLst>
            </p:cNvPr>
            <p:cNvSpPr/>
            <p:nvPr/>
          </p:nvSpPr>
          <p:spPr>
            <a:xfrm>
              <a:off x="3622911" y="3548618"/>
              <a:ext cx="1603221" cy="430383"/>
            </a:xfrm>
            <a:prstGeom prst="rect">
              <a:avLst/>
            </a:prstGeom>
            <a:solidFill>
              <a:srgbClr val="242221"/>
            </a:solidFill>
            <a:ln w="9525" cap="flat" cmpd="sng">
              <a:solidFill>
                <a:srgbClr val="2525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0775" tIns="30775" rIns="30775" bIns="30775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026"/>
              </a:pPr>
              <a:r>
                <a:rPr lang="en-US" altLang="ko-KR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7. </a:t>
              </a:r>
              <a:r>
                <a:rPr lang="ko-KR" altLang="en-US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비즈니스 모델</a:t>
              </a:r>
              <a:endParaRPr sz="1026" b="1" dirty="0">
                <a:solidFill>
                  <a:schemeClr val="lt1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  <a:p>
              <a:pPr algn="ctr">
                <a:buClr>
                  <a:srgbClr val="000000"/>
                </a:buClr>
                <a:buSzPts val="1026"/>
              </a:pPr>
              <a:r>
                <a:rPr lang="en-US" altLang="ko-KR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(Business Model)</a:t>
              </a:r>
              <a:endParaRPr sz="1026" b="1" dirty="0">
                <a:solidFill>
                  <a:schemeClr val="lt1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</p:txBody>
        </p:sp>
        <p:sp>
          <p:nvSpPr>
            <p:cNvPr id="23" name="Google Shape;3832;p249">
              <a:extLst>
                <a:ext uri="{FF2B5EF4-FFF2-40B4-BE49-F238E27FC236}">
                  <a16:creationId xmlns:a16="http://schemas.microsoft.com/office/drawing/2014/main" id="{47CDC287-EA57-CF10-0EF2-9C17B8B610D4}"/>
                </a:ext>
              </a:extLst>
            </p:cNvPr>
            <p:cNvSpPr/>
            <p:nvPr/>
          </p:nvSpPr>
          <p:spPr>
            <a:xfrm>
              <a:off x="5295851" y="3548618"/>
              <a:ext cx="1603221" cy="430383"/>
            </a:xfrm>
            <a:prstGeom prst="rect">
              <a:avLst/>
            </a:prstGeom>
            <a:solidFill>
              <a:srgbClr val="242221"/>
            </a:solidFill>
            <a:ln w="9525" cap="flat" cmpd="sng">
              <a:solidFill>
                <a:srgbClr val="2525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0775" tIns="30775" rIns="30775" bIns="30775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026"/>
              </a:pPr>
              <a:r>
                <a:rPr lang="en-US" altLang="ko-KR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8. </a:t>
              </a:r>
              <a:r>
                <a:rPr lang="ko-KR" altLang="en-US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향후전략</a:t>
              </a:r>
              <a:endParaRPr sz="1026" b="1" dirty="0">
                <a:solidFill>
                  <a:schemeClr val="lt1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  <a:p>
              <a:pPr algn="ctr">
                <a:buClr>
                  <a:srgbClr val="000000"/>
                </a:buClr>
                <a:buSzPts val="1026"/>
              </a:pPr>
              <a:r>
                <a:rPr lang="en-US" altLang="ko-KR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(</a:t>
              </a:r>
              <a:r>
                <a:rPr lang="en-US" altLang="ko-KR" sz="1026" b="1" dirty="0" err="1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Growth</a:t>
              </a:r>
              <a:r>
                <a:rPr lang="ko-KR" altLang="en-US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en-US" altLang="ko-KR" sz="1026" b="1" dirty="0" err="1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Strategy</a:t>
              </a:r>
              <a:r>
                <a:rPr lang="en-US" altLang="ko-KR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)</a:t>
              </a:r>
              <a:endParaRPr sz="1026" b="1" dirty="0">
                <a:solidFill>
                  <a:schemeClr val="lt1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</p:txBody>
        </p:sp>
        <p:grpSp>
          <p:nvGrpSpPr>
            <p:cNvPr id="24" name="Google Shape;3833;p249">
              <a:extLst>
                <a:ext uri="{FF2B5EF4-FFF2-40B4-BE49-F238E27FC236}">
                  <a16:creationId xmlns:a16="http://schemas.microsoft.com/office/drawing/2014/main" id="{B5378FA3-B848-B534-4A26-2D7D67A93772}"/>
                </a:ext>
              </a:extLst>
            </p:cNvPr>
            <p:cNvGrpSpPr/>
            <p:nvPr/>
          </p:nvGrpSpPr>
          <p:grpSpPr>
            <a:xfrm>
              <a:off x="1732249" y="2718715"/>
              <a:ext cx="8755249" cy="1735783"/>
              <a:chOff x="243498" y="3422232"/>
              <a:chExt cx="10237257" cy="2029600"/>
            </a:xfrm>
          </p:grpSpPr>
          <p:cxnSp>
            <p:nvCxnSpPr>
              <p:cNvPr id="25" name="Google Shape;3834;p249">
                <a:extLst>
                  <a:ext uri="{FF2B5EF4-FFF2-40B4-BE49-F238E27FC236}">
                    <a16:creationId xmlns:a16="http://schemas.microsoft.com/office/drawing/2014/main" id="{4CA2071D-357D-6545-056F-3FB2BF75BD7B}"/>
                  </a:ext>
                </a:extLst>
              </p:cNvPr>
              <p:cNvCxnSpPr/>
              <p:nvPr/>
            </p:nvCxnSpPr>
            <p:spPr>
              <a:xfrm>
                <a:off x="243498" y="5451832"/>
                <a:ext cx="9749768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5534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cxnSp>
            <p:nvCxnSpPr>
              <p:cNvPr id="26" name="Google Shape;3835;p249">
                <a:extLst>
                  <a:ext uri="{FF2B5EF4-FFF2-40B4-BE49-F238E27FC236}">
                    <a16:creationId xmlns:a16="http://schemas.microsoft.com/office/drawing/2014/main" id="{F19F0F19-5F4A-DD5D-55C8-F256C67627C6}"/>
                  </a:ext>
                </a:extLst>
              </p:cNvPr>
              <p:cNvCxnSpPr/>
              <p:nvPr/>
            </p:nvCxnSpPr>
            <p:spPr>
              <a:xfrm>
                <a:off x="730987" y="3422232"/>
                <a:ext cx="9749768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5534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</p:grpSp>
        <p:sp>
          <p:nvSpPr>
            <p:cNvPr id="27" name="Google Shape;3836;p249">
              <a:extLst>
                <a:ext uri="{FF2B5EF4-FFF2-40B4-BE49-F238E27FC236}">
                  <a16:creationId xmlns:a16="http://schemas.microsoft.com/office/drawing/2014/main" id="{5EE0A012-C84D-CE96-16B2-8DE8A60C0853}"/>
                </a:ext>
              </a:extLst>
            </p:cNvPr>
            <p:cNvSpPr/>
            <p:nvPr/>
          </p:nvSpPr>
          <p:spPr>
            <a:xfrm>
              <a:off x="6972092" y="3548618"/>
              <a:ext cx="1603221" cy="430383"/>
            </a:xfrm>
            <a:prstGeom prst="rect">
              <a:avLst/>
            </a:prstGeom>
            <a:solidFill>
              <a:srgbClr val="242221"/>
            </a:solidFill>
            <a:ln w="9525" cap="flat" cmpd="sng">
              <a:solidFill>
                <a:srgbClr val="2525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0775" tIns="30775" rIns="30775" bIns="30775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026"/>
              </a:pPr>
              <a:r>
                <a:rPr lang="en-US" altLang="ko-KR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9. </a:t>
              </a:r>
              <a:r>
                <a:rPr lang="ko-KR" altLang="en-US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팀</a:t>
              </a:r>
              <a:endParaRPr sz="1026" b="1" dirty="0">
                <a:solidFill>
                  <a:schemeClr val="lt1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  <a:p>
              <a:pPr algn="ctr">
                <a:buClr>
                  <a:srgbClr val="000000"/>
                </a:buClr>
                <a:buSzPts val="1026"/>
              </a:pPr>
              <a:r>
                <a:rPr lang="en-US" altLang="ko-KR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(</a:t>
              </a:r>
              <a:r>
                <a:rPr lang="en-US" altLang="ko-KR" sz="1026" b="1" dirty="0" err="1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Team</a:t>
              </a:r>
              <a:r>
                <a:rPr lang="en-US" altLang="ko-KR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)</a:t>
              </a:r>
              <a:endParaRPr sz="1026" b="1" dirty="0">
                <a:solidFill>
                  <a:schemeClr val="lt1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</p:txBody>
        </p:sp>
        <p:sp>
          <p:nvSpPr>
            <p:cNvPr id="28" name="Google Shape;3837;p249">
              <a:extLst>
                <a:ext uri="{FF2B5EF4-FFF2-40B4-BE49-F238E27FC236}">
                  <a16:creationId xmlns:a16="http://schemas.microsoft.com/office/drawing/2014/main" id="{E6691FD2-E878-3AE5-35B1-3A25D6DC9555}"/>
                </a:ext>
              </a:extLst>
            </p:cNvPr>
            <p:cNvSpPr/>
            <p:nvPr/>
          </p:nvSpPr>
          <p:spPr>
            <a:xfrm>
              <a:off x="8648333" y="3548618"/>
              <a:ext cx="1603221" cy="430383"/>
            </a:xfrm>
            <a:prstGeom prst="rect">
              <a:avLst/>
            </a:prstGeom>
            <a:solidFill>
              <a:srgbClr val="242221"/>
            </a:solidFill>
            <a:ln w="9525" cap="flat" cmpd="sng">
              <a:solidFill>
                <a:srgbClr val="25252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30775" tIns="30775" rIns="30775" bIns="30775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026"/>
              </a:pPr>
              <a:r>
                <a:rPr lang="en-US" altLang="ko-KR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10. </a:t>
              </a:r>
              <a:r>
                <a:rPr lang="ko-KR" altLang="en-US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재무</a:t>
              </a:r>
              <a:r>
                <a:rPr lang="en-US" altLang="ko-KR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&amp;</a:t>
              </a:r>
              <a:r>
                <a:rPr lang="ko-KR" altLang="en-US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투자</a:t>
              </a:r>
              <a:endParaRPr sz="1026" b="1" dirty="0">
                <a:solidFill>
                  <a:schemeClr val="lt1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  <a:p>
              <a:pPr algn="ctr">
                <a:buClr>
                  <a:srgbClr val="000000"/>
                </a:buClr>
                <a:buSzPts val="1026"/>
              </a:pPr>
              <a:r>
                <a:rPr lang="en-US" altLang="ko-KR" sz="1026" b="1" dirty="0">
                  <a:solidFill>
                    <a:schemeClr val="lt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(Finance)</a:t>
              </a:r>
              <a:endParaRPr sz="1026" b="1" dirty="0">
                <a:solidFill>
                  <a:schemeClr val="lt1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</p:txBody>
        </p:sp>
        <p:sp>
          <p:nvSpPr>
            <p:cNvPr id="32" name="Google Shape;3838;p249">
              <a:extLst>
                <a:ext uri="{FF2B5EF4-FFF2-40B4-BE49-F238E27FC236}">
                  <a16:creationId xmlns:a16="http://schemas.microsoft.com/office/drawing/2014/main" id="{5DCB1647-276E-D317-9D88-D77E4C48BBF1}"/>
                </a:ext>
              </a:extLst>
            </p:cNvPr>
            <p:cNvSpPr/>
            <p:nvPr/>
          </p:nvSpPr>
          <p:spPr>
            <a:xfrm>
              <a:off x="1949970" y="2131195"/>
              <a:ext cx="1603221" cy="1354861"/>
            </a:xfrm>
            <a:prstGeom prst="rect">
              <a:avLst/>
            </a:prstGeom>
            <a:solidFill>
              <a:srgbClr val="F6F4F4"/>
            </a:solidFill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8000" tIns="0" rIns="108000" bIns="0" anchor="ctr" anchorCtr="0">
              <a:noAutofit/>
            </a:bodyPr>
            <a:lstStyle/>
            <a:p>
              <a:pPr algn="ctr">
                <a:lnSpc>
                  <a:spcPct val="154516"/>
                </a:lnSpc>
                <a:buClr>
                  <a:srgbClr val="000000"/>
                </a:buClr>
                <a:buSzPts val="941"/>
              </a:pP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팀과 아이템을 간략히</a:t>
              </a:r>
              <a:endParaRPr sz="941" dirty="0">
                <a:solidFill>
                  <a:schemeClr val="dk1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  <a:p>
              <a:pPr algn="ctr">
                <a:lnSpc>
                  <a:spcPct val="154516"/>
                </a:lnSpc>
                <a:buClr>
                  <a:srgbClr val="000000"/>
                </a:buClr>
                <a:buSzPts val="941"/>
              </a:pP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소개하는 표지</a:t>
              </a:r>
              <a:endParaRPr lang="en-US" altLang="ko-KR" sz="941" dirty="0">
                <a:solidFill>
                  <a:schemeClr val="dk1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  <a:p>
              <a:pPr algn="ctr">
                <a:lnSpc>
                  <a:spcPct val="154516"/>
                </a:lnSpc>
                <a:buClr>
                  <a:srgbClr val="000000"/>
                </a:buClr>
                <a:buSzPts val="941"/>
              </a:pPr>
              <a:r>
                <a:rPr 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(</a:t>
              </a:r>
              <a:r>
                <a:rPr lang="ko-KR" altLang="en-US" sz="941" b="1" dirty="0">
                  <a:solidFill>
                    <a:srgbClr val="FF5534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관심</a:t>
              </a: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 유도</a:t>
              </a:r>
              <a:r>
                <a:rPr lang="en-US" altLang="ko-KR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)</a:t>
              </a:r>
              <a:endParaRPr sz="1400" dirty="0">
                <a:solidFill>
                  <a:srgbClr val="000000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</p:txBody>
        </p:sp>
        <p:sp>
          <p:nvSpPr>
            <p:cNvPr id="33" name="Google Shape;3839;p249">
              <a:extLst>
                <a:ext uri="{FF2B5EF4-FFF2-40B4-BE49-F238E27FC236}">
                  <a16:creationId xmlns:a16="http://schemas.microsoft.com/office/drawing/2014/main" id="{C49333C8-AC75-3CA6-E4CE-C8FA5C807C54}"/>
                </a:ext>
              </a:extLst>
            </p:cNvPr>
            <p:cNvSpPr/>
            <p:nvPr/>
          </p:nvSpPr>
          <p:spPr>
            <a:xfrm>
              <a:off x="3622911" y="2131194"/>
              <a:ext cx="1603221" cy="1354861"/>
            </a:xfrm>
            <a:prstGeom prst="rect">
              <a:avLst/>
            </a:prstGeom>
            <a:solidFill>
              <a:srgbClr val="F6F4F4"/>
            </a:solidFill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8000" tIns="0" rIns="108000" bIns="0" anchor="ctr" anchorCtr="0">
              <a:noAutofit/>
            </a:bodyPr>
            <a:lstStyle/>
            <a:p>
              <a:pPr algn="ctr">
                <a:lnSpc>
                  <a:spcPct val="154516"/>
                </a:lnSpc>
                <a:buClr>
                  <a:srgbClr val="000000"/>
                </a:buClr>
                <a:buSzPts val="941"/>
              </a:pP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필요성을 </a:t>
              </a:r>
              <a:r>
                <a:rPr lang="ko-KR" altLang="en-US" sz="941" b="1" dirty="0">
                  <a:solidFill>
                    <a:srgbClr val="FF5534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공감</a:t>
              </a: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시키는 게 가장 중요</a:t>
              </a:r>
              <a:r>
                <a:rPr lang="en-US" altLang="ko-KR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(</a:t>
              </a: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심각성</a:t>
              </a:r>
              <a:r>
                <a:rPr lang="en-US" altLang="ko-KR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/</a:t>
              </a: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시의성</a:t>
              </a:r>
              <a:r>
                <a:rPr lang="en-US" altLang="ko-KR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)</a:t>
              </a:r>
              <a:endParaRPr sz="1400" dirty="0">
                <a:solidFill>
                  <a:srgbClr val="000000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  <a:p>
              <a:pPr algn="ctr">
                <a:lnSpc>
                  <a:spcPct val="154516"/>
                </a:lnSpc>
                <a:buClr>
                  <a:srgbClr val="000000"/>
                </a:buClr>
                <a:buSzPts val="941"/>
              </a:pP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고객이 누구인지 명시하고 해결하려는 문제나 니즈를 근거에 기반해 표현</a:t>
              </a:r>
              <a:endParaRPr sz="1400" dirty="0">
                <a:solidFill>
                  <a:srgbClr val="000000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</p:txBody>
        </p:sp>
        <p:sp>
          <p:nvSpPr>
            <p:cNvPr id="34" name="Google Shape;3840;p249">
              <a:extLst>
                <a:ext uri="{FF2B5EF4-FFF2-40B4-BE49-F238E27FC236}">
                  <a16:creationId xmlns:a16="http://schemas.microsoft.com/office/drawing/2014/main" id="{2D95E24B-AAEE-1CAB-8E04-1421D08CE880}"/>
                </a:ext>
              </a:extLst>
            </p:cNvPr>
            <p:cNvSpPr/>
            <p:nvPr/>
          </p:nvSpPr>
          <p:spPr>
            <a:xfrm>
              <a:off x="5295851" y="2131195"/>
              <a:ext cx="1603221" cy="1354861"/>
            </a:xfrm>
            <a:prstGeom prst="rect">
              <a:avLst/>
            </a:prstGeom>
            <a:solidFill>
              <a:srgbClr val="F6F4F4"/>
            </a:solidFill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8000" tIns="0" rIns="108000" bIns="0" anchor="ctr" anchorCtr="0">
              <a:noAutofit/>
            </a:bodyPr>
            <a:lstStyle/>
            <a:p>
              <a:pPr algn="ctr">
                <a:lnSpc>
                  <a:spcPct val="154516"/>
                </a:lnSpc>
                <a:buClr>
                  <a:srgbClr val="000000"/>
                </a:buClr>
                <a:buSzPts val="941"/>
              </a:pP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고객의 문제를 해결하거나 니즈를 충족시킬 수</a:t>
              </a:r>
              <a:r>
                <a:rPr lang="en-US" altLang="ko-KR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있는 솔루션을 관련분야 전문가가 </a:t>
              </a:r>
              <a:r>
                <a:rPr lang="ko-KR" altLang="en-US" sz="941" dirty="0" err="1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아니라도</a:t>
              </a: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ko-KR" altLang="en-US" sz="941" b="1" dirty="0">
                  <a:solidFill>
                    <a:srgbClr val="FF5534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이해</a:t>
              </a: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할 수 있도록 설명</a:t>
              </a:r>
              <a:endParaRPr sz="941" dirty="0">
                <a:solidFill>
                  <a:schemeClr val="dk1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</p:txBody>
        </p:sp>
        <p:sp>
          <p:nvSpPr>
            <p:cNvPr id="35" name="Google Shape;3841;p249">
              <a:extLst>
                <a:ext uri="{FF2B5EF4-FFF2-40B4-BE49-F238E27FC236}">
                  <a16:creationId xmlns:a16="http://schemas.microsoft.com/office/drawing/2014/main" id="{8D90A329-CBBC-D42F-342E-E343A7E0DE29}"/>
                </a:ext>
              </a:extLst>
            </p:cNvPr>
            <p:cNvSpPr/>
            <p:nvPr/>
          </p:nvSpPr>
          <p:spPr>
            <a:xfrm>
              <a:off x="6972092" y="2131195"/>
              <a:ext cx="1603221" cy="1354861"/>
            </a:xfrm>
            <a:prstGeom prst="rect">
              <a:avLst/>
            </a:prstGeom>
            <a:solidFill>
              <a:srgbClr val="F6F4F4"/>
            </a:solidFill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8000" tIns="0" rIns="108000" bIns="0" anchor="ctr" anchorCtr="0">
              <a:noAutofit/>
            </a:bodyPr>
            <a:lstStyle/>
            <a:p>
              <a:pPr lvl="0" algn="ctr">
                <a:lnSpc>
                  <a:spcPct val="154516"/>
                </a:lnSpc>
                <a:buClr>
                  <a:srgbClr val="000000"/>
                </a:buClr>
                <a:buSzPts val="941"/>
              </a:pP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모든 항목에서 실제 </a:t>
              </a:r>
              <a:r>
                <a:rPr lang="en-US" altLang="ko-KR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Action</a:t>
              </a: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 내역을 포함시켜야 한다</a:t>
              </a:r>
              <a:r>
                <a:rPr lang="en-US" altLang="ko-KR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.</a:t>
              </a:r>
              <a:endParaRPr lang="ko-KR" altLang="en-US" sz="941" dirty="0">
                <a:solidFill>
                  <a:schemeClr val="dk1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  <a:p>
              <a:pPr lvl="0" algn="ctr">
                <a:lnSpc>
                  <a:spcPct val="154516"/>
                </a:lnSpc>
                <a:buClr>
                  <a:srgbClr val="000000"/>
                </a:buClr>
                <a:buSzPts val="941"/>
              </a:pPr>
              <a:r>
                <a:rPr lang="en-US" altLang="ko-KR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(</a:t>
              </a: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매출</a:t>
              </a:r>
              <a:r>
                <a:rPr lang="en-US" altLang="ko-KR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, </a:t>
              </a: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재구매</a:t>
              </a:r>
              <a:r>
                <a:rPr lang="en-US" altLang="ko-KR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, </a:t>
              </a: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만족도 등</a:t>
              </a:r>
              <a:r>
                <a:rPr lang="en-US" altLang="ko-KR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정량적 지표</a:t>
              </a:r>
              <a:r>
                <a:rPr lang="en-US" altLang="ko-KR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, </a:t>
              </a: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사진 등을 모두 활용</a:t>
              </a:r>
              <a:r>
                <a:rPr lang="en-US" altLang="ko-KR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)</a:t>
              </a:r>
              <a:endParaRPr lang="ko-KR" altLang="en-US" sz="1400" dirty="0">
                <a:solidFill>
                  <a:srgbClr val="000000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</p:txBody>
        </p:sp>
        <p:sp>
          <p:nvSpPr>
            <p:cNvPr id="36" name="Google Shape;3842;p249">
              <a:extLst>
                <a:ext uri="{FF2B5EF4-FFF2-40B4-BE49-F238E27FC236}">
                  <a16:creationId xmlns:a16="http://schemas.microsoft.com/office/drawing/2014/main" id="{504BF5DE-B9D1-4169-25C3-0763BEC0D12C}"/>
                </a:ext>
              </a:extLst>
            </p:cNvPr>
            <p:cNvSpPr/>
            <p:nvPr/>
          </p:nvSpPr>
          <p:spPr>
            <a:xfrm>
              <a:off x="8648333" y="2131195"/>
              <a:ext cx="1603221" cy="1354861"/>
            </a:xfrm>
            <a:prstGeom prst="rect">
              <a:avLst/>
            </a:prstGeom>
            <a:solidFill>
              <a:srgbClr val="F6F4F4"/>
            </a:solidFill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8000" tIns="0" rIns="108000" bIns="0" anchor="ctr" anchorCtr="0">
              <a:noAutofit/>
            </a:bodyPr>
            <a:lstStyle/>
            <a:p>
              <a:pPr algn="ctr">
                <a:lnSpc>
                  <a:spcPct val="154516"/>
                </a:lnSpc>
                <a:buClr>
                  <a:srgbClr val="000000"/>
                </a:buClr>
                <a:buSzPts val="941"/>
              </a:pP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주요 </a:t>
              </a:r>
              <a:r>
                <a:rPr lang="ko-KR" altLang="en-US" sz="941" b="1" dirty="0">
                  <a:solidFill>
                    <a:srgbClr val="FF5534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경쟁사</a:t>
              </a: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가 누구이고</a:t>
              </a:r>
              <a:r>
                <a:rPr lang="en-US" altLang="ko-KR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, </a:t>
              </a: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무슨 회사인지 설명</a:t>
              </a:r>
              <a:endParaRPr sz="941" dirty="0">
                <a:solidFill>
                  <a:schemeClr val="dk1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  <a:p>
              <a:pPr algn="ctr">
                <a:lnSpc>
                  <a:spcPct val="154516"/>
                </a:lnSpc>
                <a:buClr>
                  <a:srgbClr val="000000"/>
                </a:buClr>
                <a:buSzPts val="941"/>
              </a:pP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각 경쟁사의 한계점은 무엇인지 분석</a:t>
              </a:r>
              <a:endParaRPr sz="941" dirty="0">
                <a:solidFill>
                  <a:schemeClr val="dk1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  <a:p>
              <a:pPr algn="ctr">
                <a:lnSpc>
                  <a:spcPct val="154516"/>
                </a:lnSpc>
                <a:buClr>
                  <a:srgbClr val="000000"/>
                </a:buClr>
                <a:buSzPts val="941"/>
              </a:pP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위 한계점을 당사는 어떻게 해결하는지 </a:t>
              </a:r>
              <a:r>
                <a:rPr lang="en-US" altLang="ko-KR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+</a:t>
              </a:r>
              <a:r>
                <a:rPr lang="ko-KR" altLang="en-US" sz="941" b="1" dirty="0" err="1">
                  <a:solidFill>
                    <a:srgbClr val="FF5534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차별점</a:t>
              </a:r>
              <a:endParaRPr sz="941" b="1" dirty="0">
                <a:solidFill>
                  <a:srgbClr val="FF5534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</p:txBody>
        </p:sp>
        <p:sp>
          <p:nvSpPr>
            <p:cNvPr id="37" name="Google Shape;3843;p249">
              <a:extLst>
                <a:ext uri="{FF2B5EF4-FFF2-40B4-BE49-F238E27FC236}">
                  <a16:creationId xmlns:a16="http://schemas.microsoft.com/office/drawing/2014/main" id="{EBC507FA-B73B-A488-3B21-AE8B957CC59A}"/>
                </a:ext>
              </a:extLst>
            </p:cNvPr>
            <p:cNvSpPr/>
            <p:nvPr/>
          </p:nvSpPr>
          <p:spPr>
            <a:xfrm>
              <a:off x="1949970" y="3979001"/>
              <a:ext cx="1603221" cy="1354861"/>
            </a:xfrm>
            <a:prstGeom prst="rect">
              <a:avLst/>
            </a:prstGeom>
            <a:solidFill>
              <a:srgbClr val="F6F4F4"/>
            </a:solidFill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8000" tIns="0" rIns="108000" bIns="0" anchor="ctr" anchorCtr="0">
              <a:noAutofit/>
            </a:bodyPr>
            <a:lstStyle/>
            <a:p>
              <a:pPr lvl="0" algn="ctr">
                <a:lnSpc>
                  <a:spcPct val="154516"/>
                </a:lnSpc>
                <a:buClr>
                  <a:srgbClr val="000000"/>
                </a:buClr>
                <a:buSzPts val="941"/>
              </a:pP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우리가 </a:t>
              </a:r>
              <a:r>
                <a:rPr lang="ko-KR" altLang="en-US" sz="941" b="1" dirty="0" err="1">
                  <a:solidFill>
                    <a:srgbClr val="FF5534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타겟팅</a:t>
              </a:r>
              <a:r>
                <a:rPr lang="ko-KR" altLang="en-US" sz="941" dirty="0" err="1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한</a:t>
              </a: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 시장이 어디인지 얼마나 </a:t>
              </a:r>
              <a:r>
                <a:rPr lang="ko-KR" altLang="en-US" sz="941" b="1" dirty="0">
                  <a:solidFill>
                    <a:srgbClr val="FF5534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매력</a:t>
              </a: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적인 시장인지</a:t>
              </a:r>
              <a:r>
                <a:rPr lang="en-US" altLang="ko-KR" sz="770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(</a:t>
              </a:r>
              <a:r>
                <a:rPr lang="ko-KR" altLang="en-US" sz="770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규모</a:t>
              </a:r>
              <a:r>
                <a:rPr lang="en-US" altLang="ko-KR" sz="770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/</a:t>
              </a:r>
              <a:r>
                <a:rPr lang="ko-KR" altLang="en-US" sz="770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성장률</a:t>
              </a:r>
              <a:r>
                <a:rPr lang="en-US" altLang="ko-KR" sz="770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/</a:t>
              </a:r>
              <a:r>
                <a:rPr lang="ko-KR" altLang="en-US" sz="770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트렌드</a:t>
              </a:r>
              <a:r>
                <a:rPr lang="en-US" altLang="ko-KR" sz="770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)</a:t>
              </a: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고객 중심으로 시장 매력도를 어필</a:t>
              </a:r>
            </a:p>
          </p:txBody>
        </p:sp>
        <p:sp>
          <p:nvSpPr>
            <p:cNvPr id="38" name="Google Shape;3844;p249">
              <a:extLst>
                <a:ext uri="{FF2B5EF4-FFF2-40B4-BE49-F238E27FC236}">
                  <a16:creationId xmlns:a16="http://schemas.microsoft.com/office/drawing/2014/main" id="{06DCE775-067C-3A1E-9ACB-3C0C3C7806AE}"/>
                </a:ext>
              </a:extLst>
            </p:cNvPr>
            <p:cNvSpPr/>
            <p:nvPr/>
          </p:nvSpPr>
          <p:spPr>
            <a:xfrm>
              <a:off x="3622911" y="3979000"/>
              <a:ext cx="1603221" cy="1354861"/>
            </a:xfrm>
            <a:prstGeom prst="rect">
              <a:avLst/>
            </a:prstGeom>
            <a:solidFill>
              <a:srgbClr val="F6F4F4"/>
            </a:solidFill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8000" tIns="0" rIns="108000" bIns="0" anchor="ctr" anchorCtr="0">
              <a:noAutofit/>
            </a:bodyPr>
            <a:lstStyle/>
            <a:p>
              <a:pPr lvl="0" algn="ctr">
                <a:lnSpc>
                  <a:spcPct val="154516"/>
                </a:lnSpc>
                <a:buClr>
                  <a:srgbClr val="000000"/>
                </a:buClr>
                <a:buSzPts val="941"/>
              </a:pP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핵심 </a:t>
              </a:r>
              <a:r>
                <a:rPr lang="ko-KR" altLang="en-US" sz="941" b="1" dirty="0">
                  <a:solidFill>
                    <a:srgbClr val="FF5534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이해관계자</a:t>
              </a: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가 누가 있고 어떻게 상호작용하는지</a:t>
              </a:r>
              <a:r>
                <a:rPr lang="en-US" altLang="ko-KR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,</a:t>
              </a:r>
              <a:endParaRPr lang="ko-KR" altLang="en-US" sz="941" dirty="0">
                <a:solidFill>
                  <a:schemeClr val="dk1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  <a:p>
              <a:pPr lvl="0" algn="ctr">
                <a:lnSpc>
                  <a:spcPct val="154516"/>
                </a:lnSpc>
                <a:buClr>
                  <a:srgbClr val="000000"/>
                </a:buClr>
                <a:buSzPts val="941"/>
              </a:pPr>
              <a:r>
                <a:rPr lang="ko-KR" altLang="en-US" sz="941" b="1" dirty="0">
                  <a:solidFill>
                    <a:srgbClr val="FF5534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돈과 가치</a:t>
              </a: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가 어디서 어떻게 얼마나 오고 가는지 표현</a:t>
              </a:r>
            </a:p>
          </p:txBody>
        </p:sp>
        <p:sp>
          <p:nvSpPr>
            <p:cNvPr id="39" name="Google Shape;3845;p249">
              <a:extLst>
                <a:ext uri="{FF2B5EF4-FFF2-40B4-BE49-F238E27FC236}">
                  <a16:creationId xmlns:a16="http://schemas.microsoft.com/office/drawing/2014/main" id="{ACFFE382-0D33-D12E-D216-3CCB434BB9F9}"/>
                </a:ext>
              </a:extLst>
            </p:cNvPr>
            <p:cNvSpPr/>
            <p:nvPr/>
          </p:nvSpPr>
          <p:spPr>
            <a:xfrm>
              <a:off x="5295851" y="3979001"/>
              <a:ext cx="1603221" cy="1354861"/>
            </a:xfrm>
            <a:prstGeom prst="rect">
              <a:avLst/>
            </a:prstGeom>
            <a:solidFill>
              <a:srgbClr val="F6F4F4"/>
            </a:solidFill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8000" tIns="0" rIns="108000" bIns="0" anchor="ctr" anchorCtr="0">
              <a:noAutofit/>
            </a:bodyPr>
            <a:lstStyle/>
            <a:p>
              <a:pPr algn="ctr">
                <a:lnSpc>
                  <a:spcPct val="154516"/>
                </a:lnSpc>
                <a:buClr>
                  <a:srgbClr val="000000"/>
                </a:buClr>
                <a:buSzPts val="941"/>
              </a:pP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사업적 단기</a:t>
              </a:r>
              <a:r>
                <a:rPr lang="en-US" altLang="ko-KR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/</a:t>
              </a: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중기</a:t>
              </a:r>
              <a:r>
                <a:rPr lang="en-US" altLang="ko-KR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/</a:t>
              </a: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장기</a:t>
              </a:r>
              <a:b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</a:br>
              <a:r>
                <a:rPr lang="ko-KR" altLang="en-US" sz="941" b="1" dirty="0">
                  <a:solidFill>
                    <a:srgbClr val="FF5534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실행</a:t>
              </a:r>
              <a:r>
                <a:rPr lang="en-US" altLang="ko-KR" sz="941" b="1" dirty="0">
                  <a:solidFill>
                    <a:srgbClr val="FF5534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/</a:t>
              </a:r>
              <a:r>
                <a:rPr lang="ko-KR" altLang="en-US" sz="941" b="1" dirty="0">
                  <a:solidFill>
                    <a:srgbClr val="FF5534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확장</a:t>
              </a:r>
              <a:r>
                <a:rPr lang="en-US" altLang="ko-KR" sz="941" b="1" dirty="0">
                  <a:solidFill>
                    <a:srgbClr val="FF5534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전략이 있는지</a:t>
              </a:r>
              <a:r>
                <a:rPr lang="en-US" altLang="ko-KR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.</a:t>
              </a:r>
              <a:endParaRPr sz="941" dirty="0">
                <a:solidFill>
                  <a:schemeClr val="dk1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  <a:p>
              <a:pPr algn="ctr">
                <a:lnSpc>
                  <a:spcPct val="154516"/>
                </a:lnSpc>
                <a:buClr>
                  <a:srgbClr val="000000"/>
                </a:buClr>
                <a:buSzPts val="941"/>
              </a:pP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당장의 단기 </a:t>
              </a:r>
              <a:r>
                <a:rPr lang="en-US" altLang="ko-KR" sz="941" dirty="0" err="1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Action</a:t>
              </a: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en-US" altLang="ko-KR" sz="941" dirty="0" err="1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Item</a:t>
              </a:r>
              <a:r>
                <a:rPr lang="en-US" altLang="ko-KR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, KPI, </a:t>
              </a:r>
              <a:r>
                <a:rPr lang="en-US" altLang="ko-KR" sz="941" dirty="0" err="1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Due</a:t>
              </a: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 </a:t>
              </a:r>
              <a:r>
                <a:rPr lang="en-US" altLang="ko-KR" sz="941" dirty="0" err="1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date</a:t>
              </a: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 제시</a:t>
              </a:r>
              <a:endParaRPr sz="1400" dirty="0">
                <a:solidFill>
                  <a:srgbClr val="000000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</p:txBody>
        </p:sp>
        <p:sp>
          <p:nvSpPr>
            <p:cNvPr id="40" name="Google Shape;3846;p249">
              <a:extLst>
                <a:ext uri="{FF2B5EF4-FFF2-40B4-BE49-F238E27FC236}">
                  <a16:creationId xmlns:a16="http://schemas.microsoft.com/office/drawing/2014/main" id="{4312C88E-0583-34D6-B1A6-33BAE95AAA59}"/>
                </a:ext>
              </a:extLst>
            </p:cNvPr>
            <p:cNvSpPr/>
            <p:nvPr/>
          </p:nvSpPr>
          <p:spPr>
            <a:xfrm>
              <a:off x="6972092" y="3979001"/>
              <a:ext cx="1603221" cy="1354861"/>
            </a:xfrm>
            <a:prstGeom prst="rect">
              <a:avLst/>
            </a:prstGeom>
            <a:solidFill>
              <a:srgbClr val="F6F4F4"/>
            </a:solidFill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8000" tIns="0" rIns="108000" bIns="0" anchor="ctr" anchorCtr="0">
              <a:noAutofit/>
            </a:bodyPr>
            <a:lstStyle/>
            <a:p>
              <a:pPr algn="ctr">
                <a:lnSpc>
                  <a:spcPct val="154516"/>
                </a:lnSpc>
                <a:buClr>
                  <a:srgbClr val="000000"/>
                </a:buClr>
                <a:buSzPts val="941"/>
              </a:pP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본 사업을 성공시키기 위해 필요한 </a:t>
              </a:r>
              <a:r>
                <a:rPr lang="ko-KR" altLang="en-US" sz="941" b="1" dirty="0">
                  <a:solidFill>
                    <a:srgbClr val="FF5534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역량</a:t>
              </a: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을 얼마나 갖췄는지 구체적으로</a:t>
              </a:r>
              <a:b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</a:b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경력</a:t>
              </a:r>
              <a:r>
                <a:rPr lang="en-US" altLang="ko-KR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, </a:t>
              </a: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경험</a:t>
              </a:r>
              <a:r>
                <a:rPr lang="en-US" altLang="ko-KR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, </a:t>
              </a: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자격 등을 구체적으로 제시</a:t>
              </a:r>
              <a:endParaRPr sz="941" dirty="0">
                <a:solidFill>
                  <a:schemeClr val="dk1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</p:txBody>
        </p:sp>
        <p:sp>
          <p:nvSpPr>
            <p:cNvPr id="41" name="Google Shape;3847;p249">
              <a:extLst>
                <a:ext uri="{FF2B5EF4-FFF2-40B4-BE49-F238E27FC236}">
                  <a16:creationId xmlns:a16="http://schemas.microsoft.com/office/drawing/2014/main" id="{5F917B1A-7D78-8B1D-2573-044D8886433F}"/>
                </a:ext>
              </a:extLst>
            </p:cNvPr>
            <p:cNvSpPr/>
            <p:nvPr/>
          </p:nvSpPr>
          <p:spPr>
            <a:xfrm>
              <a:off x="8648333" y="3979001"/>
              <a:ext cx="1603221" cy="1354861"/>
            </a:xfrm>
            <a:prstGeom prst="rect">
              <a:avLst/>
            </a:prstGeom>
            <a:solidFill>
              <a:srgbClr val="F6F4F4"/>
            </a:solidFill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8000" tIns="0" rIns="108000" bIns="0" anchor="ctr" anchorCtr="0">
              <a:noAutofit/>
            </a:bodyPr>
            <a:lstStyle/>
            <a:p>
              <a:pPr algn="ctr">
                <a:lnSpc>
                  <a:spcPct val="154516"/>
                </a:lnSpc>
                <a:buClr>
                  <a:srgbClr val="000000"/>
                </a:buClr>
                <a:buSzPts val="941"/>
              </a:pP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현재 재무현황과 투자를 통해 만들어 낼 수 있는 현실적인 </a:t>
              </a:r>
              <a:r>
                <a:rPr lang="ko-KR" altLang="en-US" sz="941" b="1" dirty="0">
                  <a:solidFill>
                    <a:srgbClr val="FF5534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성과 </a:t>
              </a:r>
              <a:r>
                <a:rPr lang="ko-KR" altLang="en-US" sz="941" dirty="0">
                  <a:solidFill>
                    <a:schemeClr val="dk1"/>
                  </a:solidFill>
                  <a:latin typeface="+mn-ea"/>
                  <a:cs typeface="Pretendard" panose="02000503000000020004" pitchFamily="2" charset="-127"/>
                  <a:sym typeface="Noto Sans KR"/>
                </a:rPr>
                <a:t>설명</a:t>
              </a:r>
              <a:endParaRPr sz="941" dirty="0">
                <a:solidFill>
                  <a:srgbClr val="FF5534"/>
                </a:solidFill>
                <a:latin typeface="+mn-ea"/>
                <a:cs typeface="Pretendard" panose="02000503000000020004" pitchFamily="2" charset="-127"/>
                <a:sym typeface="Noto Sans KR"/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B9423F59-5A15-A413-182B-B24EA7E77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1952" y="-51292"/>
            <a:ext cx="918485" cy="677322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A1D1C1F-E5DC-3645-3599-81B3E5E76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2757" y="0"/>
            <a:ext cx="918485" cy="677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30990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g_cosm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41248" y="777240"/>
            <a:ext cx="146304" cy="146304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921715" y="777240"/>
            <a:ext cx="146304" cy="146304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1207008" y="695895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BFC0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 회사 로고 〉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1248" y="2148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kern="0" spc="500" dirty="0">
                <a:solidFill>
                  <a:srgbClr val="E5FF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INVESTOR RELATIONS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41248" y="2596896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 회사명 / 서비스명 〉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841248" y="371246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9CA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줄로 표현하는 우리의 핵심 가치 제안  (One-line Value Proposition)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41248" y="4626864"/>
            <a:ext cx="10506456" cy="0"/>
          </a:xfrm>
          <a:prstGeom prst="line">
            <a:avLst/>
          </a:prstGeom>
          <a:noFill/>
          <a:ln w="12700">
            <a:solidFill>
              <a:srgbClr val="3E3E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86384" y="4572000"/>
            <a:ext cx="118872" cy="118872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51764" y="4572000"/>
            <a:ext cx="118872" cy="118872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841248" y="4846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8E8F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단계   </a:t>
            </a: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 Seed / Pre-A / Series A 〉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95544" y="48463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8E8F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발행일   </a:t>
            </a: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00. 00    CONFIDENTIAL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41248" y="6327648"/>
            <a:ext cx="137160" cy="137160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916686" y="6327648"/>
            <a:ext cx="137160" cy="137160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1243584" y="62910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00" dirty="0">
                <a:solidFill>
                  <a:srgbClr val="9FA0C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전국 사회적기업 투자유치 역량강화 IR 대회   ·   </a:t>
            </a:r>
            <a:r>
              <a:rPr lang="ko-KR" altLang="en-US" sz="900" dirty="0" err="1">
                <a:solidFill>
                  <a:srgbClr val="9FA0C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한국사회적기업진흥원</a:t>
            </a:r>
            <a:r>
              <a:rPr lang="ko-KR" altLang="en-US" sz="900" dirty="0">
                <a:solidFill>
                  <a:srgbClr val="9FA0C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</a:t>
            </a:r>
            <a:r>
              <a:rPr lang="en-US" altLang="ko-KR" sz="900" dirty="0">
                <a:solidFill>
                  <a:srgbClr val="9FA0C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  </a:t>
            </a:r>
            <a:r>
              <a:rPr lang="en-US" altLang="ko-KR" sz="900" dirty="0" err="1">
                <a:solidFill>
                  <a:srgbClr val="9FA0C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뉴키즈인베스트먼트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118872" cy="118872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06628" y="603504"/>
            <a:ext cx="118872" cy="118872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133856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41248" y="868680"/>
            <a:ext cx="8403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0"/>
          </a:xfrm>
          <a:prstGeom prst="line">
            <a:avLst/>
          </a:prstGeom>
          <a:noFill/>
          <a:ln w="127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41248" y="1897441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075688" y="1934017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 개요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90488" y="1934017"/>
            <a:ext cx="5157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 소개 · 핵심 투자 포인트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41248" y="2537521"/>
            <a:ext cx="10506456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41248" y="2610673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8C43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075688" y="2647249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&amp; 시장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90488" y="2647249"/>
            <a:ext cx="5157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 · Why Now · 시장 규모(TAM·SAM·SOM)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41248" y="3250753"/>
            <a:ext cx="10506456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41248" y="3323905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075688" y="3360481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솔루션 &amp; 제품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90488" y="3360481"/>
            <a:ext cx="5157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솔루션 · 제품/기술 · 경쟁 우위 · 핵심 자원 &amp; 파트너십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41248" y="3963985"/>
            <a:ext cx="10506456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41248" y="4037137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8C43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2075688" y="4073713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모델 &amp; 성과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90488" y="4073713"/>
            <a:ext cx="5157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모델 · 유닛 이코노믹스 · Traction · 성장/시장 확장 로드맵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41248" y="4677217"/>
            <a:ext cx="10506456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41248" y="4750369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2075688" y="478694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ko-KR" sz="16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&amp; Appendix</a:t>
            </a:r>
            <a:endParaRPr lang="en-US" altLang="ko-KR" sz="1600" dirty="0"/>
          </a:p>
        </p:txBody>
      </p:sp>
      <p:sp>
        <p:nvSpPr>
          <p:cNvPr id="25" name="Text 23"/>
          <p:cNvSpPr/>
          <p:nvPr/>
        </p:nvSpPr>
        <p:spPr>
          <a:xfrm>
            <a:off x="6190488" y="4786945"/>
            <a:ext cx="5157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ko-KR" sz="105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</a:t>
            </a:r>
            <a:r>
              <a:rPr lang="en-US" altLang="ko-KR" sz="1050" dirty="0" err="1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</a:t>
            </a:r>
            <a:r>
              <a:rPr lang="en-US" altLang="ko-KR" sz="105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en-US" altLang="ko-KR" sz="1050" dirty="0" err="1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특허</a:t>
            </a:r>
            <a:r>
              <a:rPr lang="en-US" altLang="ko-KR" sz="105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en-US" altLang="ko-KR" sz="1050" dirty="0" err="1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</a:t>
            </a:r>
            <a:r>
              <a:rPr lang="en-US" altLang="ko-KR" sz="105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en-US" altLang="ko-KR" sz="1050" dirty="0" err="1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연혁</a:t>
            </a:r>
            <a:r>
              <a:rPr lang="en-US" altLang="ko-KR" sz="105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en-US" altLang="ko-KR" sz="1050" dirty="0" err="1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언론</a:t>
            </a:r>
            <a:endParaRPr lang="en-US" altLang="ko-KR" sz="1050" dirty="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6833DBE7-0622-F2B1-C724-176CE45B5DCB}"/>
              </a:ext>
            </a:extLst>
          </p:cNvPr>
          <p:cNvGrpSpPr/>
          <p:nvPr/>
        </p:nvGrpSpPr>
        <p:grpSpPr>
          <a:xfrm>
            <a:off x="841248" y="6400800"/>
            <a:ext cx="4828032" cy="237744"/>
            <a:chOff x="841248" y="6400800"/>
            <a:chExt cx="4828032" cy="237744"/>
          </a:xfrm>
        </p:grpSpPr>
        <p:sp>
          <p:nvSpPr>
            <p:cNvPr id="32" name="Shape 30"/>
            <p:cNvSpPr/>
            <p:nvPr/>
          </p:nvSpPr>
          <p:spPr>
            <a:xfrm>
              <a:off x="841248" y="6462607"/>
              <a:ext cx="109728" cy="109728"/>
            </a:xfrm>
            <a:prstGeom prst="ellipse">
              <a:avLst/>
            </a:prstGeom>
            <a:solidFill>
              <a:srgbClr val="4031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Shape 31"/>
            <p:cNvSpPr/>
            <p:nvPr/>
          </p:nvSpPr>
          <p:spPr>
            <a:xfrm>
              <a:off x="901598" y="6462607"/>
              <a:ext cx="109728" cy="109728"/>
            </a:xfrm>
            <a:prstGeom prst="ellipse">
              <a:avLst/>
            </a:prstGeom>
            <a:solidFill>
              <a:srgbClr val="E5FF4A">
                <a:alpha val="92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Text 32"/>
            <p:cNvSpPr/>
            <p:nvPr/>
          </p:nvSpPr>
          <p:spPr>
            <a:xfrm>
              <a:off x="1097280" y="6400800"/>
              <a:ext cx="4572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A6A6B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NEWKIDS INVESTMENT</a:t>
              </a:r>
              <a:endParaRPr lang="en-US" sz="750" dirty="0"/>
            </a:p>
          </p:txBody>
        </p:sp>
      </p:grpSp>
      <p:sp>
        <p:nvSpPr>
          <p:cNvPr id="35" name="Text 33"/>
          <p:cNvSpPr/>
          <p:nvPr/>
        </p:nvSpPr>
        <p:spPr>
          <a:xfrm>
            <a:off x="9976104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r>
              <a:rPr lang="en-US" sz="900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/  30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118872" cy="118872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06628" y="603504"/>
            <a:ext cx="118872" cy="118872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133856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TO USE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41248" y="868680"/>
            <a:ext cx="8403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템플릿 사용 가이드 &amp; 디자인 시스템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506456" cy="0"/>
          </a:xfrm>
          <a:prstGeom prst="line">
            <a:avLst/>
          </a:prstGeom>
          <a:noFill/>
          <a:ln w="127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41248" y="197510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81328" y="1934017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A2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 〉 안의 텍스트와 회색 예시 문구를 우리 회사 내용으로 교체하세요.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41248" y="2560320"/>
            <a:ext cx="5669280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41248" y="26883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81328" y="2647249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A2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'GUIDE' 주석은 작성 요령입니다. 완성 후 삭제하세요.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1248" y="3273552"/>
            <a:ext cx="5669280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41248" y="34015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81328" y="3360481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A2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표·그래프는 더블클릭하면 수치를 직접 수정할 수 있는 편집 가능 개체입니다.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1248" y="3986784"/>
            <a:ext cx="5669280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41248" y="4114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81328" y="4073713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A2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맨 뒤 공통 요소(부록 A·B·C)의 도형·표·그래프를 복사해 재사용하세요.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1248" y="4700016"/>
            <a:ext cx="5669280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41248" y="48280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81328" y="4786945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A2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슬라이드는 자유롭게 추가/삭제 가능하나, 6개 섹션 흐름은 유지하길 권장합니다.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1248" y="5413248"/>
            <a:ext cx="5669280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059168" y="1901952"/>
            <a:ext cx="4288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 PALETTE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59168" y="2249424"/>
            <a:ext cx="866394" cy="914400"/>
          </a:xfrm>
          <a:prstGeom prst="rect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059168" y="3236976"/>
            <a:ext cx="10492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DeepBlue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059168" y="3438144"/>
            <a:ext cx="10492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#4031FF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8199882" y="2249424"/>
            <a:ext cx="866394" cy="914400"/>
          </a:xfrm>
          <a:prstGeom prst="rect">
            <a:avLst/>
          </a:prstGeom>
          <a:solidFill>
            <a:srgbClr val="8C43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199882" y="3236976"/>
            <a:ext cx="10492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Purple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199882" y="3438144"/>
            <a:ext cx="10492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#8C43FF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340596" y="2249424"/>
            <a:ext cx="866394" cy="914400"/>
          </a:xfrm>
          <a:prstGeom prst="rect">
            <a:avLst/>
          </a:prstGeom>
          <a:solidFill>
            <a:srgbClr val="1111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9340596" y="3236976"/>
            <a:ext cx="10492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DarkNavy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340596" y="3438144"/>
            <a:ext cx="10492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#11113A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0481310" y="2249424"/>
            <a:ext cx="866394" cy="914400"/>
          </a:xfrm>
          <a:prstGeom prst="rect">
            <a:avLst/>
          </a:prstGeom>
          <a:solidFill>
            <a:srgbClr val="E5FF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10481310" y="3236976"/>
            <a:ext cx="10492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NeonGreen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481310" y="3438144"/>
            <a:ext cx="10492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#E5FF4A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059168" y="3913632"/>
            <a:ext cx="4288536" cy="0"/>
          </a:xfrm>
          <a:prstGeom prst="line">
            <a:avLst/>
          </a:prstGeom>
          <a:noFill/>
          <a:ln w="127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7059168" y="4041648"/>
            <a:ext cx="4288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TYPOGRAPHY  ·  Pretendard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59168" y="4389120"/>
            <a:ext cx="2358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 Title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203436" y="4389120"/>
            <a:ext cx="21442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30–50pt Bold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059168" y="4736592"/>
            <a:ext cx="4288536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7059168" y="4773168"/>
            <a:ext cx="2358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소제목 Heading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203436" y="4773168"/>
            <a:ext cx="21442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15–18pt Bold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059168" y="5120640"/>
            <a:ext cx="4288536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7059168" y="5157216"/>
            <a:ext cx="2358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Body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203436" y="5157216"/>
            <a:ext cx="21442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11–12pt Regular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059168" y="5504688"/>
            <a:ext cx="4288536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7059168" y="5541264"/>
            <a:ext cx="2358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캡션 Caption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203436" y="5541264"/>
            <a:ext cx="21442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8–10pt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059168" y="5888736"/>
            <a:ext cx="4288536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841248" y="6364224"/>
            <a:ext cx="10506456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9976104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r>
              <a:rPr lang="en-US" sz="900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/  30</a:t>
            </a:r>
            <a:endParaRPr lang="en-US" sz="900" dirty="0"/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0430B66E-B6B6-DA4E-2128-FE1B0CD339A6}"/>
              </a:ext>
            </a:extLst>
          </p:cNvPr>
          <p:cNvGrpSpPr/>
          <p:nvPr/>
        </p:nvGrpSpPr>
        <p:grpSpPr>
          <a:xfrm>
            <a:off x="841248" y="6400800"/>
            <a:ext cx="4828032" cy="237744"/>
            <a:chOff x="841248" y="6400800"/>
            <a:chExt cx="4828032" cy="237744"/>
          </a:xfrm>
        </p:grpSpPr>
        <p:sp>
          <p:nvSpPr>
            <p:cNvPr id="55" name="Shape 30">
              <a:extLst>
                <a:ext uri="{FF2B5EF4-FFF2-40B4-BE49-F238E27FC236}">
                  <a16:creationId xmlns:a16="http://schemas.microsoft.com/office/drawing/2014/main" id="{E7D14958-2D75-6610-E797-CBD78878FB4F}"/>
                </a:ext>
              </a:extLst>
            </p:cNvPr>
            <p:cNvSpPr/>
            <p:nvPr/>
          </p:nvSpPr>
          <p:spPr>
            <a:xfrm>
              <a:off x="841248" y="6462607"/>
              <a:ext cx="109728" cy="109728"/>
            </a:xfrm>
            <a:prstGeom prst="ellipse">
              <a:avLst/>
            </a:prstGeom>
            <a:solidFill>
              <a:srgbClr val="4031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B7D7AA83-1FDC-DAC3-6784-E57AD8C9A215}"/>
                </a:ext>
              </a:extLst>
            </p:cNvPr>
            <p:cNvSpPr/>
            <p:nvPr/>
          </p:nvSpPr>
          <p:spPr>
            <a:xfrm>
              <a:off x="901598" y="6462607"/>
              <a:ext cx="109728" cy="109728"/>
            </a:xfrm>
            <a:prstGeom prst="ellipse">
              <a:avLst/>
            </a:prstGeom>
            <a:solidFill>
              <a:srgbClr val="E5FF4A">
                <a:alpha val="92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Text 32">
              <a:extLst>
                <a:ext uri="{FF2B5EF4-FFF2-40B4-BE49-F238E27FC236}">
                  <a16:creationId xmlns:a16="http://schemas.microsoft.com/office/drawing/2014/main" id="{45E0BC4F-6464-7168-7890-8E13585FE49A}"/>
                </a:ext>
              </a:extLst>
            </p:cNvPr>
            <p:cNvSpPr/>
            <p:nvPr/>
          </p:nvSpPr>
          <p:spPr>
            <a:xfrm>
              <a:off x="1097280" y="6400800"/>
              <a:ext cx="4572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A6A6B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NEWKIDS INVESTMENT</a:t>
              </a:r>
              <a:endParaRPr lang="en-US" sz="75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g_cosmic_di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874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kern="0" spc="500" dirty="0">
                <a:solidFill>
                  <a:srgbClr val="E5FF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 OVERVIEW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768096" y="2157984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5000" dirty="0"/>
          </a:p>
        </p:txBody>
      </p:sp>
      <p:sp>
        <p:nvSpPr>
          <p:cNvPr id="5" name="Text 2"/>
          <p:cNvSpPr/>
          <p:nvPr/>
        </p:nvSpPr>
        <p:spPr>
          <a:xfrm>
            <a:off x="3813048" y="2157984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 개요</a:t>
            </a:r>
            <a:endParaRPr lang="en-US" sz="3700" dirty="0"/>
          </a:p>
        </p:txBody>
      </p:sp>
      <p:sp>
        <p:nvSpPr>
          <p:cNvPr id="6" name="Shape 3"/>
          <p:cNvSpPr/>
          <p:nvPr/>
        </p:nvSpPr>
        <p:spPr>
          <a:xfrm>
            <a:off x="841248" y="4370832"/>
            <a:ext cx="10506456" cy="0"/>
          </a:xfrm>
          <a:prstGeom prst="line">
            <a:avLst/>
          </a:prstGeom>
          <a:noFill/>
          <a:ln w="12700">
            <a:solidFill>
              <a:srgbClr val="3E3E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86384" y="4315968"/>
            <a:ext cx="118872" cy="118872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851764" y="4315968"/>
            <a:ext cx="118872" cy="118872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41248" y="4645152"/>
            <a:ext cx="146304" cy="146304"/>
          </a:xfrm>
          <a:prstGeom prst="rect">
            <a:avLst/>
          </a:prstGeom>
          <a:solidFill>
            <a:srgbClr val="E5FF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1152144" y="457200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5D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 소개 — 한 줄 정의 &amp; 기본 정보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41248" y="5102352"/>
            <a:ext cx="146304" cy="146304"/>
          </a:xfrm>
          <a:prstGeom prst="rect">
            <a:avLst/>
          </a:prstGeom>
          <a:solidFill>
            <a:srgbClr val="E5FF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1152144" y="502920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5D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포인트 (Investment Highlights)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41248" y="6364224"/>
            <a:ext cx="10506456" cy="0"/>
          </a:xfrm>
          <a:prstGeom prst="line">
            <a:avLst/>
          </a:prstGeom>
          <a:noFill/>
          <a:ln w="12700">
            <a:solidFill>
              <a:srgbClr val="3A3A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9976104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5FF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r>
              <a:rPr lang="en-US" sz="900" dirty="0">
                <a:solidFill>
                  <a:srgbClr val="6E6F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/  30</a:t>
            </a:r>
            <a:endParaRPr lang="en-US" sz="900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2C900CD-68F3-E146-5B38-905EB44F0F07}"/>
              </a:ext>
            </a:extLst>
          </p:cNvPr>
          <p:cNvGrpSpPr/>
          <p:nvPr/>
        </p:nvGrpSpPr>
        <p:grpSpPr>
          <a:xfrm>
            <a:off x="841248" y="6400800"/>
            <a:ext cx="4828032" cy="237744"/>
            <a:chOff x="841248" y="6400800"/>
            <a:chExt cx="4828032" cy="237744"/>
          </a:xfrm>
        </p:grpSpPr>
        <p:sp>
          <p:nvSpPr>
            <p:cNvPr id="19" name="Shape 30">
              <a:extLst>
                <a:ext uri="{FF2B5EF4-FFF2-40B4-BE49-F238E27FC236}">
                  <a16:creationId xmlns:a16="http://schemas.microsoft.com/office/drawing/2014/main" id="{DB23D804-39B0-14C2-EFE4-7FEFE325AC03}"/>
                </a:ext>
              </a:extLst>
            </p:cNvPr>
            <p:cNvSpPr/>
            <p:nvPr/>
          </p:nvSpPr>
          <p:spPr>
            <a:xfrm>
              <a:off x="841248" y="6462607"/>
              <a:ext cx="109728" cy="109728"/>
            </a:xfrm>
            <a:prstGeom prst="ellipse">
              <a:avLst/>
            </a:prstGeom>
            <a:solidFill>
              <a:srgbClr val="4031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Shape 31">
              <a:extLst>
                <a:ext uri="{FF2B5EF4-FFF2-40B4-BE49-F238E27FC236}">
                  <a16:creationId xmlns:a16="http://schemas.microsoft.com/office/drawing/2014/main" id="{6D46052F-772B-307D-8381-D7159A2DE3F5}"/>
                </a:ext>
              </a:extLst>
            </p:cNvPr>
            <p:cNvSpPr/>
            <p:nvPr/>
          </p:nvSpPr>
          <p:spPr>
            <a:xfrm>
              <a:off x="901598" y="6462607"/>
              <a:ext cx="109728" cy="109728"/>
            </a:xfrm>
            <a:prstGeom prst="ellipse">
              <a:avLst/>
            </a:prstGeom>
            <a:solidFill>
              <a:srgbClr val="E5FF4A">
                <a:alpha val="92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 32">
              <a:extLst>
                <a:ext uri="{FF2B5EF4-FFF2-40B4-BE49-F238E27FC236}">
                  <a16:creationId xmlns:a16="http://schemas.microsoft.com/office/drawing/2014/main" id="{EE24D816-16CB-5057-EF1A-032B1757EE6C}"/>
                </a:ext>
              </a:extLst>
            </p:cNvPr>
            <p:cNvSpPr/>
            <p:nvPr/>
          </p:nvSpPr>
          <p:spPr>
            <a:xfrm>
              <a:off x="1097280" y="6400800"/>
              <a:ext cx="4572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A6A6B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NEWKIDS INVESTMENT</a:t>
              </a:r>
              <a:endParaRPr lang="en-US" sz="75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118872" cy="118872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06628" y="603504"/>
            <a:ext cx="118872" cy="118872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133856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COMPANY OVERVIEW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41248" y="868680"/>
            <a:ext cx="8403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 소개 — 우리는 무엇을 하는가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53144" y="420624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200" b="1" dirty="0">
                <a:solidFill>
                  <a:srgbClr val="EDED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6200" dirty="0"/>
          </a:p>
        </p:txBody>
      </p:sp>
      <p:sp>
        <p:nvSpPr>
          <p:cNvPr id="7" name="Shape 5"/>
          <p:cNvSpPr/>
          <p:nvPr/>
        </p:nvSpPr>
        <p:spPr>
          <a:xfrm>
            <a:off x="841248" y="1627632"/>
            <a:ext cx="10506456" cy="0"/>
          </a:xfrm>
          <a:prstGeom prst="line">
            <a:avLst/>
          </a:prstGeom>
          <a:noFill/>
          <a:ln w="127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home/claude/panel_gr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901952"/>
            <a:ext cx="5943600" cy="2286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52728" y="22219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5FF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ONE-LINE PITCH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252728" y="2615184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〈우리 회사〉는 〈누구〉의 〈어떤 문제〉를 〈어떻게〉 해결하는 〈무엇〉입니다.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33488" y="1901952"/>
            <a:ext cx="4014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개요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33488" y="23591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설립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705088" y="2359152"/>
            <a:ext cx="2642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2026. 00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333488" y="2706624"/>
            <a:ext cx="4014216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7333488" y="272491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705088" y="2724912"/>
            <a:ext cx="2642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〈대표자명〉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333488" y="3072384"/>
            <a:ext cx="4014216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7333488" y="30906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705088" y="3090672"/>
            <a:ext cx="2642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〈도시 / 국가〉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333488" y="3438144"/>
            <a:ext cx="4014216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7333488" y="34564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구성원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705088" y="3456432"/>
            <a:ext cx="2642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00명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333488" y="3803904"/>
            <a:ext cx="4014216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7333488" y="38221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업종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8705088" y="3822192"/>
            <a:ext cx="2642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〈산업 / 카테고리〉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333488" y="4169664"/>
            <a:ext cx="4014216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841248" y="4507992"/>
            <a:ext cx="3227832" cy="0"/>
          </a:xfrm>
          <a:prstGeom prst="line">
            <a:avLst/>
          </a:prstGeom>
          <a:noFill/>
          <a:ln w="25400">
            <a:solidFill>
              <a:srgbClr val="1111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841248" y="4617720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해결하는 문제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41248" y="4946904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고객이 겪는 핵심 페인을 한 문장으로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480560" y="4507992"/>
            <a:ext cx="3227832" cy="0"/>
          </a:xfrm>
          <a:prstGeom prst="line">
            <a:avLst/>
          </a:prstGeom>
          <a:noFill/>
          <a:ln w="25400">
            <a:solidFill>
              <a:srgbClr val="1111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4480560" y="4617720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제공하는 가치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480560" y="4946904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대안 대비 우리만의 차별적 가치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119872" y="4507992"/>
            <a:ext cx="3227832" cy="0"/>
          </a:xfrm>
          <a:prstGeom prst="line">
            <a:avLst/>
          </a:prstGeom>
          <a:noFill/>
          <a:ln w="25400">
            <a:solidFill>
              <a:srgbClr val="1111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8119872" y="4617720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지금의 단계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119872" y="4946904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성과와 다음 마일스톤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41248" y="5724144"/>
            <a:ext cx="10506456" cy="0"/>
          </a:xfrm>
          <a:prstGeom prst="line">
            <a:avLst/>
          </a:prstGeom>
          <a:noFill/>
          <a:ln w="127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4"/>
          <p:cNvSpPr/>
          <p:nvPr/>
        </p:nvSpPr>
        <p:spPr>
          <a:xfrm>
            <a:off x="841248" y="5852160"/>
            <a:ext cx="603504" cy="237744"/>
          </a:xfrm>
          <a:prstGeom prst="rect">
            <a:avLst/>
          </a:prstGeom>
          <a:solidFill>
            <a:srgbClr val="E5FF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841248" y="5852160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GUIDE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609344" y="5815584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투자자가 5초 안에 '무엇을 하는 회사인지' 이해하도록 — 기능 나열 대신 고객 가치 중심의 한 문장으로. (한 줄 정의 1문장·40자 내외)</a:t>
            </a:r>
            <a:endParaRPr lang="en-US" sz="980" dirty="0"/>
          </a:p>
        </p:txBody>
      </p:sp>
      <p:sp>
        <p:nvSpPr>
          <p:cNvPr id="40" name="Shape 37"/>
          <p:cNvSpPr/>
          <p:nvPr/>
        </p:nvSpPr>
        <p:spPr>
          <a:xfrm>
            <a:off x="841248" y="6364224"/>
            <a:ext cx="10506456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/>
          <p:nvPr/>
        </p:nvSpPr>
        <p:spPr>
          <a:xfrm>
            <a:off x="9976104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r>
              <a:rPr lang="en-US" sz="900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/  30</a:t>
            </a:r>
            <a:endParaRPr lang="en-US" sz="900" dirty="0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963B535B-4206-9CD2-3AF2-AB7F8EFF9E87}"/>
              </a:ext>
            </a:extLst>
          </p:cNvPr>
          <p:cNvGrpSpPr/>
          <p:nvPr/>
        </p:nvGrpSpPr>
        <p:grpSpPr>
          <a:xfrm>
            <a:off x="841248" y="6400800"/>
            <a:ext cx="4828032" cy="237744"/>
            <a:chOff x="841248" y="6400800"/>
            <a:chExt cx="4828032" cy="237744"/>
          </a:xfrm>
        </p:grpSpPr>
        <p:sp>
          <p:nvSpPr>
            <p:cNvPr id="46" name="Shape 30">
              <a:extLst>
                <a:ext uri="{FF2B5EF4-FFF2-40B4-BE49-F238E27FC236}">
                  <a16:creationId xmlns:a16="http://schemas.microsoft.com/office/drawing/2014/main" id="{EF88D913-DAA3-A1A2-2A6C-BD33F7D06949}"/>
                </a:ext>
              </a:extLst>
            </p:cNvPr>
            <p:cNvSpPr/>
            <p:nvPr/>
          </p:nvSpPr>
          <p:spPr>
            <a:xfrm>
              <a:off x="841248" y="6462607"/>
              <a:ext cx="109728" cy="109728"/>
            </a:xfrm>
            <a:prstGeom prst="ellipse">
              <a:avLst/>
            </a:prstGeom>
            <a:solidFill>
              <a:srgbClr val="4031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Shape 31">
              <a:extLst>
                <a:ext uri="{FF2B5EF4-FFF2-40B4-BE49-F238E27FC236}">
                  <a16:creationId xmlns:a16="http://schemas.microsoft.com/office/drawing/2014/main" id="{3BF8F283-68D1-2BAE-85EE-888BF208C63C}"/>
                </a:ext>
              </a:extLst>
            </p:cNvPr>
            <p:cNvSpPr/>
            <p:nvPr/>
          </p:nvSpPr>
          <p:spPr>
            <a:xfrm>
              <a:off x="901598" y="6462607"/>
              <a:ext cx="109728" cy="109728"/>
            </a:xfrm>
            <a:prstGeom prst="ellipse">
              <a:avLst/>
            </a:prstGeom>
            <a:solidFill>
              <a:srgbClr val="E5FF4A">
                <a:alpha val="92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Text 32">
              <a:extLst>
                <a:ext uri="{FF2B5EF4-FFF2-40B4-BE49-F238E27FC236}">
                  <a16:creationId xmlns:a16="http://schemas.microsoft.com/office/drawing/2014/main" id="{3D2B54CF-F141-5329-AC9A-A2B2A1C686D5}"/>
                </a:ext>
              </a:extLst>
            </p:cNvPr>
            <p:cNvSpPr/>
            <p:nvPr/>
          </p:nvSpPr>
          <p:spPr>
            <a:xfrm>
              <a:off x="1097280" y="6400800"/>
              <a:ext cx="4572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A6A6B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NEWKIDS INVESTMENT</a:t>
              </a:r>
              <a:endParaRPr lang="en-US" sz="75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g_cosmic_di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874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kern="0" spc="500" dirty="0">
                <a:solidFill>
                  <a:srgbClr val="E5FF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PROBLEM &amp; MARKET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768096" y="2157984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5000" dirty="0"/>
          </a:p>
        </p:txBody>
      </p:sp>
      <p:sp>
        <p:nvSpPr>
          <p:cNvPr id="5" name="Text 2"/>
          <p:cNvSpPr/>
          <p:nvPr/>
        </p:nvSpPr>
        <p:spPr>
          <a:xfrm>
            <a:off x="3813048" y="2157984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&amp; 시장</a:t>
            </a:r>
            <a:endParaRPr lang="en-US" sz="3700" dirty="0"/>
          </a:p>
        </p:txBody>
      </p:sp>
      <p:sp>
        <p:nvSpPr>
          <p:cNvPr id="6" name="Shape 3"/>
          <p:cNvSpPr/>
          <p:nvPr/>
        </p:nvSpPr>
        <p:spPr>
          <a:xfrm>
            <a:off x="841248" y="4370832"/>
            <a:ext cx="10506456" cy="0"/>
          </a:xfrm>
          <a:prstGeom prst="line">
            <a:avLst/>
          </a:prstGeom>
          <a:noFill/>
          <a:ln w="12700">
            <a:solidFill>
              <a:srgbClr val="3E3E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86384" y="4315968"/>
            <a:ext cx="118872" cy="118872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851764" y="4315968"/>
            <a:ext cx="118872" cy="118872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41248" y="4645152"/>
            <a:ext cx="146304" cy="146304"/>
          </a:xfrm>
          <a:prstGeom prst="rect">
            <a:avLst/>
          </a:prstGeom>
          <a:solidFill>
            <a:srgbClr val="E5FF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1152144" y="457200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5D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 (Problem)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41248" y="5102352"/>
            <a:ext cx="146304" cy="146304"/>
          </a:xfrm>
          <a:prstGeom prst="rect">
            <a:avLst/>
          </a:prstGeom>
          <a:solidFill>
            <a:srgbClr val="E5FF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1152144" y="502920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5D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Now — 지금이 적기인 이유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41248" y="5559552"/>
            <a:ext cx="146304" cy="146304"/>
          </a:xfrm>
          <a:prstGeom prst="rect">
            <a:avLst/>
          </a:prstGeom>
          <a:solidFill>
            <a:srgbClr val="E5FF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1152144" y="548640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5D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규모 (TAM · SAM · SOM)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41248" y="6364224"/>
            <a:ext cx="10506456" cy="0"/>
          </a:xfrm>
          <a:prstGeom prst="line">
            <a:avLst/>
          </a:prstGeom>
          <a:noFill/>
          <a:ln w="12700">
            <a:solidFill>
              <a:srgbClr val="3A3A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9976104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5FF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r>
              <a:rPr lang="en-US" sz="900" dirty="0">
                <a:solidFill>
                  <a:srgbClr val="6E6F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/  30</a:t>
            </a:r>
            <a:endParaRPr lang="en-US" sz="900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F8CC4E0-4B56-72AF-7414-ECBB7906F03E}"/>
              </a:ext>
            </a:extLst>
          </p:cNvPr>
          <p:cNvGrpSpPr/>
          <p:nvPr/>
        </p:nvGrpSpPr>
        <p:grpSpPr>
          <a:xfrm>
            <a:off x="841248" y="6400800"/>
            <a:ext cx="4828032" cy="237744"/>
            <a:chOff x="841248" y="6400800"/>
            <a:chExt cx="4828032" cy="237744"/>
          </a:xfrm>
        </p:grpSpPr>
        <p:sp>
          <p:nvSpPr>
            <p:cNvPr id="21" name="Shape 30">
              <a:extLst>
                <a:ext uri="{FF2B5EF4-FFF2-40B4-BE49-F238E27FC236}">
                  <a16:creationId xmlns:a16="http://schemas.microsoft.com/office/drawing/2014/main" id="{0BD85896-4D58-ACAC-7251-D3F8B421531C}"/>
                </a:ext>
              </a:extLst>
            </p:cNvPr>
            <p:cNvSpPr/>
            <p:nvPr/>
          </p:nvSpPr>
          <p:spPr>
            <a:xfrm>
              <a:off x="841248" y="6462607"/>
              <a:ext cx="109728" cy="109728"/>
            </a:xfrm>
            <a:prstGeom prst="ellipse">
              <a:avLst/>
            </a:prstGeom>
            <a:solidFill>
              <a:srgbClr val="4031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Shape 31">
              <a:extLst>
                <a:ext uri="{FF2B5EF4-FFF2-40B4-BE49-F238E27FC236}">
                  <a16:creationId xmlns:a16="http://schemas.microsoft.com/office/drawing/2014/main" id="{18A75B12-BFEE-02B8-92CC-D19CED1F47ED}"/>
                </a:ext>
              </a:extLst>
            </p:cNvPr>
            <p:cNvSpPr/>
            <p:nvPr/>
          </p:nvSpPr>
          <p:spPr>
            <a:xfrm>
              <a:off x="901598" y="6462607"/>
              <a:ext cx="109728" cy="109728"/>
            </a:xfrm>
            <a:prstGeom prst="ellipse">
              <a:avLst/>
            </a:prstGeom>
            <a:solidFill>
              <a:srgbClr val="E5FF4A">
                <a:alpha val="92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 32">
              <a:extLst>
                <a:ext uri="{FF2B5EF4-FFF2-40B4-BE49-F238E27FC236}">
                  <a16:creationId xmlns:a16="http://schemas.microsoft.com/office/drawing/2014/main" id="{AE6F2AA4-01D5-2657-AF51-A386257AF660}"/>
                </a:ext>
              </a:extLst>
            </p:cNvPr>
            <p:cNvSpPr/>
            <p:nvPr/>
          </p:nvSpPr>
          <p:spPr>
            <a:xfrm>
              <a:off x="1097280" y="6400800"/>
              <a:ext cx="4572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A6A6B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NEWKIDS INVESTMENT</a:t>
              </a:r>
              <a:endParaRPr lang="en-US" sz="75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118872" cy="118872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06628" y="603504"/>
            <a:ext cx="118872" cy="118872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133856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PROBLEM &amp; MARKET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41248" y="868680"/>
            <a:ext cx="8403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 — 고객이 겪는 진짜 문제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53144" y="420624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200" b="1" dirty="0">
                <a:solidFill>
                  <a:srgbClr val="EDED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6200" dirty="0"/>
          </a:p>
        </p:txBody>
      </p:sp>
      <p:sp>
        <p:nvSpPr>
          <p:cNvPr id="7" name="Shape 5"/>
          <p:cNvSpPr/>
          <p:nvPr/>
        </p:nvSpPr>
        <p:spPr>
          <a:xfrm>
            <a:off x="841248" y="1627632"/>
            <a:ext cx="10506456" cy="0"/>
          </a:xfrm>
          <a:prstGeom prst="line">
            <a:avLst/>
          </a:prstGeom>
          <a:noFill/>
          <a:ln w="127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41248" y="190195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41248" y="277063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비효율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3182112"/>
            <a:ext cx="3136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방식이 시간·비용을 어떻게 낭비시키는지 구체적 수치로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1993392"/>
            <a:ext cx="0" cy="1828800"/>
          </a:xfrm>
          <a:prstGeom prst="line">
            <a:avLst/>
          </a:prstGeom>
          <a:noFill/>
          <a:ln w="127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26280" y="190195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0" b="1" dirty="0">
                <a:solidFill>
                  <a:srgbClr val="8C43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4526280" y="277063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높은 비용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6280" y="3182112"/>
            <a:ext cx="3136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고객이 감당하는 직접·간접 비용과 그 규모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36992" y="1993392"/>
            <a:ext cx="0" cy="1828800"/>
          </a:xfrm>
          <a:prstGeom prst="line">
            <a:avLst/>
          </a:prstGeom>
          <a:noFill/>
          <a:ln w="127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211312" y="1901952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8211312" y="277063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대안의 한계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11312" y="3182112"/>
            <a:ext cx="3136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대안(경쟁/수작업)이 해결하지 못하는 지점</a:t>
            </a:r>
            <a:endParaRPr lang="en-US" sz="1100" dirty="0"/>
          </a:p>
        </p:txBody>
      </p:sp>
      <p:pic>
        <p:nvPicPr>
          <p:cNvPr id="19" name="Image 0" descr="/home/claude/panel_gr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279392"/>
            <a:ext cx="10506456" cy="84124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98448" y="4279392"/>
            <a:ext cx="95920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5FF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결국,  </a:t>
            </a: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고객은 이 문제를 해결하기 위해 매년 〈규모/금액〉을 감내하고 있습니다.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41248" y="5724144"/>
            <a:ext cx="10506456" cy="0"/>
          </a:xfrm>
          <a:prstGeom prst="line">
            <a:avLst/>
          </a:prstGeom>
          <a:noFill/>
          <a:ln w="127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841248" y="5852160"/>
            <a:ext cx="603504" cy="237744"/>
          </a:xfrm>
          <a:prstGeom prst="rect">
            <a:avLst/>
          </a:prstGeom>
          <a:solidFill>
            <a:srgbClr val="E5FF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841248" y="5852160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GUIDE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609344" y="5815584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명확하고 반박 불가능한 사실 3가지로 압축하세요. '누가·얼마나' 고통받는지 정량화가 핵심입니다. (카드별 2줄 내외)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841248" y="6364224"/>
            <a:ext cx="10506456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9976104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r>
              <a:rPr lang="en-US" sz="900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/  30</a:t>
            </a:r>
            <a:endParaRPr lang="en-US" sz="900" dirty="0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6933F06D-F553-BCC7-DCE7-94BCCA1BFE1B}"/>
              </a:ext>
            </a:extLst>
          </p:cNvPr>
          <p:cNvGrpSpPr/>
          <p:nvPr/>
        </p:nvGrpSpPr>
        <p:grpSpPr>
          <a:xfrm>
            <a:off x="841248" y="6400800"/>
            <a:ext cx="4828032" cy="237744"/>
            <a:chOff x="841248" y="6400800"/>
            <a:chExt cx="4828032" cy="237744"/>
          </a:xfrm>
        </p:grpSpPr>
        <p:sp>
          <p:nvSpPr>
            <p:cNvPr id="31" name="Shape 30">
              <a:extLst>
                <a:ext uri="{FF2B5EF4-FFF2-40B4-BE49-F238E27FC236}">
                  <a16:creationId xmlns:a16="http://schemas.microsoft.com/office/drawing/2014/main" id="{9A1AFFCF-E7EE-3891-3F5F-570422D97FEF}"/>
                </a:ext>
              </a:extLst>
            </p:cNvPr>
            <p:cNvSpPr/>
            <p:nvPr/>
          </p:nvSpPr>
          <p:spPr>
            <a:xfrm>
              <a:off x="841248" y="6462607"/>
              <a:ext cx="109728" cy="109728"/>
            </a:xfrm>
            <a:prstGeom prst="ellipse">
              <a:avLst/>
            </a:prstGeom>
            <a:solidFill>
              <a:srgbClr val="4031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Shape 31">
              <a:extLst>
                <a:ext uri="{FF2B5EF4-FFF2-40B4-BE49-F238E27FC236}">
                  <a16:creationId xmlns:a16="http://schemas.microsoft.com/office/drawing/2014/main" id="{28A37EA7-B7D5-D749-4A23-7DF21786DFB6}"/>
                </a:ext>
              </a:extLst>
            </p:cNvPr>
            <p:cNvSpPr/>
            <p:nvPr/>
          </p:nvSpPr>
          <p:spPr>
            <a:xfrm>
              <a:off x="901598" y="6462607"/>
              <a:ext cx="109728" cy="109728"/>
            </a:xfrm>
            <a:prstGeom prst="ellipse">
              <a:avLst/>
            </a:prstGeom>
            <a:solidFill>
              <a:srgbClr val="E5FF4A">
                <a:alpha val="92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Text 32">
              <a:extLst>
                <a:ext uri="{FF2B5EF4-FFF2-40B4-BE49-F238E27FC236}">
                  <a16:creationId xmlns:a16="http://schemas.microsoft.com/office/drawing/2014/main" id="{B2678825-2643-4945-C47A-E2DA9227B53D}"/>
                </a:ext>
              </a:extLst>
            </p:cNvPr>
            <p:cNvSpPr/>
            <p:nvPr/>
          </p:nvSpPr>
          <p:spPr>
            <a:xfrm>
              <a:off x="1097280" y="6400800"/>
              <a:ext cx="4572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A6A6B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NEWKIDS INVESTMENT</a:t>
              </a:r>
              <a:endParaRPr lang="en-US" sz="75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118872" cy="118872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06628" y="603504"/>
            <a:ext cx="118872" cy="118872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133856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PROBLEM &amp; MARKET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41248" y="868680"/>
            <a:ext cx="8403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규모 — TAM · SAM · SOM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53144" y="420624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200" b="1" dirty="0">
                <a:solidFill>
                  <a:srgbClr val="EDED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6200" dirty="0"/>
          </a:p>
        </p:txBody>
      </p:sp>
      <p:sp>
        <p:nvSpPr>
          <p:cNvPr id="7" name="Shape 5"/>
          <p:cNvSpPr/>
          <p:nvPr/>
        </p:nvSpPr>
        <p:spPr>
          <a:xfrm>
            <a:off x="841248" y="1627632"/>
            <a:ext cx="10506456" cy="0"/>
          </a:xfrm>
          <a:prstGeom prst="line">
            <a:avLst/>
          </a:prstGeom>
          <a:noFill/>
          <a:ln w="127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965960" y="2313432"/>
            <a:ext cx="2651760" cy="2651760"/>
          </a:xfrm>
          <a:prstGeom prst="ellipse">
            <a:avLst/>
          </a:prstGeom>
          <a:solidFill>
            <a:srgbClr val="11113A">
              <a:alpha val="14000"/>
            </a:srgbClr>
          </a:solidFill>
          <a:ln w="15875">
            <a:solidFill>
              <a:srgbClr val="1111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377440" y="2724912"/>
            <a:ext cx="1828800" cy="1828800"/>
          </a:xfrm>
          <a:prstGeom prst="ellipse">
            <a:avLst/>
          </a:prstGeom>
          <a:solidFill>
            <a:srgbClr val="4031FF">
              <a:alpha val="40000"/>
            </a:srgbClr>
          </a:solidFill>
          <a:ln w="15875">
            <a:solidFill>
              <a:srgbClr val="4031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766060" y="3113532"/>
            <a:ext cx="1051560" cy="1051560"/>
          </a:xfrm>
          <a:prstGeom prst="ellipse">
            <a:avLst/>
          </a:prstGeom>
          <a:solidFill>
            <a:srgbClr val="8C43FF"/>
          </a:solidFill>
          <a:ln w="15875">
            <a:solidFill>
              <a:srgbClr val="8C43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377440" y="322783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SOM
</a:t>
            </a:r>
            <a:r>
              <a:rPr lang="en-US" sz="1100" dirty="0">
                <a:solidFill>
                  <a:srgbClr val="E9E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₩0,000억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2029968"/>
            <a:ext cx="219456" cy="219456"/>
          </a:xfrm>
          <a:prstGeom prst="rect">
            <a:avLst/>
          </a:prstGeom>
          <a:solidFill>
            <a:srgbClr val="1111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92240" y="197510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TAM  </a:t>
            </a:r>
            <a:r>
              <a:rPr lang="en-US" sz="10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시장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235440" y="1975104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₩000조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2359152"/>
            <a:ext cx="5221224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126480" y="2596896"/>
            <a:ext cx="219456" cy="219456"/>
          </a:xfrm>
          <a:prstGeom prst="rect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92240" y="254203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  </a:t>
            </a:r>
            <a:r>
              <a:rPr lang="en-US" sz="10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유효 시장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235440" y="2542032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₩00조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0" y="2926080"/>
            <a:ext cx="5221224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126480" y="3163824"/>
            <a:ext cx="219456" cy="219456"/>
          </a:xfrm>
          <a:prstGeom prst="rect">
            <a:avLst/>
          </a:prstGeom>
          <a:solidFill>
            <a:srgbClr val="8C43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92240" y="31089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SOM  </a:t>
            </a:r>
            <a:r>
              <a:rPr lang="en-US" sz="10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시장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3108960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C43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₩0,000억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26480" y="3493008"/>
            <a:ext cx="5221224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126480" y="3776472"/>
            <a:ext cx="5221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성장 추이 (예시)</a:t>
            </a:r>
            <a:endParaRPr lang="en-US" sz="11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6035040" y="4050792"/>
          <a:ext cx="5312664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Shape 23"/>
          <p:cNvSpPr/>
          <p:nvPr/>
        </p:nvSpPr>
        <p:spPr>
          <a:xfrm>
            <a:off x="841248" y="5724144"/>
            <a:ext cx="10506456" cy="0"/>
          </a:xfrm>
          <a:prstGeom prst="line">
            <a:avLst/>
          </a:prstGeom>
          <a:noFill/>
          <a:ln w="127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841248" y="5852160"/>
            <a:ext cx="603504" cy="237744"/>
          </a:xfrm>
          <a:prstGeom prst="rect">
            <a:avLst/>
          </a:prstGeom>
          <a:solidFill>
            <a:srgbClr val="E5FF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841248" y="5852160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GUIDE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609344" y="5815584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TAM은 Top-down, SAM·SOM은 Bottom-up으로 산출하고 출처를 명시하세요. 3년 내 현실적 점유(SOM)를 근거 있게 제시하는 것이 가장 중요합니다.</a:t>
            </a:r>
            <a:endParaRPr lang="en-US" sz="980" dirty="0"/>
          </a:p>
        </p:txBody>
      </p:sp>
      <p:sp>
        <p:nvSpPr>
          <p:cNvPr id="30" name="Shape 27"/>
          <p:cNvSpPr/>
          <p:nvPr/>
        </p:nvSpPr>
        <p:spPr>
          <a:xfrm>
            <a:off x="841248" y="6364224"/>
            <a:ext cx="10506456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9976104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r>
              <a:rPr lang="en-US" sz="900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/  30</a:t>
            </a:r>
            <a:endParaRPr lang="en-US" sz="900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5CE5B628-01E6-4335-C54F-CE0B7E8DCF14}"/>
              </a:ext>
            </a:extLst>
          </p:cNvPr>
          <p:cNvGrpSpPr/>
          <p:nvPr/>
        </p:nvGrpSpPr>
        <p:grpSpPr>
          <a:xfrm>
            <a:off x="841248" y="6400800"/>
            <a:ext cx="4828032" cy="237744"/>
            <a:chOff x="841248" y="6400800"/>
            <a:chExt cx="4828032" cy="237744"/>
          </a:xfrm>
        </p:grpSpPr>
        <p:sp>
          <p:nvSpPr>
            <p:cNvPr id="36" name="Shape 30">
              <a:extLst>
                <a:ext uri="{FF2B5EF4-FFF2-40B4-BE49-F238E27FC236}">
                  <a16:creationId xmlns:a16="http://schemas.microsoft.com/office/drawing/2014/main" id="{60FDD7EB-0BFE-8F50-EB5B-B3F9AF2F9EAE}"/>
                </a:ext>
              </a:extLst>
            </p:cNvPr>
            <p:cNvSpPr/>
            <p:nvPr/>
          </p:nvSpPr>
          <p:spPr>
            <a:xfrm>
              <a:off x="841248" y="6462607"/>
              <a:ext cx="109728" cy="109728"/>
            </a:xfrm>
            <a:prstGeom prst="ellipse">
              <a:avLst/>
            </a:prstGeom>
            <a:solidFill>
              <a:srgbClr val="4031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Shape 31">
              <a:extLst>
                <a:ext uri="{FF2B5EF4-FFF2-40B4-BE49-F238E27FC236}">
                  <a16:creationId xmlns:a16="http://schemas.microsoft.com/office/drawing/2014/main" id="{E654414D-5E4E-B80A-DE47-D599AB2D6C3F}"/>
                </a:ext>
              </a:extLst>
            </p:cNvPr>
            <p:cNvSpPr/>
            <p:nvPr/>
          </p:nvSpPr>
          <p:spPr>
            <a:xfrm>
              <a:off x="901598" y="6462607"/>
              <a:ext cx="109728" cy="109728"/>
            </a:xfrm>
            <a:prstGeom prst="ellipse">
              <a:avLst/>
            </a:prstGeom>
            <a:solidFill>
              <a:srgbClr val="E5FF4A">
                <a:alpha val="92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 32">
              <a:extLst>
                <a:ext uri="{FF2B5EF4-FFF2-40B4-BE49-F238E27FC236}">
                  <a16:creationId xmlns:a16="http://schemas.microsoft.com/office/drawing/2014/main" id="{7219005B-B2E2-FCF9-B8FA-CEF335BF5F2B}"/>
                </a:ext>
              </a:extLst>
            </p:cNvPr>
            <p:cNvSpPr/>
            <p:nvPr/>
          </p:nvSpPr>
          <p:spPr>
            <a:xfrm>
              <a:off x="1097280" y="6400800"/>
              <a:ext cx="4572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A6A6B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NEWKIDS INVESTMENT</a:t>
              </a:r>
              <a:endParaRPr lang="en-US" sz="75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g_cosmic_di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874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kern="0" spc="500" dirty="0">
                <a:solidFill>
                  <a:srgbClr val="E5FF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SOLUTION &amp; PRODUCT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768096" y="2157984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5000" dirty="0"/>
          </a:p>
        </p:txBody>
      </p:sp>
      <p:sp>
        <p:nvSpPr>
          <p:cNvPr id="5" name="Text 2"/>
          <p:cNvSpPr/>
          <p:nvPr/>
        </p:nvSpPr>
        <p:spPr>
          <a:xfrm>
            <a:off x="3813048" y="2157984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솔루션 &amp; 제품</a:t>
            </a:r>
            <a:endParaRPr lang="en-US" sz="3700" dirty="0"/>
          </a:p>
        </p:txBody>
      </p:sp>
      <p:sp>
        <p:nvSpPr>
          <p:cNvPr id="6" name="Shape 3"/>
          <p:cNvSpPr/>
          <p:nvPr/>
        </p:nvSpPr>
        <p:spPr>
          <a:xfrm>
            <a:off x="841248" y="4370832"/>
            <a:ext cx="10506456" cy="0"/>
          </a:xfrm>
          <a:prstGeom prst="line">
            <a:avLst/>
          </a:prstGeom>
          <a:noFill/>
          <a:ln w="12700">
            <a:solidFill>
              <a:srgbClr val="3E3E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86384" y="4315968"/>
            <a:ext cx="118872" cy="118872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851764" y="4315968"/>
            <a:ext cx="118872" cy="118872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41248" y="4645152"/>
            <a:ext cx="146304" cy="146304"/>
          </a:xfrm>
          <a:prstGeom prst="rect">
            <a:avLst/>
          </a:prstGeom>
          <a:solidFill>
            <a:srgbClr val="E5FF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1152144" y="457200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5D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솔루션 — 어떻게 해결하는가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41248" y="5102352"/>
            <a:ext cx="146304" cy="146304"/>
          </a:xfrm>
          <a:prstGeom prst="rect">
            <a:avLst/>
          </a:prstGeom>
          <a:solidFill>
            <a:srgbClr val="E5FF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1152144" y="502920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5D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/ 기술 — 핵심 기능과 작동 원리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41248" y="5559552"/>
            <a:ext cx="146304" cy="146304"/>
          </a:xfrm>
          <a:prstGeom prst="rect">
            <a:avLst/>
          </a:prstGeom>
          <a:solidFill>
            <a:srgbClr val="E5FF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1152144" y="548640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5D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 우위 — 경쟁 구도 &amp; 차별점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41248" y="6016752"/>
            <a:ext cx="146304" cy="146304"/>
          </a:xfrm>
          <a:prstGeom prst="rect">
            <a:avLst/>
          </a:prstGeom>
          <a:solidFill>
            <a:srgbClr val="E5FF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1152144" y="594360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5D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자원 &amp; 파트너십 — 실행 자원·파트너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41248" y="6364224"/>
            <a:ext cx="10506456" cy="0"/>
          </a:xfrm>
          <a:prstGeom prst="line">
            <a:avLst/>
          </a:prstGeom>
          <a:noFill/>
          <a:ln w="12700">
            <a:solidFill>
              <a:srgbClr val="3A3A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9976104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5FF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r>
              <a:rPr lang="en-US" sz="900" dirty="0">
                <a:solidFill>
                  <a:srgbClr val="6E6F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/  30</a:t>
            </a:r>
            <a:endParaRPr lang="en-US" sz="900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48AE2DB-7ECA-4BAE-9434-536969C13300}"/>
              </a:ext>
            </a:extLst>
          </p:cNvPr>
          <p:cNvGrpSpPr/>
          <p:nvPr/>
        </p:nvGrpSpPr>
        <p:grpSpPr>
          <a:xfrm>
            <a:off x="841248" y="6400800"/>
            <a:ext cx="4828032" cy="237744"/>
            <a:chOff x="841248" y="6400800"/>
            <a:chExt cx="4828032" cy="237744"/>
          </a:xfrm>
        </p:grpSpPr>
        <p:sp>
          <p:nvSpPr>
            <p:cNvPr id="23" name="Shape 30">
              <a:extLst>
                <a:ext uri="{FF2B5EF4-FFF2-40B4-BE49-F238E27FC236}">
                  <a16:creationId xmlns:a16="http://schemas.microsoft.com/office/drawing/2014/main" id="{D04EA56D-1C4E-D9C6-DC64-EE6026F7A3B5}"/>
                </a:ext>
              </a:extLst>
            </p:cNvPr>
            <p:cNvSpPr/>
            <p:nvPr/>
          </p:nvSpPr>
          <p:spPr>
            <a:xfrm>
              <a:off x="841248" y="6462607"/>
              <a:ext cx="109728" cy="109728"/>
            </a:xfrm>
            <a:prstGeom prst="ellipse">
              <a:avLst/>
            </a:prstGeom>
            <a:solidFill>
              <a:srgbClr val="4031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Shape 31">
              <a:extLst>
                <a:ext uri="{FF2B5EF4-FFF2-40B4-BE49-F238E27FC236}">
                  <a16:creationId xmlns:a16="http://schemas.microsoft.com/office/drawing/2014/main" id="{F148FBEC-2C81-E19F-F873-A3C079F6C84B}"/>
                </a:ext>
              </a:extLst>
            </p:cNvPr>
            <p:cNvSpPr/>
            <p:nvPr/>
          </p:nvSpPr>
          <p:spPr>
            <a:xfrm>
              <a:off x="901598" y="6462607"/>
              <a:ext cx="109728" cy="109728"/>
            </a:xfrm>
            <a:prstGeom prst="ellipse">
              <a:avLst/>
            </a:prstGeom>
            <a:solidFill>
              <a:srgbClr val="E5FF4A">
                <a:alpha val="92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 32">
              <a:extLst>
                <a:ext uri="{FF2B5EF4-FFF2-40B4-BE49-F238E27FC236}">
                  <a16:creationId xmlns:a16="http://schemas.microsoft.com/office/drawing/2014/main" id="{685EB684-B1D6-4B7F-2D29-BC27071BE204}"/>
                </a:ext>
              </a:extLst>
            </p:cNvPr>
            <p:cNvSpPr/>
            <p:nvPr/>
          </p:nvSpPr>
          <p:spPr>
            <a:xfrm>
              <a:off x="1097280" y="6400800"/>
              <a:ext cx="4572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A6A6B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NEWKIDS INVESTMENT</a:t>
              </a:r>
              <a:endParaRPr lang="en-US" sz="75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118872" cy="118872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06628" y="603504"/>
            <a:ext cx="118872" cy="118872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133856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SOLUTION &amp; PRODUCT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41248" y="868680"/>
            <a:ext cx="8403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솔루션 — 이렇게 해결합니다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53144" y="420624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200" b="1" dirty="0">
                <a:solidFill>
                  <a:srgbClr val="EDED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6200" dirty="0"/>
          </a:p>
        </p:txBody>
      </p:sp>
      <p:sp>
        <p:nvSpPr>
          <p:cNvPr id="7" name="Shape 5"/>
          <p:cNvSpPr/>
          <p:nvPr/>
        </p:nvSpPr>
        <p:spPr>
          <a:xfrm>
            <a:off x="841248" y="1627632"/>
            <a:ext cx="10506456" cy="0"/>
          </a:xfrm>
          <a:prstGeom prst="line">
            <a:avLst/>
          </a:prstGeom>
          <a:noFill/>
          <a:ln w="127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41248" y="1975104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709928" y="1993392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동작 / 접근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09928" y="234086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고객이 우리 제품으로 무엇을 하는지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41248" y="2834640"/>
            <a:ext cx="5486400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41248" y="3054096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8C43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709928" y="3072384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작동 방식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09928" y="341985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원리/흐름으로 가치를 만드는지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41248" y="3913632"/>
            <a:ext cx="5486400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41248" y="4133088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709928" y="4151376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/ 효익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09928" y="449884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고객이 얻는 결과를 정량적으로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41248" y="4992624"/>
            <a:ext cx="5486400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0" descr="/home/claude/panel_gr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1901952"/>
            <a:ext cx="4471416" cy="32004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876288" y="3182112"/>
            <a:ext cx="4471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 제품 화면 / 사용 흐름 이미지 〉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876288" y="3566160"/>
            <a:ext cx="4471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D9D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 → After 비교 또는 핵심 화면 캡처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41248" y="5724144"/>
            <a:ext cx="10506456" cy="0"/>
          </a:xfrm>
          <a:prstGeom prst="line">
            <a:avLst/>
          </a:prstGeom>
          <a:noFill/>
          <a:ln w="127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841248" y="5852160"/>
            <a:ext cx="603504" cy="237744"/>
          </a:xfrm>
          <a:prstGeom prst="rect">
            <a:avLst/>
          </a:prstGeom>
          <a:solidFill>
            <a:srgbClr val="E5FF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841248" y="5852160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GUIDE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609344" y="5815584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나열이 아니라 '고객의 삶이 어떻게 나아지는가'를 보여주세요. 텍스트보다 제품 화면·도식 한 장이 더 강력합니다. (각 단계 1줄)</a:t>
            </a:r>
            <a:endParaRPr lang="en-US" sz="980" dirty="0"/>
          </a:p>
        </p:txBody>
      </p:sp>
      <p:sp>
        <p:nvSpPr>
          <p:cNvPr id="27" name="Shape 24"/>
          <p:cNvSpPr/>
          <p:nvPr/>
        </p:nvSpPr>
        <p:spPr>
          <a:xfrm>
            <a:off x="841248" y="6364224"/>
            <a:ext cx="10506456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9976104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r>
              <a:rPr lang="en-US" sz="900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/  30</a:t>
            </a:r>
            <a:endParaRPr lang="en-US" sz="900" dirty="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6BE28FCF-EDC7-CB40-361F-8F4999A14DDC}"/>
              </a:ext>
            </a:extLst>
          </p:cNvPr>
          <p:cNvGrpSpPr/>
          <p:nvPr/>
        </p:nvGrpSpPr>
        <p:grpSpPr>
          <a:xfrm>
            <a:off x="841248" y="6400800"/>
            <a:ext cx="4828032" cy="237744"/>
            <a:chOff x="841248" y="6400800"/>
            <a:chExt cx="4828032" cy="237744"/>
          </a:xfrm>
        </p:grpSpPr>
        <p:sp>
          <p:nvSpPr>
            <p:cNvPr id="33" name="Shape 30">
              <a:extLst>
                <a:ext uri="{FF2B5EF4-FFF2-40B4-BE49-F238E27FC236}">
                  <a16:creationId xmlns:a16="http://schemas.microsoft.com/office/drawing/2014/main" id="{86C99CFF-1539-4560-25B3-129760FE10CA}"/>
                </a:ext>
              </a:extLst>
            </p:cNvPr>
            <p:cNvSpPr/>
            <p:nvPr/>
          </p:nvSpPr>
          <p:spPr>
            <a:xfrm>
              <a:off x="841248" y="6462607"/>
              <a:ext cx="109728" cy="109728"/>
            </a:xfrm>
            <a:prstGeom prst="ellipse">
              <a:avLst/>
            </a:prstGeom>
            <a:solidFill>
              <a:srgbClr val="4031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Shape 31">
              <a:extLst>
                <a:ext uri="{FF2B5EF4-FFF2-40B4-BE49-F238E27FC236}">
                  <a16:creationId xmlns:a16="http://schemas.microsoft.com/office/drawing/2014/main" id="{9F0D0344-FF07-9837-27CD-1DC8ECE2143C}"/>
                </a:ext>
              </a:extLst>
            </p:cNvPr>
            <p:cNvSpPr/>
            <p:nvPr/>
          </p:nvSpPr>
          <p:spPr>
            <a:xfrm>
              <a:off x="901598" y="6462607"/>
              <a:ext cx="109728" cy="109728"/>
            </a:xfrm>
            <a:prstGeom prst="ellipse">
              <a:avLst/>
            </a:prstGeom>
            <a:solidFill>
              <a:srgbClr val="E5FF4A">
                <a:alpha val="92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 32">
              <a:extLst>
                <a:ext uri="{FF2B5EF4-FFF2-40B4-BE49-F238E27FC236}">
                  <a16:creationId xmlns:a16="http://schemas.microsoft.com/office/drawing/2014/main" id="{BB5FBA53-0576-BC6D-998E-F018D8BFB37E}"/>
                </a:ext>
              </a:extLst>
            </p:cNvPr>
            <p:cNvSpPr/>
            <p:nvPr/>
          </p:nvSpPr>
          <p:spPr>
            <a:xfrm>
              <a:off x="1097280" y="6400800"/>
              <a:ext cx="4572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A6A6B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NEWKIDS INVESTMENT</a:t>
              </a:r>
              <a:endParaRPr lang="en-US" sz="750" dirty="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118872" cy="118872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06628" y="603504"/>
            <a:ext cx="118872" cy="118872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133856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SOLUTION &amp; PRODUCT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41248" y="868680"/>
            <a:ext cx="8403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/ 기술 — 핵심 기능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53144" y="420624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200" b="1" dirty="0">
                <a:solidFill>
                  <a:srgbClr val="EDED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6200" dirty="0"/>
          </a:p>
        </p:txBody>
      </p:sp>
      <p:sp>
        <p:nvSpPr>
          <p:cNvPr id="7" name="Shape 5"/>
          <p:cNvSpPr/>
          <p:nvPr/>
        </p:nvSpPr>
        <p:spPr>
          <a:xfrm>
            <a:off x="841248" y="1627632"/>
            <a:ext cx="10506456" cy="0"/>
          </a:xfrm>
          <a:prstGeom prst="line">
            <a:avLst/>
          </a:prstGeom>
          <a:noFill/>
          <a:ln w="127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/home/claude/panel_gr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901952"/>
            <a:ext cx="5212080" cy="3200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327355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 제품/기술 대표 이미지 〉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1248" y="36576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D9D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아키텍처 다이어그램 · 데모 · 스크린샷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601968" y="2020824"/>
            <a:ext cx="146304" cy="146304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682435" y="2020824"/>
            <a:ext cx="146304" cy="146304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912864" y="195681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A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912864" y="226771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기능과 그것이 만드는 효익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601968" y="2651760"/>
            <a:ext cx="4745736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6601968" y="2798064"/>
            <a:ext cx="146304" cy="146304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6682435" y="2798064"/>
            <a:ext cx="146304" cy="146304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6912864" y="273405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B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912864" y="304495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차별적 기술 요소 / 데이터 자산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601968" y="3429000"/>
            <a:ext cx="4745736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6601968" y="3575304"/>
            <a:ext cx="146304" cy="146304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6682435" y="3575304"/>
            <a:ext cx="146304" cy="146304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6912864" y="351129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C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912864" y="382219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품질·보안·신뢰성 관련 강점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601968" y="4206240"/>
            <a:ext cx="4745736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6601968" y="4352544"/>
            <a:ext cx="146304" cy="146304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6682435" y="4352544"/>
            <a:ext cx="146304" cy="146304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6912864" y="428853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D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6912864" y="459943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확장성 또는 향후 개발 로드맵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601968" y="4983480"/>
            <a:ext cx="4745736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841248" y="5724144"/>
            <a:ext cx="10506456" cy="0"/>
          </a:xfrm>
          <a:prstGeom prst="line">
            <a:avLst/>
          </a:prstGeom>
          <a:noFill/>
          <a:ln w="127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841248" y="5852160"/>
            <a:ext cx="603504" cy="237744"/>
          </a:xfrm>
          <a:prstGeom prst="rect">
            <a:avLst/>
          </a:prstGeom>
          <a:solidFill>
            <a:srgbClr val="E5FF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841248" y="5852160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GUIDE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609344" y="5815584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투자자는 'IP·데이터·기술 난이도 = 모방 난이도'를 봅니다. 경쟁사가 쉽게 따라 할 수 없는 이유를 구체적 근거로. (기능별 1줄)</a:t>
            </a:r>
            <a:endParaRPr lang="en-US" sz="980" dirty="0"/>
          </a:p>
        </p:txBody>
      </p:sp>
      <p:sp>
        <p:nvSpPr>
          <p:cNvPr id="35" name="Shape 32"/>
          <p:cNvSpPr/>
          <p:nvPr/>
        </p:nvSpPr>
        <p:spPr>
          <a:xfrm>
            <a:off x="841248" y="6364224"/>
            <a:ext cx="10506456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/>
          <p:nvPr/>
        </p:nvSpPr>
        <p:spPr>
          <a:xfrm>
            <a:off x="9976104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r>
              <a:rPr lang="en-US" sz="900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/  30</a:t>
            </a:r>
            <a:endParaRPr lang="en-US" sz="900" dirty="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EB8ACCA2-D0DA-89C3-E4A9-8259E7BB21D3}"/>
              </a:ext>
            </a:extLst>
          </p:cNvPr>
          <p:cNvGrpSpPr/>
          <p:nvPr/>
        </p:nvGrpSpPr>
        <p:grpSpPr>
          <a:xfrm>
            <a:off x="841248" y="6400800"/>
            <a:ext cx="4828032" cy="237744"/>
            <a:chOff x="841248" y="6400800"/>
            <a:chExt cx="4828032" cy="237744"/>
          </a:xfrm>
        </p:grpSpPr>
        <p:sp>
          <p:nvSpPr>
            <p:cNvPr id="41" name="Shape 30">
              <a:extLst>
                <a:ext uri="{FF2B5EF4-FFF2-40B4-BE49-F238E27FC236}">
                  <a16:creationId xmlns:a16="http://schemas.microsoft.com/office/drawing/2014/main" id="{4D80389C-0C31-6D46-87C2-CB8C74BB4B2B}"/>
                </a:ext>
              </a:extLst>
            </p:cNvPr>
            <p:cNvSpPr/>
            <p:nvPr/>
          </p:nvSpPr>
          <p:spPr>
            <a:xfrm>
              <a:off x="841248" y="6462607"/>
              <a:ext cx="109728" cy="109728"/>
            </a:xfrm>
            <a:prstGeom prst="ellipse">
              <a:avLst/>
            </a:prstGeom>
            <a:solidFill>
              <a:srgbClr val="4031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Shape 31">
              <a:extLst>
                <a:ext uri="{FF2B5EF4-FFF2-40B4-BE49-F238E27FC236}">
                  <a16:creationId xmlns:a16="http://schemas.microsoft.com/office/drawing/2014/main" id="{76794566-7AB7-CA1F-FDD5-2F05AB9ECB4A}"/>
                </a:ext>
              </a:extLst>
            </p:cNvPr>
            <p:cNvSpPr/>
            <p:nvPr/>
          </p:nvSpPr>
          <p:spPr>
            <a:xfrm>
              <a:off x="901598" y="6462607"/>
              <a:ext cx="109728" cy="109728"/>
            </a:xfrm>
            <a:prstGeom prst="ellipse">
              <a:avLst/>
            </a:prstGeom>
            <a:solidFill>
              <a:srgbClr val="E5FF4A">
                <a:alpha val="92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Text 32">
              <a:extLst>
                <a:ext uri="{FF2B5EF4-FFF2-40B4-BE49-F238E27FC236}">
                  <a16:creationId xmlns:a16="http://schemas.microsoft.com/office/drawing/2014/main" id="{36E80FA1-925B-E1FD-A23B-7B20F3FE273F}"/>
                </a:ext>
              </a:extLst>
            </p:cNvPr>
            <p:cNvSpPr/>
            <p:nvPr/>
          </p:nvSpPr>
          <p:spPr>
            <a:xfrm>
              <a:off x="1097280" y="6400800"/>
              <a:ext cx="4572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A6A6B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NEWKIDS INVESTMENT</a:t>
              </a:r>
              <a:endParaRPr lang="en-US" sz="75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118872" cy="118872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06628" y="603504"/>
            <a:ext cx="118872" cy="118872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133856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SOLUTION &amp; PRODUCT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41248" y="868680"/>
            <a:ext cx="8403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 우위 — 경쟁 구도 &amp; 차별점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53144" y="420624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200" b="1" dirty="0">
                <a:solidFill>
                  <a:srgbClr val="EDED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6200" dirty="0"/>
          </a:p>
        </p:txBody>
      </p:sp>
      <p:sp>
        <p:nvSpPr>
          <p:cNvPr id="7" name="Shape 5"/>
          <p:cNvSpPr/>
          <p:nvPr/>
        </p:nvSpPr>
        <p:spPr>
          <a:xfrm>
            <a:off x="841248" y="1627632"/>
            <a:ext cx="10506456" cy="0"/>
          </a:xfrm>
          <a:prstGeom prst="line">
            <a:avLst/>
          </a:prstGeom>
          <a:noFill/>
          <a:ln w="127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901952"/>
          <a:ext cx="10506456" cy="27432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111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비교 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031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우리 회사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6B8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경쟁사 A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6B8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경쟁사 B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A2A3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기능 / 성능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031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●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A2A3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가격 경쟁력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031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●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A2A3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고객 경험 (UX)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031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●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A2A3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확장성 / 통합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031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●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A2A3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데이터·기술 해자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4031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●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41248" y="5056632"/>
            <a:ext cx="10506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 우수    ○  보통    △  미흡     ·     경쟁사 칸은 직접 평가해 채워 주세요 (항목·평가는 우리 사업에 맞게 수정)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41248" y="5724144"/>
            <a:ext cx="10506456" cy="0"/>
          </a:xfrm>
          <a:prstGeom prst="line">
            <a:avLst/>
          </a:prstGeom>
          <a:noFill/>
          <a:ln w="127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41248" y="5852160"/>
            <a:ext cx="603504" cy="237744"/>
          </a:xfrm>
          <a:prstGeom prst="rect">
            <a:avLst/>
          </a:prstGeom>
          <a:solidFill>
            <a:srgbClr val="E5FF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841248" y="5852160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GUIDE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609344" y="5815584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경쟁사를 무시하지 마세요. 실제 경쟁/대안을 인정하되 '우리가 이기는 1~2가지 결정적 축'을 명확히 하는 것이 신뢰를 높입니다.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841248" y="6364224"/>
            <a:ext cx="10506456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9976104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r>
              <a:rPr lang="en-US" sz="900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/  30</a:t>
            </a:r>
            <a:endParaRPr lang="en-US" sz="900" dirty="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9754169-68D9-5204-9A21-DD72230387F2}"/>
              </a:ext>
            </a:extLst>
          </p:cNvPr>
          <p:cNvGrpSpPr/>
          <p:nvPr/>
        </p:nvGrpSpPr>
        <p:grpSpPr>
          <a:xfrm>
            <a:off x="841248" y="6400800"/>
            <a:ext cx="4828032" cy="237744"/>
            <a:chOff x="841248" y="6400800"/>
            <a:chExt cx="4828032" cy="237744"/>
          </a:xfrm>
        </p:grpSpPr>
        <p:sp>
          <p:nvSpPr>
            <p:cNvPr id="20" name="Shape 30">
              <a:extLst>
                <a:ext uri="{FF2B5EF4-FFF2-40B4-BE49-F238E27FC236}">
                  <a16:creationId xmlns:a16="http://schemas.microsoft.com/office/drawing/2014/main" id="{28D6CD53-75F1-2DDD-8564-CFE1C3D1C290}"/>
                </a:ext>
              </a:extLst>
            </p:cNvPr>
            <p:cNvSpPr/>
            <p:nvPr/>
          </p:nvSpPr>
          <p:spPr>
            <a:xfrm>
              <a:off x="841248" y="6462607"/>
              <a:ext cx="109728" cy="109728"/>
            </a:xfrm>
            <a:prstGeom prst="ellipse">
              <a:avLst/>
            </a:prstGeom>
            <a:solidFill>
              <a:srgbClr val="4031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Shape 31">
              <a:extLst>
                <a:ext uri="{FF2B5EF4-FFF2-40B4-BE49-F238E27FC236}">
                  <a16:creationId xmlns:a16="http://schemas.microsoft.com/office/drawing/2014/main" id="{B3B316CD-5A17-3693-BEA7-A841F9A31DB1}"/>
                </a:ext>
              </a:extLst>
            </p:cNvPr>
            <p:cNvSpPr/>
            <p:nvPr/>
          </p:nvSpPr>
          <p:spPr>
            <a:xfrm>
              <a:off x="901598" y="6462607"/>
              <a:ext cx="109728" cy="109728"/>
            </a:xfrm>
            <a:prstGeom prst="ellipse">
              <a:avLst/>
            </a:prstGeom>
            <a:solidFill>
              <a:srgbClr val="E5FF4A">
                <a:alpha val="92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32">
              <a:extLst>
                <a:ext uri="{FF2B5EF4-FFF2-40B4-BE49-F238E27FC236}">
                  <a16:creationId xmlns:a16="http://schemas.microsoft.com/office/drawing/2014/main" id="{CCCC2C4F-3D96-1AB6-A29E-C22CC10CD46F}"/>
                </a:ext>
              </a:extLst>
            </p:cNvPr>
            <p:cNvSpPr/>
            <p:nvPr/>
          </p:nvSpPr>
          <p:spPr>
            <a:xfrm>
              <a:off x="1097280" y="6400800"/>
              <a:ext cx="4572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A6A6B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NEWKIDS INVESTMENT</a:t>
              </a:r>
              <a:endParaRPr lang="en-US" sz="75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g_cosmic_di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874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kern="0" spc="500" dirty="0">
                <a:solidFill>
                  <a:srgbClr val="E5FF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BUSINESS MODEL &amp; TRACTION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768096" y="2157984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5000" dirty="0"/>
          </a:p>
        </p:txBody>
      </p:sp>
      <p:sp>
        <p:nvSpPr>
          <p:cNvPr id="5" name="Text 2"/>
          <p:cNvSpPr/>
          <p:nvPr/>
        </p:nvSpPr>
        <p:spPr>
          <a:xfrm>
            <a:off x="3813048" y="2157984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모델 &amp; 성과</a:t>
            </a:r>
            <a:endParaRPr lang="en-US" sz="3700" dirty="0"/>
          </a:p>
        </p:txBody>
      </p:sp>
      <p:sp>
        <p:nvSpPr>
          <p:cNvPr id="6" name="Shape 3"/>
          <p:cNvSpPr/>
          <p:nvPr/>
        </p:nvSpPr>
        <p:spPr>
          <a:xfrm>
            <a:off x="841248" y="4370832"/>
            <a:ext cx="10506456" cy="0"/>
          </a:xfrm>
          <a:prstGeom prst="line">
            <a:avLst/>
          </a:prstGeom>
          <a:noFill/>
          <a:ln w="12700">
            <a:solidFill>
              <a:srgbClr val="3E3E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86384" y="4315968"/>
            <a:ext cx="118872" cy="118872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851764" y="4315968"/>
            <a:ext cx="118872" cy="118872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41248" y="4645152"/>
            <a:ext cx="146304" cy="146304"/>
          </a:xfrm>
          <a:prstGeom prst="rect">
            <a:avLst/>
          </a:prstGeom>
          <a:solidFill>
            <a:srgbClr val="E5FF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1152144" y="457200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5D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모델 — 수익 구조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41248" y="5102352"/>
            <a:ext cx="146304" cy="146304"/>
          </a:xfrm>
          <a:prstGeom prst="rect">
            <a:avLst/>
          </a:prstGeom>
          <a:solidFill>
            <a:srgbClr val="E5FF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1152144" y="502920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5D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유닛 이코노믹스 (LTV·CAC)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41248" y="5559552"/>
            <a:ext cx="146304" cy="146304"/>
          </a:xfrm>
          <a:prstGeom prst="rect">
            <a:avLst/>
          </a:prstGeom>
          <a:solidFill>
            <a:srgbClr val="E5FF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1152144" y="548640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5D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검증 (Traction)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41248" y="6016752"/>
            <a:ext cx="146304" cy="146304"/>
          </a:xfrm>
          <a:prstGeom prst="rect">
            <a:avLst/>
          </a:prstGeom>
          <a:solidFill>
            <a:srgbClr val="E5FF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1152144" y="594360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5D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성장 전략 &amp; 로드맵 · 시장 확장 로드맵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41248" y="6364224"/>
            <a:ext cx="10506456" cy="0"/>
          </a:xfrm>
          <a:prstGeom prst="line">
            <a:avLst/>
          </a:prstGeom>
          <a:noFill/>
          <a:ln w="12700">
            <a:solidFill>
              <a:srgbClr val="3A3A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9976104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5FF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r>
              <a:rPr lang="en-US" sz="900" dirty="0">
                <a:solidFill>
                  <a:srgbClr val="6E6F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/  30</a:t>
            </a:r>
            <a:endParaRPr lang="en-US" sz="900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20744F46-DF10-9DDA-B32B-2FE160F9417D}"/>
              </a:ext>
            </a:extLst>
          </p:cNvPr>
          <p:cNvGrpSpPr/>
          <p:nvPr/>
        </p:nvGrpSpPr>
        <p:grpSpPr>
          <a:xfrm>
            <a:off x="841248" y="6400800"/>
            <a:ext cx="4828032" cy="237744"/>
            <a:chOff x="841248" y="6400800"/>
            <a:chExt cx="4828032" cy="237744"/>
          </a:xfrm>
        </p:grpSpPr>
        <p:sp>
          <p:nvSpPr>
            <p:cNvPr id="23" name="Shape 30">
              <a:extLst>
                <a:ext uri="{FF2B5EF4-FFF2-40B4-BE49-F238E27FC236}">
                  <a16:creationId xmlns:a16="http://schemas.microsoft.com/office/drawing/2014/main" id="{4A858B03-BDD6-EAD3-CA95-E793503B83D9}"/>
                </a:ext>
              </a:extLst>
            </p:cNvPr>
            <p:cNvSpPr/>
            <p:nvPr/>
          </p:nvSpPr>
          <p:spPr>
            <a:xfrm>
              <a:off x="841248" y="6462607"/>
              <a:ext cx="109728" cy="109728"/>
            </a:xfrm>
            <a:prstGeom prst="ellipse">
              <a:avLst/>
            </a:prstGeom>
            <a:solidFill>
              <a:srgbClr val="4031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Shape 31">
              <a:extLst>
                <a:ext uri="{FF2B5EF4-FFF2-40B4-BE49-F238E27FC236}">
                  <a16:creationId xmlns:a16="http://schemas.microsoft.com/office/drawing/2014/main" id="{ED1A1A90-F8B4-5E22-3B48-8AC1EF256A94}"/>
                </a:ext>
              </a:extLst>
            </p:cNvPr>
            <p:cNvSpPr/>
            <p:nvPr/>
          </p:nvSpPr>
          <p:spPr>
            <a:xfrm>
              <a:off x="901598" y="6462607"/>
              <a:ext cx="109728" cy="109728"/>
            </a:xfrm>
            <a:prstGeom prst="ellipse">
              <a:avLst/>
            </a:prstGeom>
            <a:solidFill>
              <a:srgbClr val="E5FF4A">
                <a:alpha val="92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 32">
              <a:extLst>
                <a:ext uri="{FF2B5EF4-FFF2-40B4-BE49-F238E27FC236}">
                  <a16:creationId xmlns:a16="http://schemas.microsoft.com/office/drawing/2014/main" id="{37DF83B5-DD1A-8FAE-2641-63F75C4AD793}"/>
                </a:ext>
              </a:extLst>
            </p:cNvPr>
            <p:cNvSpPr/>
            <p:nvPr/>
          </p:nvSpPr>
          <p:spPr>
            <a:xfrm>
              <a:off x="1097280" y="6400800"/>
              <a:ext cx="4572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A6A6B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NEWKIDS INVESTMENT</a:t>
              </a:r>
              <a:endParaRPr lang="en-US" sz="750" dirty="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118872" cy="118872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06628" y="603504"/>
            <a:ext cx="118872" cy="118872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133856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BUSINESS MODEL &amp; TRACTION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41248" y="868680"/>
            <a:ext cx="8403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모델 — 어떻게 돈을 버는가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53144" y="420624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200" b="1" dirty="0">
                <a:solidFill>
                  <a:srgbClr val="EDED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6200" dirty="0"/>
          </a:p>
        </p:txBody>
      </p:sp>
      <p:sp>
        <p:nvSpPr>
          <p:cNvPr id="7" name="Shape 5"/>
          <p:cNvSpPr/>
          <p:nvPr/>
        </p:nvSpPr>
        <p:spPr>
          <a:xfrm>
            <a:off x="841248" y="1627632"/>
            <a:ext cx="10506456" cy="0"/>
          </a:xfrm>
          <a:prstGeom prst="line">
            <a:avLst/>
          </a:prstGeom>
          <a:noFill/>
          <a:ln w="127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41248" y="1901952"/>
            <a:ext cx="10506456" cy="0"/>
          </a:xfrm>
          <a:prstGeom prst="line">
            <a:avLst/>
          </a:prstGeom>
          <a:noFill/>
          <a:ln w="25400">
            <a:solidFill>
              <a:srgbClr val="1111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41248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2359152"/>
            <a:ext cx="3075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/ 타깃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1248" y="2706624"/>
            <a:ext cx="3075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누구에게 판매하는가 · 핵심 세그먼트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62400" y="24048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C43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5676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56760" y="2359152"/>
            <a:ext cx="3075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제공 가치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56760" y="2706624"/>
            <a:ext cx="3075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가치를 전달하는가 · 가치 제안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677912" y="24048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C43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72272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8C43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72272" y="2359152"/>
            <a:ext cx="3075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수익원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72272" y="2706624"/>
            <a:ext cx="3075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과금하는가 · 구독·수수료·라이선스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" y="3502152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/ 패키지 (예시)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1248" y="3913632"/>
            <a:ext cx="3197352" cy="0"/>
          </a:xfrm>
          <a:prstGeom prst="line">
            <a:avLst/>
          </a:prstGeom>
          <a:noFill/>
          <a:ln w="254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41248" y="4059936"/>
            <a:ext cx="2100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Basic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" y="4370832"/>
            <a:ext cx="319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41248" y="4937760"/>
            <a:ext cx="319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/ 진입형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95800" y="3913632"/>
            <a:ext cx="3197352" cy="0"/>
          </a:xfrm>
          <a:prstGeom prst="line">
            <a:avLst/>
          </a:prstGeom>
          <a:noFill/>
          <a:ln w="38100">
            <a:solidFill>
              <a:srgbClr val="E5FF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687312" y="4023360"/>
            <a:ext cx="1005840" cy="237744"/>
          </a:xfrm>
          <a:prstGeom prst="rect">
            <a:avLst/>
          </a:prstGeom>
          <a:solidFill>
            <a:srgbClr val="E5FF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687312" y="40233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 · MAIN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95800" y="4059936"/>
            <a:ext cx="2100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95800" y="4370832"/>
            <a:ext cx="319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₩00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4495800" y="4937760"/>
            <a:ext cx="319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성장 고객 / 주력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150352" y="3913632"/>
            <a:ext cx="3197352" cy="0"/>
          </a:xfrm>
          <a:prstGeom prst="line">
            <a:avLst/>
          </a:prstGeom>
          <a:noFill/>
          <a:ln w="254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8150352" y="4059936"/>
            <a:ext cx="2100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50352" y="4370832"/>
            <a:ext cx="319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문의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8150352" y="4937760"/>
            <a:ext cx="319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대형 고객 / 맞춤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41248" y="5724144"/>
            <a:ext cx="10506456" cy="0"/>
          </a:xfrm>
          <a:prstGeom prst="line">
            <a:avLst/>
          </a:prstGeom>
          <a:noFill/>
          <a:ln w="127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841248" y="5852160"/>
            <a:ext cx="603504" cy="237744"/>
          </a:xfrm>
          <a:prstGeom prst="rect">
            <a:avLst/>
          </a:prstGeom>
          <a:solidFill>
            <a:srgbClr val="E5FF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841248" y="5852160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GUIDE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609344" y="5815584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단가(ARPU)·과금 단위·마진 구조를 분명히 하세요. 다음 장의 유닛 이코노믹스(LTV/CAC)와 한 흐름으로 이어집니다.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841248" y="6364224"/>
            <a:ext cx="10506456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9976104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r>
              <a:rPr lang="en-US" sz="900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/  30</a:t>
            </a:r>
            <a:endParaRPr lang="en-US" sz="900" dirty="0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7F9940F-E66D-E1D3-C534-98DBCE6E8133}"/>
              </a:ext>
            </a:extLst>
          </p:cNvPr>
          <p:cNvGrpSpPr/>
          <p:nvPr/>
        </p:nvGrpSpPr>
        <p:grpSpPr>
          <a:xfrm>
            <a:off x="841248" y="6400800"/>
            <a:ext cx="4828032" cy="237744"/>
            <a:chOff x="841248" y="6400800"/>
            <a:chExt cx="4828032" cy="237744"/>
          </a:xfrm>
        </p:grpSpPr>
        <p:sp>
          <p:nvSpPr>
            <p:cNvPr id="45" name="Shape 30">
              <a:extLst>
                <a:ext uri="{FF2B5EF4-FFF2-40B4-BE49-F238E27FC236}">
                  <a16:creationId xmlns:a16="http://schemas.microsoft.com/office/drawing/2014/main" id="{D51F46ED-7CCD-C640-334D-A62322C716C2}"/>
                </a:ext>
              </a:extLst>
            </p:cNvPr>
            <p:cNvSpPr/>
            <p:nvPr/>
          </p:nvSpPr>
          <p:spPr>
            <a:xfrm>
              <a:off x="841248" y="6462607"/>
              <a:ext cx="109728" cy="109728"/>
            </a:xfrm>
            <a:prstGeom prst="ellipse">
              <a:avLst/>
            </a:prstGeom>
            <a:solidFill>
              <a:srgbClr val="4031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Shape 31">
              <a:extLst>
                <a:ext uri="{FF2B5EF4-FFF2-40B4-BE49-F238E27FC236}">
                  <a16:creationId xmlns:a16="http://schemas.microsoft.com/office/drawing/2014/main" id="{812AC7D5-7945-3540-399C-0A0DF15280D9}"/>
                </a:ext>
              </a:extLst>
            </p:cNvPr>
            <p:cNvSpPr/>
            <p:nvPr/>
          </p:nvSpPr>
          <p:spPr>
            <a:xfrm>
              <a:off x="901598" y="6462607"/>
              <a:ext cx="109728" cy="109728"/>
            </a:xfrm>
            <a:prstGeom prst="ellipse">
              <a:avLst/>
            </a:prstGeom>
            <a:solidFill>
              <a:srgbClr val="E5FF4A">
                <a:alpha val="92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Text 32">
              <a:extLst>
                <a:ext uri="{FF2B5EF4-FFF2-40B4-BE49-F238E27FC236}">
                  <a16:creationId xmlns:a16="http://schemas.microsoft.com/office/drawing/2014/main" id="{29E4C269-ABBA-D538-CFE6-FFD7544055B3}"/>
                </a:ext>
              </a:extLst>
            </p:cNvPr>
            <p:cNvSpPr/>
            <p:nvPr/>
          </p:nvSpPr>
          <p:spPr>
            <a:xfrm>
              <a:off x="1097280" y="6400800"/>
              <a:ext cx="4572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A6A6B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NEWKIDS INVESTMENT</a:t>
              </a:r>
              <a:endParaRPr lang="en-US" sz="750"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118872" cy="118872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06628" y="603504"/>
            <a:ext cx="118872" cy="118872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133856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BUSINESS MODEL &amp; TRACTION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41248" y="868680"/>
            <a:ext cx="8403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성장 전략 &amp; 로드맵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53144" y="420624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200" b="1" dirty="0">
                <a:solidFill>
                  <a:srgbClr val="EDED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6200" dirty="0"/>
          </a:p>
        </p:txBody>
      </p:sp>
      <p:sp>
        <p:nvSpPr>
          <p:cNvPr id="7" name="Shape 5"/>
          <p:cNvSpPr/>
          <p:nvPr/>
        </p:nvSpPr>
        <p:spPr>
          <a:xfrm>
            <a:off x="841248" y="1627632"/>
            <a:ext cx="10506456" cy="0"/>
          </a:xfrm>
          <a:prstGeom prst="line">
            <a:avLst/>
          </a:prstGeom>
          <a:noFill/>
          <a:ln w="127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024128" y="3182112"/>
            <a:ext cx="10140696" cy="0"/>
          </a:xfrm>
          <a:prstGeom prst="line">
            <a:avLst/>
          </a:prstGeom>
          <a:noFill/>
          <a:ln w="1905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145411" y="3035808"/>
            <a:ext cx="292608" cy="292608"/>
          </a:xfrm>
          <a:prstGeom prst="ellipse">
            <a:avLst/>
          </a:prstGeom>
          <a:solidFill>
            <a:srgbClr val="E5FF4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298448" y="2267712"/>
            <a:ext cx="914400" cy="237744"/>
          </a:xfrm>
          <a:prstGeom prst="rect">
            <a:avLst/>
          </a:prstGeom>
          <a:solidFill>
            <a:srgbClr val="E5FF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98448" y="22677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98448" y="2560320"/>
            <a:ext cx="19865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298448" y="2852928"/>
            <a:ext cx="20779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시장 PMF 검증 / 초기 매출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4744593" y="3099816"/>
            <a:ext cx="164592" cy="164592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835119" y="3099816"/>
            <a:ext cx="164592" cy="164592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833622" y="3474720"/>
            <a:ext cx="19865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+6M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33622" y="3767328"/>
            <a:ext cx="19865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단기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33622" y="4059936"/>
            <a:ext cx="20779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획득 채널 확장 / 핵심 지표 개선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7279767" y="3099816"/>
            <a:ext cx="164592" cy="164592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370293" y="3099816"/>
            <a:ext cx="164592" cy="164592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368796" y="2267712"/>
            <a:ext cx="19865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68796" y="2560320"/>
            <a:ext cx="19865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중기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68796" y="2852928"/>
            <a:ext cx="20779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인접 시장·라인업 확장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9814941" y="3099816"/>
            <a:ext cx="164592" cy="164592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905467" y="3099816"/>
            <a:ext cx="164592" cy="164592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903970" y="3474720"/>
            <a:ext cx="19865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+2Y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03970" y="3767328"/>
            <a:ext cx="19865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장기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903970" y="4059936"/>
            <a:ext cx="20779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해외 진출 / 카테고리 리더십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841248" y="5724144"/>
            <a:ext cx="10506456" cy="0"/>
          </a:xfrm>
          <a:prstGeom prst="line">
            <a:avLst/>
          </a:prstGeom>
          <a:noFill/>
          <a:ln w="127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841248" y="5852160"/>
            <a:ext cx="603504" cy="237744"/>
          </a:xfrm>
          <a:prstGeom prst="rect">
            <a:avLst/>
          </a:prstGeom>
          <a:solidFill>
            <a:srgbClr val="E5FF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841248" y="5852160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GUIDE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609344" y="5815584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라운드와 마일스톤을 연결하세요. '이 투자로 무엇을 달성해 다음 단계로 가는가'를 보여주는 로드맵이 가장 설득력 있습니다.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841248" y="6364224"/>
            <a:ext cx="10506456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9976104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</a:t>
            </a:r>
            <a:r>
              <a:rPr lang="en-US" sz="900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/  30</a:t>
            </a:r>
            <a:endParaRPr lang="en-US" sz="900" dirty="0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7FE39E13-31D9-4C30-2225-C928E0E2EE4F}"/>
              </a:ext>
            </a:extLst>
          </p:cNvPr>
          <p:cNvGrpSpPr/>
          <p:nvPr/>
        </p:nvGrpSpPr>
        <p:grpSpPr>
          <a:xfrm>
            <a:off x="841248" y="6400800"/>
            <a:ext cx="4828032" cy="237744"/>
            <a:chOff x="841248" y="6400800"/>
            <a:chExt cx="4828032" cy="237744"/>
          </a:xfrm>
        </p:grpSpPr>
        <p:sp>
          <p:nvSpPr>
            <p:cNvPr id="39" name="Shape 30">
              <a:extLst>
                <a:ext uri="{FF2B5EF4-FFF2-40B4-BE49-F238E27FC236}">
                  <a16:creationId xmlns:a16="http://schemas.microsoft.com/office/drawing/2014/main" id="{20C179FD-70FE-8189-C28D-D47D729EF072}"/>
                </a:ext>
              </a:extLst>
            </p:cNvPr>
            <p:cNvSpPr/>
            <p:nvPr/>
          </p:nvSpPr>
          <p:spPr>
            <a:xfrm>
              <a:off x="841248" y="6462607"/>
              <a:ext cx="109728" cy="109728"/>
            </a:xfrm>
            <a:prstGeom prst="ellipse">
              <a:avLst/>
            </a:prstGeom>
            <a:solidFill>
              <a:srgbClr val="4031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Shape 31">
              <a:extLst>
                <a:ext uri="{FF2B5EF4-FFF2-40B4-BE49-F238E27FC236}">
                  <a16:creationId xmlns:a16="http://schemas.microsoft.com/office/drawing/2014/main" id="{DF10FB84-B43C-3193-528C-FCB973855065}"/>
                </a:ext>
              </a:extLst>
            </p:cNvPr>
            <p:cNvSpPr/>
            <p:nvPr/>
          </p:nvSpPr>
          <p:spPr>
            <a:xfrm>
              <a:off x="901598" y="6462607"/>
              <a:ext cx="109728" cy="109728"/>
            </a:xfrm>
            <a:prstGeom prst="ellipse">
              <a:avLst/>
            </a:prstGeom>
            <a:solidFill>
              <a:srgbClr val="E5FF4A">
                <a:alpha val="92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 32">
              <a:extLst>
                <a:ext uri="{FF2B5EF4-FFF2-40B4-BE49-F238E27FC236}">
                  <a16:creationId xmlns:a16="http://schemas.microsoft.com/office/drawing/2014/main" id="{453113D3-EC65-3B31-872A-05DD863E8AC7}"/>
                </a:ext>
              </a:extLst>
            </p:cNvPr>
            <p:cNvSpPr/>
            <p:nvPr/>
          </p:nvSpPr>
          <p:spPr>
            <a:xfrm>
              <a:off x="1097280" y="6400800"/>
              <a:ext cx="4572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A6A6B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NEWKIDS INVESTMENT</a:t>
              </a:r>
              <a:endParaRPr lang="en-US" sz="750" dirty="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118872" cy="118872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06628" y="603504"/>
            <a:ext cx="118872" cy="118872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133856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BUSINESS MODEL &amp; TRACTION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41248" y="868680"/>
            <a:ext cx="8403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확장 로드맵 — 거점에서 인접·신규 시장으로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53144" y="420624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200" b="1" dirty="0">
                <a:solidFill>
                  <a:srgbClr val="EDED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6200" dirty="0"/>
          </a:p>
        </p:txBody>
      </p:sp>
      <p:sp>
        <p:nvSpPr>
          <p:cNvPr id="7" name="Shape 5"/>
          <p:cNvSpPr/>
          <p:nvPr/>
        </p:nvSpPr>
        <p:spPr>
          <a:xfrm>
            <a:off x="841248" y="1627632"/>
            <a:ext cx="10506456" cy="0"/>
          </a:xfrm>
          <a:prstGeom prst="line">
            <a:avLst/>
          </a:prstGeom>
          <a:noFill/>
          <a:ln w="127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41248" y="1901952"/>
            <a:ext cx="3136392" cy="237744"/>
          </a:xfrm>
          <a:prstGeom prst="rect">
            <a:avLst/>
          </a:prstGeom>
          <a:solidFill>
            <a:srgbClr val="E5FF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41248" y="1901952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거점 시장 · Now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1248" y="2505456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" y="272491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〈핵심 세그먼트 / 지역〉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41248" y="3090672"/>
            <a:ext cx="3136392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41248" y="3182112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규모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41248" y="3401568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〈SOM 기준 ₩〉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41248" y="3767328"/>
            <a:ext cx="3136392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41248" y="3858768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 전략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41248" y="4078224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〈초기 GTM·획득 채널〉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41248" y="4443984"/>
            <a:ext cx="3136392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41248" y="4535424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KPI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" y="475488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〈PMF·재구매 지표〉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1248" y="5120640"/>
            <a:ext cx="3136392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02336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C43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26280" y="2020824"/>
            <a:ext cx="3136392" cy="0"/>
          </a:xfrm>
          <a:prstGeom prst="line">
            <a:avLst/>
          </a:prstGeom>
          <a:noFill/>
          <a:ln w="38100">
            <a:solidFill>
              <a:srgbClr val="4031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526280" y="2084832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인접 확장 · +12~18M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26280" y="2505456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26280" y="272491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〈인접 세그먼트·용도〉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26280" y="3090672"/>
            <a:ext cx="3136392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526280" y="3182112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규모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26280" y="3401568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〈SAM 일부 ₩〉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26280" y="3767328"/>
            <a:ext cx="3136392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526280" y="3858768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 전략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26280" y="4078224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〈제휴·신채널 확장〉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26280" y="4443984"/>
            <a:ext cx="3136392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526280" y="4535424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KPI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26280" y="475488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〈점유율·매출 성장〉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26280" y="5120640"/>
            <a:ext cx="3136392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7708392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C43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8211312" y="2020824"/>
            <a:ext cx="3136392" cy="0"/>
          </a:xfrm>
          <a:prstGeom prst="line">
            <a:avLst/>
          </a:prstGeom>
          <a:noFill/>
          <a:ln w="38100">
            <a:solidFill>
              <a:srgbClr val="1111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8211312" y="2084832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시장 · +24M~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211312" y="2505456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11312" y="272491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〈신규 카테고리 / 해외〉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211312" y="3090672"/>
            <a:ext cx="3136392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8211312" y="3182112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규모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211312" y="3401568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〈TAM 일부 ₩〉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211312" y="3767328"/>
            <a:ext cx="3136392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8211312" y="3858768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 전략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211312" y="4078224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〈현지화·파트너십〉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211312" y="4443984"/>
            <a:ext cx="3136392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8211312" y="4535424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KPI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211312" y="4754880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〈카테고리 리더십〉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211312" y="5120640"/>
            <a:ext cx="3136392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841248" y="5239512"/>
            <a:ext cx="10506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 논리   </a:t>
            </a:r>
            <a:r>
              <a:rPr lang="en-US" sz="1100" dirty="0">
                <a:solidFill>
                  <a:srgbClr val="2A2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거점에서 검증한 〈핵심 강점〉을 무기로 인접 → 신규 시장을 순차적으로 엽니다.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41248" y="5724144"/>
            <a:ext cx="10506456" cy="0"/>
          </a:xfrm>
          <a:prstGeom prst="line">
            <a:avLst/>
          </a:prstGeom>
          <a:noFill/>
          <a:ln w="127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841248" y="5852160"/>
            <a:ext cx="603504" cy="237744"/>
          </a:xfrm>
          <a:prstGeom prst="rect">
            <a:avLst/>
          </a:prstGeom>
          <a:solidFill>
            <a:srgbClr val="E5FF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841248" y="5852160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GUIDE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609344" y="5815584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사업계획서와 IR을 가르는 슬라이드입니다. 막연한 '글로벌 진출'이 아니라, 거점에서 확보한 근거로 다음 시장을 어떻게 순차적으로 여는지 시장 기반으로 보여주세요.</a:t>
            </a:r>
            <a:endParaRPr lang="en-US" sz="980" dirty="0"/>
          </a:p>
        </p:txBody>
      </p:sp>
      <p:sp>
        <p:nvSpPr>
          <p:cNvPr id="57" name="Shape 55"/>
          <p:cNvSpPr/>
          <p:nvPr/>
        </p:nvSpPr>
        <p:spPr>
          <a:xfrm>
            <a:off x="841248" y="6364224"/>
            <a:ext cx="10506456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9976104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</a:t>
            </a:r>
            <a:r>
              <a:rPr lang="en-US" sz="900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/  30</a:t>
            </a:r>
            <a:endParaRPr lang="en-US" sz="900" dirty="0"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DFC7EDDF-4092-2834-D305-D5F80D51ED03}"/>
              </a:ext>
            </a:extLst>
          </p:cNvPr>
          <p:cNvGrpSpPr/>
          <p:nvPr/>
        </p:nvGrpSpPr>
        <p:grpSpPr>
          <a:xfrm>
            <a:off x="841248" y="6400800"/>
            <a:ext cx="4828032" cy="237744"/>
            <a:chOff x="841248" y="6400800"/>
            <a:chExt cx="4828032" cy="237744"/>
          </a:xfrm>
        </p:grpSpPr>
        <p:sp>
          <p:nvSpPr>
            <p:cNvPr id="63" name="Shape 30">
              <a:extLst>
                <a:ext uri="{FF2B5EF4-FFF2-40B4-BE49-F238E27FC236}">
                  <a16:creationId xmlns:a16="http://schemas.microsoft.com/office/drawing/2014/main" id="{CEBE8683-AED0-717D-9596-E72C6E9BA92E}"/>
                </a:ext>
              </a:extLst>
            </p:cNvPr>
            <p:cNvSpPr/>
            <p:nvPr/>
          </p:nvSpPr>
          <p:spPr>
            <a:xfrm>
              <a:off x="841248" y="6462607"/>
              <a:ext cx="109728" cy="109728"/>
            </a:xfrm>
            <a:prstGeom prst="ellipse">
              <a:avLst/>
            </a:prstGeom>
            <a:solidFill>
              <a:srgbClr val="4031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4" name="Shape 31">
              <a:extLst>
                <a:ext uri="{FF2B5EF4-FFF2-40B4-BE49-F238E27FC236}">
                  <a16:creationId xmlns:a16="http://schemas.microsoft.com/office/drawing/2014/main" id="{DFFDB1C3-BF7E-5350-6326-7E0CF9E1883F}"/>
                </a:ext>
              </a:extLst>
            </p:cNvPr>
            <p:cNvSpPr/>
            <p:nvPr/>
          </p:nvSpPr>
          <p:spPr>
            <a:xfrm>
              <a:off x="901598" y="6462607"/>
              <a:ext cx="109728" cy="109728"/>
            </a:xfrm>
            <a:prstGeom prst="ellipse">
              <a:avLst/>
            </a:prstGeom>
            <a:solidFill>
              <a:srgbClr val="E5FF4A">
                <a:alpha val="92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5" name="Text 32">
              <a:extLst>
                <a:ext uri="{FF2B5EF4-FFF2-40B4-BE49-F238E27FC236}">
                  <a16:creationId xmlns:a16="http://schemas.microsoft.com/office/drawing/2014/main" id="{42395E60-EC5F-3B6B-FFA8-6F38FAA150C4}"/>
                </a:ext>
              </a:extLst>
            </p:cNvPr>
            <p:cNvSpPr/>
            <p:nvPr/>
          </p:nvSpPr>
          <p:spPr>
            <a:xfrm>
              <a:off x="1097280" y="6400800"/>
              <a:ext cx="4572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A6A6B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NEWKIDS INVESTMENT</a:t>
              </a:r>
              <a:endParaRPr lang="en-US" sz="750" dirty="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g_cosmic_di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874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kern="0" spc="500" dirty="0">
                <a:solidFill>
                  <a:srgbClr val="E5FF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 &amp; APPENDIX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768096" y="2157984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5000" dirty="0"/>
          </a:p>
        </p:txBody>
      </p:sp>
      <p:sp>
        <p:nvSpPr>
          <p:cNvPr id="5" name="Text 2"/>
          <p:cNvSpPr/>
          <p:nvPr/>
        </p:nvSpPr>
        <p:spPr>
          <a:xfrm>
            <a:off x="3813048" y="2157984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&amp; Appendix</a:t>
            </a:r>
            <a:endParaRPr lang="en-US" sz="3700" dirty="0"/>
          </a:p>
        </p:txBody>
      </p:sp>
      <p:sp>
        <p:nvSpPr>
          <p:cNvPr id="6" name="Shape 3"/>
          <p:cNvSpPr/>
          <p:nvPr/>
        </p:nvSpPr>
        <p:spPr>
          <a:xfrm>
            <a:off x="841248" y="4370832"/>
            <a:ext cx="10506456" cy="0"/>
          </a:xfrm>
          <a:prstGeom prst="line">
            <a:avLst/>
          </a:prstGeom>
          <a:noFill/>
          <a:ln w="12700">
            <a:solidFill>
              <a:srgbClr val="3E3E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86384" y="4315968"/>
            <a:ext cx="118872" cy="118872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851764" y="4315968"/>
            <a:ext cx="118872" cy="118872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41248" y="4645152"/>
            <a:ext cx="146304" cy="146304"/>
          </a:xfrm>
          <a:prstGeom prst="rect">
            <a:avLst/>
          </a:prstGeom>
          <a:solidFill>
            <a:srgbClr val="E5FF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1152144" y="457200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5D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구성 — 창업팀 &amp; 핵심 인력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41248" y="5102352"/>
            <a:ext cx="146304" cy="146304"/>
          </a:xfrm>
          <a:prstGeom prst="rect">
            <a:avLst/>
          </a:prstGeom>
          <a:solidFill>
            <a:srgbClr val="E5FF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1152144" y="502920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5D6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Appendix — 특허·인증·연혁·언론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41248" y="6364224"/>
            <a:ext cx="10506456" cy="0"/>
          </a:xfrm>
          <a:prstGeom prst="line">
            <a:avLst/>
          </a:prstGeom>
          <a:noFill/>
          <a:ln w="12700">
            <a:solidFill>
              <a:srgbClr val="3A3A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9976104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5FF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</a:t>
            </a:r>
            <a:r>
              <a:rPr lang="en-US" sz="900" dirty="0">
                <a:solidFill>
                  <a:srgbClr val="6E6F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/  30</a:t>
            </a:r>
            <a:endParaRPr lang="en-US" sz="900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019B0F4-2C5A-F0C6-85CF-2715783A299A}"/>
              </a:ext>
            </a:extLst>
          </p:cNvPr>
          <p:cNvGrpSpPr/>
          <p:nvPr/>
        </p:nvGrpSpPr>
        <p:grpSpPr>
          <a:xfrm>
            <a:off x="841248" y="6400800"/>
            <a:ext cx="4828032" cy="237744"/>
            <a:chOff x="841248" y="6400800"/>
            <a:chExt cx="4828032" cy="237744"/>
          </a:xfrm>
        </p:grpSpPr>
        <p:sp>
          <p:nvSpPr>
            <p:cNvPr id="19" name="Shape 30">
              <a:extLst>
                <a:ext uri="{FF2B5EF4-FFF2-40B4-BE49-F238E27FC236}">
                  <a16:creationId xmlns:a16="http://schemas.microsoft.com/office/drawing/2014/main" id="{1375CA78-5A86-3F56-23C1-B1E07315D31D}"/>
                </a:ext>
              </a:extLst>
            </p:cNvPr>
            <p:cNvSpPr/>
            <p:nvPr/>
          </p:nvSpPr>
          <p:spPr>
            <a:xfrm>
              <a:off x="841248" y="6462607"/>
              <a:ext cx="109728" cy="109728"/>
            </a:xfrm>
            <a:prstGeom prst="ellipse">
              <a:avLst/>
            </a:prstGeom>
            <a:solidFill>
              <a:srgbClr val="4031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Shape 31">
              <a:extLst>
                <a:ext uri="{FF2B5EF4-FFF2-40B4-BE49-F238E27FC236}">
                  <a16:creationId xmlns:a16="http://schemas.microsoft.com/office/drawing/2014/main" id="{E86418DD-62CA-FB00-16B5-9E593AB78E4A}"/>
                </a:ext>
              </a:extLst>
            </p:cNvPr>
            <p:cNvSpPr/>
            <p:nvPr/>
          </p:nvSpPr>
          <p:spPr>
            <a:xfrm>
              <a:off x="901598" y="6462607"/>
              <a:ext cx="109728" cy="109728"/>
            </a:xfrm>
            <a:prstGeom prst="ellipse">
              <a:avLst/>
            </a:prstGeom>
            <a:solidFill>
              <a:srgbClr val="E5FF4A">
                <a:alpha val="92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 32">
              <a:extLst>
                <a:ext uri="{FF2B5EF4-FFF2-40B4-BE49-F238E27FC236}">
                  <a16:creationId xmlns:a16="http://schemas.microsoft.com/office/drawing/2014/main" id="{9BF9EA93-43E0-6C00-A0D2-48F4859405C1}"/>
                </a:ext>
              </a:extLst>
            </p:cNvPr>
            <p:cNvSpPr/>
            <p:nvPr/>
          </p:nvSpPr>
          <p:spPr>
            <a:xfrm>
              <a:off x="1097280" y="6400800"/>
              <a:ext cx="4572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A6A6B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NEWKIDS INVESTMENT</a:t>
              </a:r>
              <a:endParaRPr lang="en-US" sz="750" dirty="0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118872" cy="118872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06628" y="603504"/>
            <a:ext cx="118872" cy="118872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133856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 &amp; APPENDIX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41248" y="868680"/>
            <a:ext cx="8403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— 우리가 해낼 수 있는 이유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53144" y="420624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200" b="1" dirty="0">
                <a:solidFill>
                  <a:srgbClr val="EDED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6200" dirty="0"/>
          </a:p>
        </p:txBody>
      </p:sp>
      <p:sp>
        <p:nvSpPr>
          <p:cNvPr id="7" name="Shape 5"/>
          <p:cNvSpPr/>
          <p:nvPr/>
        </p:nvSpPr>
        <p:spPr>
          <a:xfrm>
            <a:off x="841248" y="1627632"/>
            <a:ext cx="10506456" cy="0"/>
          </a:xfrm>
          <a:prstGeom prst="line">
            <a:avLst/>
          </a:prstGeom>
          <a:noFill/>
          <a:ln w="127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41248" y="1901952"/>
            <a:ext cx="1005840" cy="10058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41248" y="190195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</a:t>
            </a:r>
            <a:r>
              <a:rPr lang="ko-KR" altLang="en-US" sz="1200" b="1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</a:t>
            </a:r>
            <a:r>
              <a:rPr lang="en-US" sz="1200" b="1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3044952"/>
            <a:ext cx="24208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〈이름〉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3328416"/>
            <a:ext cx="24208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/ CEO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3602736"/>
            <a:ext cx="24208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경력 한 줄 · 도메인 전문성·성과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41248" y="2980944"/>
            <a:ext cx="1210437" cy="0"/>
          </a:xfrm>
          <a:prstGeom prst="line">
            <a:avLst/>
          </a:prstGeom>
          <a:noFill/>
          <a:ln w="25400">
            <a:solidFill>
              <a:srgbClr val="1111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536442" y="1901952"/>
            <a:ext cx="1005840" cy="10058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536442" y="190195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1200" b="1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</a:t>
            </a:r>
            <a:r>
              <a:rPr lang="ko-KR" altLang="en-US" sz="1200" b="1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사진 </a:t>
            </a:r>
            <a:r>
              <a:rPr lang="en-US" sz="1200" b="1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36442" y="3044952"/>
            <a:ext cx="24208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〈이름〉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36442" y="3328416"/>
            <a:ext cx="24208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CTO / 기술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36442" y="3602736"/>
            <a:ext cx="24208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경력 한 줄 · 기술 리더십·이력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536442" y="2980944"/>
            <a:ext cx="1210437" cy="0"/>
          </a:xfrm>
          <a:prstGeom prst="line">
            <a:avLst/>
          </a:prstGeom>
          <a:noFill/>
          <a:ln w="25400">
            <a:solidFill>
              <a:srgbClr val="1111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231636" y="1901952"/>
            <a:ext cx="1005840" cy="10058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231636" y="190195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1200" b="1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</a:t>
            </a:r>
            <a:r>
              <a:rPr lang="ko-KR" altLang="en-US" sz="1200" b="1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사진 </a:t>
            </a:r>
            <a:r>
              <a:rPr lang="en-US" sz="1200" b="1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31636" y="3044952"/>
            <a:ext cx="24208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〈이름〉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31636" y="3328416"/>
            <a:ext cx="24208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COO / 사업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31636" y="3602736"/>
            <a:ext cx="24208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경력 한 줄 · 운영·세일즈 성과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31636" y="2980944"/>
            <a:ext cx="1210437" cy="0"/>
          </a:xfrm>
          <a:prstGeom prst="line">
            <a:avLst/>
          </a:prstGeom>
          <a:noFill/>
          <a:ln w="25400">
            <a:solidFill>
              <a:srgbClr val="1111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8926830" y="1901952"/>
            <a:ext cx="1005840" cy="10058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926830" y="190195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1200" b="1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</a:t>
            </a:r>
            <a:r>
              <a:rPr lang="ko-KR" altLang="en-US" sz="1200" b="1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사진 </a:t>
            </a:r>
            <a:r>
              <a:rPr lang="en-US" sz="1200" b="1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926830" y="3044952"/>
            <a:ext cx="24208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〈이름〉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926830" y="3328416"/>
            <a:ext cx="24208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멤버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26830" y="3602736"/>
            <a:ext cx="24208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경력 한 줄 · 담당 영역·강점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926830" y="2980944"/>
            <a:ext cx="1210437" cy="0"/>
          </a:xfrm>
          <a:prstGeom prst="line">
            <a:avLst/>
          </a:prstGeom>
          <a:noFill/>
          <a:ln w="25400">
            <a:solidFill>
              <a:srgbClr val="1111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841248" y="4416552"/>
            <a:ext cx="10506456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841248" y="45537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자문단 / 기존 투자자 / 파트너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13248" y="4572000"/>
            <a:ext cx="134645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413248" y="4572000"/>
            <a:ext cx="1346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LOGO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942582" y="4572000"/>
            <a:ext cx="134645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942582" y="4572000"/>
            <a:ext cx="1346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LOGO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471916" y="4572000"/>
            <a:ext cx="134645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8471916" y="4572000"/>
            <a:ext cx="1346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LOGO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001250" y="4572000"/>
            <a:ext cx="134645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0001250" y="4572000"/>
            <a:ext cx="1346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LOGO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41248" y="5724144"/>
            <a:ext cx="10506456" cy="0"/>
          </a:xfrm>
          <a:prstGeom prst="line">
            <a:avLst/>
          </a:prstGeom>
          <a:noFill/>
          <a:ln w="127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841248" y="5852160"/>
            <a:ext cx="603504" cy="237744"/>
          </a:xfrm>
          <a:prstGeom prst="rect">
            <a:avLst/>
          </a:prstGeom>
          <a:solidFill>
            <a:srgbClr val="E5FF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841248" y="5852160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GUIDE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609344" y="5815584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슬라이드는 '왜 이 팀이 이 문제를 풀 적임자인가'를 증명합니다. 직함보다 문제와 직결된 경력·성과를 강조하세요.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841248" y="6364224"/>
            <a:ext cx="10506456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9976104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</a:t>
            </a:r>
            <a:r>
              <a:rPr lang="en-US" sz="900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/  30</a:t>
            </a:r>
            <a:endParaRPr lang="en-US" sz="900" dirty="0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F519FF0-AE0B-46A1-A439-03DD175E2AD2}"/>
              </a:ext>
            </a:extLst>
          </p:cNvPr>
          <p:cNvGrpSpPr/>
          <p:nvPr/>
        </p:nvGrpSpPr>
        <p:grpSpPr>
          <a:xfrm>
            <a:off x="841248" y="6400800"/>
            <a:ext cx="4828032" cy="237744"/>
            <a:chOff x="841248" y="6400800"/>
            <a:chExt cx="4828032" cy="237744"/>
          </a:xfrm>
        </p:grpSpPr>
        <p:sp>
          <p:nvSpPr>
            <p:cNvPr id="52" name="Shape 30">
              <a:extLst>
                <a:ext uri="{FF2B5EF4-FFF2-40B4-BE49-F238E27FC236}">
                  <a16:creationId xmlns:a16="http://schemas.microsoft.com/office/drawing/2014/main" id="{4A26E27F-A2F2-1BA1-1460-F90A16FDD161}"/>
                </a:ext>
              </a:extLst>
            </p:cNvPr>
            <p:cNvSpPr/>
            <p:nvPr/>
          </p:nvSpPr>
          <p:spPr>
            <a:xfrm>
              <a:off x="841248" y="6462607"/>
              <a:ext cx="109728" cy="109728"/>
            </a:xfrm>
            <a:prstGeom prst="ellipse">
              <a:avLst/>
            </a:prstGeom>
            <a:solidFill>
              <a:srgbClr val="4031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Shape 31">
              <a:extLst>
                <a:ext uri="{FF2B5EF4-FFF2-40B4-BE49-F238E27FC236}">
                  <a16:creationId xmlns:a16="http://schemas.microsoft.com/office/drawing/2014/main" id="{7B50A804-D0B4-8568-38A2-F052D8832E88}"/>
                </a:ext>
              </a:extLst>
            </p:cNvPr>
            <p:cNvSpPr/>
            <p:nvPr/>
          </p:nvSpPr>
          <p:spPr>
            <a:xfrm>
              <a:off x="901598" y="6462607"/>
              <a:ext cx="109728" cy="109728"/>
            </a:xfrm>
            <a:prstGeom prst="ellipse">
              <a:avLst/>
            </a:prstGeom>
            <a:solidFill>
              <a:srgbClr val="E5FF4A">
                <a:alpha val="92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Text 32">
              <a:extLst>
                <a:ext uri="{FF2B5EF4-FFF2-40B4-BE49-F238E27FC236}">
                  <a16:creationId xmlns:a16="http://schemas.microsoft.com/office/drawing/2014/main" id="{B3350CC6-889A-B706-E67F-E17ED59BF117}"/>
                </a:ext>
              </a:extLst>
            </p:cNvPr>
            <p:cNvSpPr/>
            <p:nvPr/>
          </p:nvSpPr>
          <p:spPr>
            <a:xfrm>
              <a:off x="1097280" y="6400800"/>
              <a:ext cx="4572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A6A6B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NEWKIDS INVESTMENT</a:t>
              </a:r>
              <a:endParaRPr lang="en-US" sz="750" dirty="0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118872" cy="118872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06628" y="603504"/>
            <a:ext cx="118872" cy="118872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133856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 &amp; APPENDIX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41248" y="868680"/>
            <a:ext cx="8403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Appendix — 부록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53144" y="420624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200" b="1" dirty="0">
                <a:solidFill>
                  <a:srgbClr val="EDED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6200" dirty="0"/>
          </a:p>
        </p:txBody>
      </p:sp>
      <p:sp>
        <p:nvSpPr>
          <p:cNvPr id="7" name="Shape 5"/>
          <p:cNvSpPr/>
          <p:nvPr/>
        </p:nvSpPr>
        <p:spPr>
          <a:xfrm>
            <a:off x="841248" y="1627632"/>
            <a:ext cx="10506456" cy="0"/>
          </a:xfrm>
          <a:prstGeom prst="line">
            <a:avLst/>
          </a:prstGeom>
          <a:noFill/>
          <a:ln w="127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41248" y="1993392"/>
            <a:ext cx="4841748" cy="0"/>
          </a:xfrm>
          <a:prstGeom prst="line">
            <a:avLst/>
          </a:prstGeom>
          <a:noFill/>
          <a:ln w="25400">
            <a:solidFill>
              <a:srgbClr val="1111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41248" y="2103120"/>
            <a:ext cx="4841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지식재산권 / 인증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2450592"/>
            <a:ext cx="4841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특허 출원·등록, 인증, 수상 내역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41248" y="2779776"/>
            <a:ext cx="4841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i="1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 내용을 채워 주세요 〉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05956" y="1993392"/>
            <a:ext cx="4841748" cy="0"/>
          </a:xfrm>
          <a:prstGeom prst="line">
            <a:avLst/>
          </a:prstGeom>
          <a:noFill/>
          <a:ln w="25400">
            <a:solidFill>
              <a:srgbClr val="1111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505956" y="2103120"/>
            <a:ext cx="4841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정부지원 / 레퍼런스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05956" y="2450592"/>
            <a:ext cx="4841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선정 사업, 실증, 주요 레퍼런스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05956" y="2779776"/>
            <a:ext cx="4841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i="1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 내용을 채워 주세요 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41248" y="3547872"/>
            <a:ext cx="4841748" cy="0"/>
          </a:xfrm>
          <a:prstGeom prst="line">
            <a:avLst/>
          </a:prstGeom>
          <a:noFill/>
          <a:ln w="25400">
            <a:solidFill>
              <a:srgbClr val="1111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41248" y="3657600"/>
            <a:ext cx="4841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연혁 (History)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4005072"/>
            <a:ext cx="4841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설립 이후 핵심 마일스톤 타임라인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1248" y="4334256"/>
            <a:ext cx="4841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i="1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 내용을 채워 주세요 〉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05956" y="3547872"/>
            <a:ext cx="4841748" cy="0"/>
          </a:xfrm>
          <a:prstGeom prst="line">
            <a:avLst/>
          </a:prstGeom>
          <a:noFill/>
          <a:ln w="25400">
            <a:solidFill>
              <a:srgbClr val="1111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505956" y="3657600"/>
            <a:ext cx="4841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언론 보도 / 후기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05956" y="4005072"/>
            <a:ext cx="4841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보도, 고객 인터뷰/추천사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05956" y="4334256"/>
            <a:ext cx="48417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i="1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 내용을 채워 주세요 〉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41248" y="5724144"/>
            <a:ext cx="10506456" cy="0"/>
          </a:xfrm>
          <a:prstGeom prst="line">
            <a:avLst/>
          </a:prstGeom>
          <a:noFill/>
          <a:ln w="127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841248" y="5852160"/>
            <a:ext cx="603504" cy="237744"/>
          </a:xfrm>
          <a:prstGeom prst="rect">
            <a:avLst/>
          </a:prstGeom>
          <a:solidFill>
            <a:srgbClr val="E5FF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41248" y="5852160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GUIDE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09344" y="5815584"/>
            <a:ext cx="9646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en-US" sz="98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흐름을 끊는 상세 데이터·증빙은 Appendix로 분리하세요. Q&amp;A 대비용 백업 슬라이드를 추가해 두면 좋습니다.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841248" y="6364224"/>
            <a:ext cx="10506456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9976104" y="6400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</a:t>
            </a:r>
            <a:r>
              <a:rPr lang="en-US" sz="900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/  30</a:t>
            </a:r>
            <a:endParaRPr lang="en-US" sz="900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BF24C1F7-7323-E33D-7AD3-4E3CC4FE0CE1}"/>
              </a:ext>
            </a:extLst>
          </p:cNvPr>
          <p:cNvGrpSpPr/>
          <p:nvPr/>
        </p:nvGrpSpPr>
        <p:grpSpPr>
          <a:xfrm>
            <a:off x="841248" y="6400800"/>
            <a:ext cx="4828032" cy="237744"/>
            <a:chOff x="841248" y="6400800"/>
            <a:chExt cx="4828032" cy="237744"/>
          </a:xfrm>
        </p:grpSpPr>
        <p:sp>
          <p:nvSpPr>
            <p:cNvPr id="34" name="Shape 30">
              <a:extLst>
                <a:ext uri="{FF2B5EF4-FFF2-40B4-BE49-F238E27FC236}">
                  <a16:creationId xmlns:a16="http://schemas.microsoft.com/office/drawing/2014/main" id="{8F082F4D-B719-C9A0-2E08-3BE4A2606FBD}"/>
                </a:ext>
              </a:extLst>
            </p:cNvPr>
            <p:cNvSpPr/>
            <p:nvPr/>
          </p:nvSpPr>
          <p:spPr>
            <a:xfrm>
              <a:off x="841248" y="6462607"/>
              <a:ext cx="109728" cy="109728"/>
            </a:xfrm>
            <a:prstGeom prst="ellipse">
              <a:avLst/>
            </a:prstGeom>
            <a:solidFill>
              <a:srgbClr val="4031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Shape 31">
              <a:extLst>
                <a:ext uri="{FF2B5EF4-FFF2-40B4-BE49-F238E27FC236}">
                  <a16:creationId xmlns:a16="http://schemas.microsoft.com/office/drawing/2014/main" id="{987A88A7-FBC2-DC8C-FCD0-A218DE60D9C8}"/>
                </a:ext>
              </a:extLst>
            </p:cNvPr>
            <p:cNvSpPr/>
            <p:nvPr/>
          </p:nvSpPr>
          <p:spPr>
            <a:xfrm>
              <a:off x="901598" y="6462607"/>
              <a:ext cx="109728" cy="109728"/>
            </a:xfrm>
            <a:prstGeom prst="ellipse">
              <a:avLst/>
            </a:prstGeom>
            <a:solidFill>
              <a:srgbClr val="E5FF4A">
                <a:alpha val="92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Text 32">
              <a:extLst>
                <a:ext uri="{FF2B5EF4-FFF2-40B4-BE49-F238E27FC236}">
                  <a16:creationId xmlns:a16="http://schemas.microsoft.com/office/drawing/2014/main" id="{A168DA7F-FB5B-8C77-F63D-A61CE53C647D}"/>
                </a:ext>
              </a:extLst>
            </p:cNvPr>
            <p:cNvSpPr/>
            <p:nvPr/>
          </p:nvSpPr>
          <p:spPr>
            <a:xfrm>
              <a:off x="1097280" y="6400800"/>
              <a:ext cx="4572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A6A6B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NEWKIDS INVESTMENT</a:t>
              </a:r>
              <a:endParaRPr lang="en-US" sz="750" dirty="0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1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g_cosm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920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E5FF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841248" y="239572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만들어 갈 다음 단계를 제안합니다.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841248" y="345643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9CA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〈우리 비전을 한 문장으로 — 투자자에게 남길 마지막 메시지〉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41248" y="4526280"/>
            <a:ext cx="10506456" cy="0"/>
          </a:xfrm>
          <a:prstGeom prst="line">
            <a:avLst/>
          </a:prstGeom>
          <a:noFill/>
          <a:ln w="12700">
            <a:solidFill>
              <a:srgbClr val="3E3E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86384" y="4471416"/>
            <a:ext cx="118872" cy="118872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851764" y="4471416"/>
            <a:ext cx="118872" cy="118872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841248" y="47548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E5FF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EMAIL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41248" y="49926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email@company.com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407408" y="47548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E5FF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TEL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407408" y="49926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02-0000-0000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973568" y="47548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E5FF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973568" y="49926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www.company.com</a:t>
            </a:r>
            <a:endParaRPr lang="en-US" sz="1300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6A1125C-5A53-4F22-7A07-3CA4A4606887}"/>
              </a:ext>
            </a:extLst>
          </p:cNvPr>
          <p:cNvGrpSpPr/>
          <p:nvPr/>
        </p:nvGrpSpPr>
        <p:grpSpPr>
          <a:xfrm>
            <a:off x="841248" y="6400800"/>
            <a:ext cx="4828032" cy="237744"/>
            <a:chOff x="841248" y="6400800"/>
            <a:chExt cx="4828032" cy="237744"/>
          </a:xfrm>
        </p:grpSpPr>
        <p:sp>
          <p:nvSpPr>
            <p:cNvPr id="19" name="Shape 30">
              <a:extLst>
                <a:ext uri="{FF2B5EF4-FFF2-40B4-BE49-F238E27FC236}">
                  <a16:creationId xmlns:a16="http://schemas.microsoft.com/office/drawing/2014/main" id="{44757372-A7F5-DF1C-D334-8BB5619AB956}"/>
                </a:ext>
              </a:extLst>
            </p:cNvPr>
            <p:cNvSpPr/>
            <p:nvPr/>
          </p:nvSpPr>
          <p:spPr>
            <a:xfrm>
              <a:off x="841248" y="6462607"/>
              <a:ext cx="109728" cy="109728"/>
            </a:xfrm>
            <a:prstGeom prst="ellipse">
              <a:avLst/>
            </a:prstGeom>
            <a:solidFill>
              <a:srgbClr val="4031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Shape 31">
              <a:extLst>
                <a:ext uri="{FF2B5EF4-FFF2-40B4-BE49-F238E27FC236}">
                  <a16:creationId xmlns:a16="http://schemas.microsoft.com/office/drawing/2014/main" id="{1A398E95-7347-20AB-24A1-663B2BD20E0E}"/>
                </a:ext>
              </a:extLst>
            </p:cNvPr>
            <p:cNvSpPr/>
            <p:nvPr/>
          </p:nvSpPr>
          <p:spPr>
            <a:xfrm>
              <a:off x="901598" y="6462607"/>
              <a:ext cx="109728" cy="109728"/>
            </a:xfrm>
            <a:prstGeom prst="ellipse">
              <a:avLst/>
            </a:prstGeom>
            <a:solidFill>
              <a:srgbClr val="E5FF4A">
                <a:alpha val="92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 32">
              <a:extLst>
                <a:ext uri="{FF2B5EF4-FFF2-40B4-BE49-F238E27FC236}">
                  <a16:creationId xmlns:a16="http://schemas.microsoft.com/office/drawing/2014/main" id="{90A76D70-867F-4B31-89B5-DE3DE6B1FB24}"/>
                </a:ext>
              </a:extLst>
            </p:cNvPr>
            <p:cNvSpPr/>
            <p:nvPr/>
          </p:nvSpPr>
          <p:spPr>
            <a:xfrm>
              <a:off x="1097280" y="6400800"/>
              <a:ext cx="4572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A6A6B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NEWKIDS INVESTMENT</a:t>
              </a:r>
              <a:endParaRPr lang="en-US" sz="750" dirty="0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118872" cy="118872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06628" y="603504"/>
            <a:ext cx="118872" cy="118872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133856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TEMPLATE LIBRARY · 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41248" y="8686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요소 — 버튼 · 태그 · 노드 · 하이라이트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41248" y="1554480"/>
            <a:ext cx="10506456" cy="0"/>
          </a:xfrm>
          <a:prstGeom prst="line">
            <a:avLst/>
          </a:prstGeom>
          <a:noFill/>
          <a:ln w="127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41248" y="1691640"/>
            <a:ext cx="10506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아래 개체를 복사(Ctrl+C)해 본문에 붙여 재사용하세요.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 / CTA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41248" y="242316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41248" y="2423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Primary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61488" y="242316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5875">
            <a:solidFill>
              <a:srgbClr val="4031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61488" y="2423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Secondary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태그 / 하이라이트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1248" y="3520440"/>
            <a:ext cx="896112" cy="365760"/>
          </a:xfrm>
          <a:prstGeom prst="roundRect">
            <a:avLst>
              <a:gd name="adj" fmla="val 50000"/>
            </a:avLst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41248" y="352044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92808" y="3520440"/>
            <a:ext cx="896112" cy="365760"/>
          </a:xfrm>
          <a:prstGeom prst="roundRect">
            <a:avLst>
              <a:gd name="adj" fmla="val 50000"/>
            </a:avLst>
          </a:prstGeom>
          <a:solidFill>
            <a:srgbClr val="E5FF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892808" y="352044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44368" y="3520440"/>
            <a:ext cx="896112" cy="365760"/>
          </a:xfrm>
          <a:prstGeom prst="roundRect">
            <a:avLst>
              <a:gd name="adj" fmla="val 50000"/>
            </a:avLst>
          </a:prstGeom>
          <a:solidFill>
            <a:srgbClr val="8C43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944368" y="352044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" y="4114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단어를 </a:t>
            </a:r>
            <a:r>
              <a:rPr lang="en-US" sz="1300" b="1" dirty="0">
                <a:solidFill>
                  <a:srgbClr val="11113A"/>
                </a:solidFill>
                <a:highlight>
                  <a:srgbClr val="E5FF4A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네온으로 강조 </a:t>
            </a:r>
            <a:r>
              <a:rPr lang="en-US" sz="13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할 수 있습니다.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넘버 / 듀얼닷 노드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" y="4983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664208" y="4983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2487168" y="4983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8C43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3675888" y="5102352"/>
            <a:ext cx="164592" cy="164592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3766414" y="5102352"/>
            <a:ext cx="164592" cy="164592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315968" y="5102352"/>
            <a:ext cx="164592" cy="164592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4406494" y="5102352"/>
            <a:ext cx="164592" cy="164592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956048" y="5102352"/>
            <a:ext cx="164592" cy="164592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5046574" y="5102352"/>
            <a:ext cx="164592" cy="164592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583680" y="2103120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인용 / 추천사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83680" y="2432304"/>
            <a:ext cx="4764024" cy="0"/>
          </a:xfrm>
          <a:prstGeom prst="line">
            <a:avLst/>
          </a:prstGeom>
          <a:noFill/>
          <a:ln w="25400">
            <a:solidFill>
              <a:srgbClr val="1111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583680" y="2578608"/>
            <a:ext cx="4764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b="1" i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“고객의 한마디 — 제품이 만든 변화를 그대로 인용하세요.”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83680" y="3429000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〈고객명 / 직책 / 회사〉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83680" y="3977640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그라데이션 패널</a:t>
            </a:r>
            <a:endParaRPr lang="en-US" sz="1100" dirty="0"/>
          </a:p>
        </p:txBody>
      </p:sp>
      <p:pic>
        <p:nvPicPr>
          <p:cNvPr id="36" name="Image 0" descr="/home/claude/panel_gr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297680"/>
            <a:ext cx="4764024" cy="91440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6858000" y="4297680"/>
            <a:ext cx="4215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강조 메시지 / 핵심 수치를 올리는 패널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841248" y="6364224"/>
            <a:ext cx="10506456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/>
          <p:nvPr/>
        </p:nvSpPr>
        <p:spPr>
          <a:xfrm>
            <a:off x="9518904" y="64008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부록 A</a:t>
            </a:r>
            <a:endParaRPr lang="en-US" sz="900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3692052F-5856-4319-5AEB-1FF3EA33871F}"/>
              </a:ext>
            </a:extLst>
          </p:cNvPr>
          <p:cNvGrpSpPr/>
          <p:nvPr/>
        </p:nvGrpSpPr>
        <p:grpSpPr>
          <a:xfrm>
            <a:off x="841248" y="6400800"/>
            <a:ext cx="4828032" cy="237744"/>
            <a:chOff x="841248" y="6400800"/>
            <a:chExt cx="4828032" cy="237744"/>
          </a:xfrm>
        </p:grpSpPr>
        <p:sp>
          <p:nvSpPr>
            <p:cNvPr id="43" name="Shape 30">
              <a:extLst>
                <a:ext uri="{FF2B5EF4-FFF2-40B4-BE49-F238E27FC236}">
                  <a16:creationId xmlns:a16="http://schemas.microsoft.com/office/drawing/2014/main" id="{1A7970BF-6C31-7B05-C73E-723746568212}"/>
                </a:ext>
              </a:extLst>
            </p:cNvPr>
            <p:cNvSpPr/>
            <p:nvPr/>
          </p:nvSpPr>
          <p:spPr>
            <a:xfrm>
              <a:off x="841248" y="6462607"/>
              <a:ext cx="109728" cy="109728"/>
            </a:xfrm>
            <a:prstGeom prst="ellipse">
              <a:avLst/>
            </a:prstGeom>
            <a:solidFill>
              <a:srgbClr val="4031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Shape 31">
              <a:extLst>
                <a:ext uri="{FF2B5EF4-FFF2-40B4-BE49-F238E27FC236}">
                  <a16:creationId xmlns:a16="http://schemas.microsoft.com/office/drawing/2014/main" id="{B5B453F9-7A69-CF98-15C6-4CC2FC5D1018}"/>
                </a:ext>
              </a:extLst>
            </p:cNvPr>
            <p:cNvSpPr/>
            <p:nvPr/>
          </p:nvSpPr>
          <p:spPr>
            <a:xfrm>
              <a:off x="901598" y="6462607"/>
              <a:ext cx="109728" cy="109728"/>
            </a:xfrm>
            <a:prstGeom prst="ellipse">
              <a:avLst/>
            </a:prstGeom>
            <a:solidFill>
              <a:srgbClr val="E5FF4A">
                <a:alpha val="92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32">
              <a:extLst>
                <a:ext uri="{FF2B5EF4-FFF2-40B4-BE49-F238E27FC236}">
                  <a16:creationId xmlns:a16="http://schemas.microsoft.com/office/drawing/2014/main" id="{046F3CAB-76B9-5BD4-B2C1-C17933A56639}"/>
                </a:ext>
              </a:extLst>
            </p:cNvPr>
            <p:cNvSpPr/>
            <p:nvPr/>
          </p:nvSpPr>
          <p:spPr>
            <a:xfrm>
              <a:off x="1097280" y="6400800"/>
              <a:ext cx="4572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A6A6B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NEWKIDS INVESTMENT</a:t>
              </a:r>
              <a:endParaRPr lang="en-US" sz="750" dirty="0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118872" cy="118872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06628" y="603504"/>
            <a:ext cx="118872" cy="118872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133856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TEMPLATE LIBRARY · B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41248" y="8686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요소 — 표 · 통계 · 프로세스 · 타임라인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41248" y="1554480"/>
            <a:ext cx="10506456" cy="0"/>
          </a:xfrm>
          <a:prstGeom prst="line">
            <a:avLst/>
          </a:prstGeom>
          <a:noFill/>
          <a:ln w="127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41248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 (미니멀 헤어라인)</a:t>
            </a:r>
            <a:endParaRPr lang="en-US" sz="11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2057400"/>
          <a:ext cx="5120640" cy="160934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111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111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 A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111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 B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A3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행 1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A2A3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A2A3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A3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행 2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A2A3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A2A3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A3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행 3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A2A3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A2A3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7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41248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 (상단 룰)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41248" y="4069080"/>
            <a:ext cx="1524000" cy="0"/>
          </a:xfrm>
          <a:prstGeom prst="line">
            <a:avLst/>
          </a:prstGeom>
          <a:noFill/>
          <a:ln w="25400">
            <a:solidFill>
              <a:srgbClr val="1111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41248" y="4197096"/>
            <a:ext cx="152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00%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841248" y="4910328"/>
            <a:ext cx="152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A2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 라벨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639568" y="4069080"/>
            <a:ext cx="1524000" cy="0"/>
          </a:xfrm>
          <a:prstGeom prst="line">
            <a:avLst/>
          </a:prstGeom>
          <a:noFill/>
          <a:ln w="38100">
            <a:solidFill>
              <a:srgbClr val="E5FF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2639568" y="4197096"/>
            <a:ext cx="152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0,000</a:t>
            </a:r>
            <a:endParaRPr lang="en-US" sz="3300" dirty="0"/>
          </a:p>
        </p:txBody>
      </p:sp>
      <p:sp>
        <p:nvSpPr>
          <p:cNvPr id="15" name="Text 12"/>
          <p:cNvSpPr/>
          <p:nvPr/>
        </p:nvSpPr>
        <p:spPr>
          <a:xfrm>
            <a:off x="2639568" y="4910328"/>
            <a:ext cx="152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A2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 라벨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437888" y="4069080"/>
            <a:ext cx="1524000" cy="0"/>
          </a:xfrm>
          <a:prstGeom prst="line">
            <a:avLst/>
          </a:prstGeom>
          <a:noFill/>
          <a:ln w="25400">
            <a:solidFill>
              <a:srgbClr val="11113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4437888" y="4197096"/>
            <a:ext cx="152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3.2x</a:t>
            </a:r>
            <a:endParaRPr lang="en-US" sz="3300" dirty="0"/>
          </a:p>
        </p:txBody>
      </p:sp>
      <p:sp>
        <p:nvSpPr>
          <p:cNvPr id="18" name="Text 15"/>
          <p:cNvSpPr/>
          <p:nvPr/>
        </p:nvSpPr>
        <p:spPr>
          <a:xfrm>
            <a:off x="4437888" y="4910328"/>
            <a:ext cx="152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A2A3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 라벨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프로세스 / 단계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0" y="2057400"/>
            <a:ext cx="825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00800" y="2304288"/>
            <a:ext cx="8252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226046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43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774686" y="2057400"/>
            <a:ext cx="825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774686" y="2304288"/>
            <a:ext cx="8252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599932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43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148572" y="2057400"/>
            <a:ext cx="825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4031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148572" y="2304288"/>
            <a:ext cx="8252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973818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43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0522458" y="2057400"/>
            <a:ext cx="825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8C43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522458" y="2304288"/>
            <a:ext cx="8252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40080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타임라인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492240" y="3931920"/>
            <a:ext cx="4764024" cy="0"/>
          </a:xfrm>
          <a:prstGeom prst="line">
            <a:avLst/>
          </a:prstGeom>
          <a:noFill/>
          <a:ln w="1905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30"/>
          <p:cNvSpPr/>
          <p:nvPr/>
        </p:nvSpPr>
        <p:spPr>
          <a:xfrm>
            <a:off x="6419088" y="3858768"/>
            <a:ext cx="146304" cy="146304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6499555" y="3858768"/>
            <a:ext cx="146304" cy="146304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6035040" y="4096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'24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943600" y="43342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8007096" y="3858768"/>
            <a:ext cx="146304" cy="146304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8087563" y="3858768"/>
            <a:ext cx="146304" cy="146304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/>
          <p:nvPr/>
        </p:nvSpPr>
        <p:spPr>
          <a:xfrm>
            <a:off x="7623048" y="4096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'25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531608" y="43342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9558528" y="3822192"/>
            <a:ext cx="219456" cy="219456"/>
          </a:xfrm>
          <a:prstGeom prst="ellipse">
            <a:avLst/>
          </a:prstGeom>
          <a:solidFill>
            <a:srgbClr val="E5FF4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/>
          <p:nvPr/>
        </p:nvSpPr>
        <p:spPr>
          <a:xfrm>
            <a:off x="9211056" y="4096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'26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9119616" y="43342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11183112" y="3858768"/>
            <a:ext cx="146304" cy="146304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2"/>
          <p:cNvSpPr/>
          <p:nvPr/>
        </p:nvSpPr>
        <p:spPr>
          <a:xfrm>
            <a:off x="11263579" y="3858768"/>
            <a:ext cx="146304" cy="146304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/>
          <p:nvPr/>
        </p:nvSpPr>
        <p:spPr>
          <a:xfrm>
            <a:off x="10799064" y="4096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'27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10707624" y="43342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841248" y="6364224"/>
            <a:ext cx="10506456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8"/>
          <p:cNvSpPr/>
          <p:nvPr/>
        </p:nvSpPr>
        <p:spPr>
          <a:xfrm>
            <a:off x="9518904" y="64008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부록 B</a:t>
            </a:r>
            <a:endParaRPr lang="en-US" sz="900" dirty="0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94A3A814-5CE2-F422-71D7-E43C2270F626}"/>
              </a:ext>
            </a:extLst>
          </p:cNvPr>
          <p:cNvGrpSpPr/>
          <p:nvPr/>
        </p:nvGrpSpPr>
        <p:grpSpPr>
          <a:xfrm>
            <a:off x="841248" y="6400800"/>
            <a:ext cx="4828032" cy="237744"/>
            <a:chOff x="841248" y="6400800"/>
            <a:chExt cx="4828032" cy="237744"/>
          </a:xfrm>
        </p:grpSpPr>
        <p:sp>
          <p:nvSpPr>
            <p:cNvPr id="53" name="Shape 30">
              <a:extLst>
                <a:ext uri="{FF2B5EF4-FFF2-40B4-BE49-F238E27FC236}">
                  <a16:creationId xmlns:a16="http://schemas.microsoft.com/office/drawing/2014/main" id="{103DFA63-ED72-6E3F-DB08-878F602917E1}"/>
                </a:ext>
              </a:extLst>
            </p:cNvPr>
            <p:cNvSpPr/>
            <p:nvPr/>
          </p:nvSpPr>
          <p:spPr>
            <a:xfrm>
              <a:off x="841248" y="6462607"/>
              <a:ext cx="109728" cy="109728"/>
            </a:xfrm>
            <a:prstGeom prst="ellipse">
              <a:avLst/>
            </a:prstGeom>
            <a:solidFill>
              <a:srgbClr val="4031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Shape 31">
              <a:extLst>
                <a:ext uri="{FF2B5EF4-FFF2-40B4-BE49-F238E27FC236}">
                  <a16:creationId xmlns:a16="http://schemas.microsoft.com/office/drawing/2014/main" id="{99F7CB07-08F1-6549-4C8B-27A6DF18C1C3}"/>
                </a:ext>
              </a:extLst>
            </p:cNvPr>
            <p:cNvSpPr/>
            <p:nvPr/>
          </p:nvSpPr>
          <p:spPr>
            <a:xfrm>
              <a:off x="901598" y="6462607"/>
              <a:ext cx="109728" cy="109728"/>
            </a:xfrm>
            <a:prstGeom prst="ellipse">
              <a:avLst/>
            </a:prstGeom>
            <a:solidFill>
              <a:srgbClr val="E5FF4A">
                <a:alpha val="92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5" name="Text 32">
              <a:extLst>
                <a:ext uri="{FF2B5EF4-FFF2-40B4-BE49-F238E27FC236}">
                  <a16:creationId xmlns:a16="http://schemas.microsoft.com/office/drawing/2014/main" id="{F01D64CC-98A4-8454-DF97-9C60BA5EC2FB}"/>
                </a:ext>
              </a:extLst>
            </p:cNvPr>
            <p:cNvSpPr/>
            <p:nvPr/>
          </p:nvSpPr>
          <p:spPr>
            <a:xfrm>
              <a:off x="1097280" y="6400800"/>
              <a:ext cx="4572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A6A6B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NEWKIDS INVESTMENT</a:t>
              </a:r>
              <a:endParaRPr lang="en-US" sz="750" dirty="0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118872" cy="118872"/>
          </a:xfrm>
          <a:prstGeom prst="ellipse">
            <a:avLst/>
          </a:prstGeom>
          <a:solidFill>
            <a:srgbClr val="403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06628" y="603504"/>
            <a:ext cx="118872" cy="118872"/>
          </a:xfrm>
          <a:prstGeom prst="ellipse">
            <a:avLst/>
          </a:prstGeom>
          <a:solidFill>
            <a:srgbClr val="E5FF4A">
              <a:alpha val="9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133856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TEMPLATE LIBRARY · C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41248" y="868680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1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요소 — 그래프 라이브러리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41248" y="1554480"/>
            <a:ext cx="10506456" cy="0"/>
          </a:xfrm>
          <a:prstGeom prst="line">
            <a:avLst/>
          </a:prstGeom>
          <a:noFill/>
          <a:ln w="12700">
            <a:solidFill>
              <a:srgbClr val="D5D5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41248" y="1691640"/>
            <a:ext cx="10506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모두 편집 가능한 네이티브 차트입니다. 더블클릭 후 수치를 교체하세요.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" y="2084832"/>
            <a:ext cx="3258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세로 막대</a:t>
            </a:r>
            <a:endParaRPr lang="en-US" sz="10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841248" y="2395728"/>
          <a:ext cx="3258312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4465320" y="2084832"/>
            <a:ext cx="3258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라인</a:t>
            </a:r>
            <a:endParaRPr lang="en-US" sz="105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4465320" y="2395728"/>
          <a:ext cx="3258312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/>
          <p:nvPr/>
        </p:nvSpPr>
        <p:spPr>
          <a:xfrm>
            <a:off x="8089392" y="2084832"/>
            <a:ext cx="3258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도넛</a:t>
            </a:r>
            <a:endParaRPr lang="en-US" sz="1050" dirty="0"/>
          </a:p>
        </p:txBody>
      </p:sp>
      <p:graphicFrame>
        <p:nvGraphicFramePr>
          <p:cNvPr id="13" name="Chart 2"/>
          <p:cNvGraphicFramePr/>
          <p:nvPr/>
        </p:nvGraphicFramePr>
        <p:xfrm>
          <a:off x="8089392" y="2395728"/>
          <a:ext cx="3258312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" name="Text 9"/>
          <p:cNvSpPr/>
          <p:nvPr/>
        </p:nvSpPr>
        <p:spPr>
          <a:xfrm>
            <a:off x="841248" y="4211113"/>
            <a:ext cx="3258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가로 막대</a:t>
            </a:r>
            <a:endParaRPr lang="en-US" sz="1050" dirty="0"/>
          </a:p>
        </p:txBody>
      </p:sp>
      <p:graphicFrame>
        <p:nvGraphicFramePr>
          <p:cNvPr id="15" name="Chart 3"/>
          <p:cNvGraphicFramePr/>
          <p:nvPr>
            <p:extLst>
              <p:ext uri="{D42A27DB-BD31-4B8C-83A1-F6EECF244321}">
                <p14:modId xmlns:p14="http://schemas.microsoft.com/office/powerpoint/2010/main" val="2636133794"/>
              </p:ext>
            </p:extLst>
          </p:nvPr>
        </p:nvGraphicFramePr>
        <p:xfrm>
          <a:off x="841248" y="4522009"/>
          <a:ext cx="3258312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6" name="Text 10"/>
          <p:cNvSpPr/>
          <p:nvPr/>
        </p:nvSpPr>
        <p:spPr>
          <a:xfrm>
            <a:off x="4465320" y="4211113"/>
            <a:ext cx="3258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막대</a:t>
            </a:r>
            <a:endParaRPr lang="en-US" sz="1050" dirty="0"/>
          </a:p>
        </p:txBody>
      </p:sp>
      <p:graphicFrame>
        <p:nvGraphicFramePr>
          <p:cNvPr id="17" name="Chart 4"/>
          <p:cNvGraphicFramePr/>
          <p:nvPr>
            <p:extLst>
              <p:ext uri="{D42A27DB-BD31-4B8C-83A1-F6EECF244321}">
                <p14:modId xmlns:p14="http://schemas.microsoft.com/office/powerpoint/2010/main" val="4092454011"/>
              </p:ext>
            </p:extLst>
          </p:nvPr>
        </p:nvGraphicFramePr>
        <p:xfrm>
          <a:off x="4465320" y="4522009"/>
          <a:ext cx="3258312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8" name="Text 11"/>
          <p:cNvSpPr/>
          <p:nvPr/>
        </p:nvSpPr>
        <p:spPr>
          <a:xfrm>
            <a:off x="8089392" y="4211113"/>
            <a:ext cx="3258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B6B8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콤보</a:t>
            </a:r>
            <a:endParaRPr lang="en-US" sz="1050" dirty="0"/>
          </a:p>
        </p:txBody>
      </p:sp>
      <p:graphicFrame>
        <p:nvGraphicFramePr>
          <p:cNvPr id="19" name="Chart 5"/>
          <p:cNvGraphicFramePr/>
          <p:nvPr>
            <p:extLst>
              <p:ext uri="{D42A27DB-BD31-4B8C-83A1-F6EECF244321}">
                <p14:modId xmlns:p14="http://schemas.microsoft.com/office/powerpoint/2010/main" val="1445279646"/>
              </p:ext>
            </p:extLst>
          </p:nvPr>
        </p:nvGraphicFramePr>
        <p:xfrm>
          <a:off x="8089392" y="4522009"/>
          <a:ext cx="3258312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0" name="Shape 12"/>
          <p:cNvSpPr/>
          <p:nvPr/>
        </p:nvSpPr>
        <p:spPr>
          <a:xfrm>
            <a:off x="841248" y="6067345"/>
            <a:ext cx="10506456" cy="0"/>
          </a:xfrm>
          <a:prstGeom prst="line">
            <a:avLst/>
          </a:prstGeom>
          <a:noFill/>
          <a:ln w="12700">
            <a:solidFill>
              <a:srgbClr val="E7E7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5"/>
          <p:cNvSpPr/>
          <p:nvPr/>
        </p:nvSpPr>
        <p:spPr>
          <a:xfrm>
            <a:off x="9518904" y="6103921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6A6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부록 C</a:t>
            </a:r>
            <a:endParaRPr lang="en-US" sz="900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0CF732A-0AC4-D973-7886-21BFCCDD656D}"/>
              </a:ext>
            </a:extLst>
          </p:cNvPr>
          <p:cNvGrpSpPr/>
          <p:nvPr/>
        </p:nvGrpSpPr>
        <p:grpSpPr>
          <a:xfrm>
            <a:off x="841248" y="6400800"/>
            <a:ext cx="4828032" cy="237744"/>
            <a:chOff x="841248" y="6400800"/>
            <a:chExt cx="4828032" cy="237744"/>
          </a:xfrm>
        </p:grpSpPr>
        <p:sp>
          <p:nvSpPr>
            <p:cNvPr id="25" name="Shape 30">
              <a:extLst>
                <a:ext uri="{FF2B5EF4-FFF2-40B4-BE49-F238E27FC236}">
                  <a16:creationId xmlns:a16="http://schemas.microsoft.com/office/drawing/2014/main" id="{9220FA82-E1A6-05C1-46B5-1A2BB3E24893}"/>
                </a:ext>
              </a:extLst>
            </p:cNvPr>
            <p:cNvSpPr/>
            <p:nvPr/>
          </p:nvSpPr>
          <p:spPr>
            <a:xfrm>
              <a:off x="841248" y="6462607"/>
              <a:ext cx="109728" cy="109728"/>
            </a:xfrm>
            <a:prstGeom prst="ellipse">
              <a:avLst/>
            </a:prstGeom>
            <a:solidFill>
              <a:srgbClr val="4031FF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Shape 31">
              <a:extLst>
                <a:ext uri="{FF2B5EF4-FFF2-40B4-BE49-F238E27FC236}">
                  <a16:creationId xmlns:a16="http://schemas.microsoft.com/office/drawing/2014/main" id="{28C0F0A5-4390-40D6-1592-1B160C4B9804}"/>
                </a:ext>
              </a:extLst>
            </p:cNvPr>
            <p:cNvSpPr/>
            <p:nvPr/>
          </p:nvSpPr>
          <p:spPr>
            <a:xfrm>
              <a:off x="901598" y="6462607"/>
              <a:ext cx="109728" cy="109728"/>
            </a:xfrm>
            <a:prstGeom prst="ellipse">
              <a:avLst/>
            </a:prstGeom>
            <a:solidFill>
              <a:srgbClr val="E5FF4A">
                <a:alpha val="92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32">
              <a:extLst>
                <a:ext uri="{FF2B5EF4-FFF2-40B4-BE49-F238E27FC236}">
                  <a16:creationId xmlns:a16="http://schemas.microsoft.com/office/drawing/2014/main" id="{43A6B3BF-53F7-AEBD-3A33-B08B54759BF1}"/>
                </a:ext>
              </a:extLst>
            </p:cNvPr>
            <p:cNvSpPr/>
            <p:nvPr/>
          </p:nvSpPr>
          <p:spPr>
            <a:xfrm>
              <a:off x="1097280" y="6400800"/>
              <a:ext cx="45720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750" b="1" kern="0" spc="150" dirty="0">
                  <a:solidFill>
                    <a:srgbClr val="A6A6BC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NEWKIDS INVESTMENT</a:t>
              </a:r>
              <a:endParaRPr lang="en-US" sz="75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2041</Words>
  <Application>Microsoft Office PowerPoint</Application>
  <PresentationFormat>와이드스크린</PresentationFormat>
  <Paragraphs>496</Paragraphs>
  <Slides>24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0" baseType="lpstr">
      <vt:lpstr>Pretendard</vt:lpstr>
      <vt:lpstr>Pretendard SemiBold</vt:lpstr>
      <vt:lpstr>하나2.0 B</vt:lpstr>
      <vt:lpstr>하나2.0 M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스타트업 IR 덱 — 뉴키즈 에디션</dc:title>
  <dc:subject>PptxGenJS Presentation</dc:subject>
  <dc:creator>NEWKIDS INVESTMENT</dc:creator>
  <cp:lastModifiedBy>Byeong Ryong Park</cp:lastModifiedBy>
  <cp:revision>9</cp:revision>
  <dcterms:created xsi:type="dcterms:W3CDTF">2026-06-15T05:45:36Z</dcterms:created>
  <dcterms:modified xsi:type="dcterms:W3CDTF">2026-07-23T04:38:51Z</dcterms:modified>
</cp:coreProperties>
</file>